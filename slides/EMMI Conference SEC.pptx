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the problem in one line: we want large multimodal model reasoning for edge devices that cannot run those models, over links that cannot carry raw sensor data. EMMI's answer is to change what crosses the link.</a:t>
            </a:r>
            <a:endParaRPr/>
          </a:p>
        </p:txBody>
      </p:sp>
      <p:sp>
        <p:nvSpPr>
          <p:cNvPr id="22" name="Google Shape;2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About fifteen seconds. Six parts: the problem through real examples, the framework, the two technical pieces, the numbers, the conclusion, and what comes next.</a:t>
            </a:r>
            <a:endParaRPr/>
          </a:p>
        </p:txBody>
      </p:sp>
      <p:sp>
        <p:nvSpPr>
          <p:cNvPr id="35" name="Google Shape;3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Running example: disaster response. Top line: edge platforms now see heterogeneous sensor modalities, such as vision, text and telemetry; actionable insight requires interpreting them jointly. Left, task-specific AI [1]-[3]: AI does detection and recognition, for example drones scanning a burning building and giving firefighters a 3D map, but humans still analyze the output, reason about it and decide. And every task needs its own trained model, while a drone can carry only a few. Right, a multimodal LLM [4]-[6]: one model handles many tasks. Responders can ask new questions over time, first "is anyone on a roof?", later "is anyone near a downed power line?", and the same model can move to a new disaster, where needing help looks different, someone trapped under rubble after an earthquake. Our testbed is one building block: matching a field report to what the drone sees. The next slide shows why the MLLM cannot run on the drone or receive raw data. The examples are illustrative; MLLM generality comes from the literature, not from this paper's experiments.</a:t>
            </a:r>
            <a:endParaRP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the drone as the running example. It carries a camera, an acoustic sensor and GPS. Running a full MLLM on board fails on memory and latency; shipping raw streams to the cloud fails on bandwidth and gives stale decisions. Compact on-device MLLMs (MobileVLM, TinyLLaVA) give up capability; split computing (EdgeShard, DistMLLM) ships architecture-dependent activations. EMMI's question is what the smallest useful payload is.</a:t>
            </a:r>
            <a:endParaRPr/>
          </a:p>
        </p:txBody>
      </p:sp>
      <p:sp>
        <p:nvSpPr>
          <p:cNvPr id="91" name="Google Shape;9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h7ad9965b7d6dfafb_1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h7ad9965b7d6dfafb_1_1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existing answers and their cost, then EMMI’s answer. This is the framing question for the whole talk.</a:t>
            </a:r>
            <a:endParaRPr/>
          </a:p>
        </p:txBody>
      </p:sp>
      <p:sp>
        <p:nvSpPr>
          <p:cNvPr id="125" name="Google Shape;125;h7ad9965b7d6dfafb_1_1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h7ad9965b7d6dfafb_1_2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h7ad9965b7d6dfafb_1_2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top row left to right: N edge devices, each with a different sensor mix (device i observes M_i modalities at time t), a wireless link with bandwidth B, and a server hosting a high-capacity MLLM. Then the colored brackets underneath: edge processing, communication (payload size S_tx over bandwidth B), and server reasoning. Land on the bottom box: when B is small, communication dominates, so the lever is the payload size.</a:t>
            </a:r>
            <a:endParaRPr/>
          </a:p>
        </p:txBody>
      </p:sp>
      <p:sp>
        <p:nvSpPr>
          <p:cNvPr id="163" name="Google Shape;163;h7ad9965b7d6dfafb_1_2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h7ad9965b7d6dfafb_1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h7ad9965b7d6dfafb_1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figure left to right. On the device: each modality has its own encoder, the embeddings are fused, then one autoencoder compresses the fused vector, task-agnostic or task-aware. Across the link: one fixed-size latent. On the server: decompress back to the fused space, project to soft tokens, run the frozen MLLM. Two design choices worth calling out. Fusion happens before compression, which is the difference from per-modality schemes. And decompressing before projection decouples the compressor from the reasoning module, so the compression ratio can change without retraining the LLM side. In the experiments only image and text are used; audio in the figure shows the general case.</a:t>
            </a:r>
            <a:endParaRPr/>
          </a:p>
        </p:txBody>
      </p:sp>
      <p:sp>
        <p:nvSpPr>
          <p:cNvPr id="220" name="Google Shape;220;h7ad9965b7d6dfafb_1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h7ad9965b7d6dfafb_1_4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h7ad9965b7d6dfafb_1_4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Left half first: the fused vector concatenates the two embeddings with their absolute difference and element-wise product. The difference shows where modalities disagree, the product where they agree; each block has d dims, so f has 4d. With more than two modalities, apply this to every pair and aggregate. Right half: the autoencoder is the compression. Its bottleneck z is much smaller than f, and the latent size sets the compression ratio; the encoder runs on the device, z is what crosses the link, and the decoder runs on the server. It is also trainable with alignment objectives, and its decoder restores f so the server stays decoupled from the compressor. The encoder g_phi maps f to the compact latent z and d_psi reconstructs it. The loss is reconstruction plus lambda times an alignment term, and the two modes differ only in that term: task-agnostic uses InfoNCE to align z with each modality embedding (no labels, reusable); task-aware uses supervised contrastive loss on labels (best accuracy). Labels are used only in training, so the deployed pipeline is identical.</a:t>
            </a:r>
            <a:endParaRPr/>
          </a:p>
        </p:txBody>
      </p:sp>
      <p:sp>
        <p:nvSpPr>
          <p:cNvPr id="239" name="Google Shape;239;h7ad9965b7d6dfafb_1_4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h7ad9965b7d6dfafb_1_6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h7ad9965b7d6dfafb_1_6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benefits, exactly as in Section III-B. First, EMMI keeps raw sensor observations on the device: only compact multimodal representations cross the edge-server link, which reduces exposure of raw data while preserving what the server needs. Second, although the compressed latent could feed the MLLM directly, EMMI decompresses it back to the fused space first. That decouples compression from reasoning: different compression techniques or ratios can be used without modifying or retraining the reasoning module, and the reconstructed representations can be batched for parallel MLLM inference, amortizing its cost across requests.</a:t>
            </a:r>
            <a:endParaRPr/>
          </a:p>
        </p:txBody>
      </p:sp>
      <p:sp>
        <p:nvSpPr>
          <p:cNvPr id="288" name="Google Shape;288;h7ad9965b7d6dfafb_1_6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h7ad9965b7d6dfafb_1_6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h7ad9965b7d6dfafb_1_6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boxes. Dataset and models: MS-COCO captions as binary image-text matching, 72K/5K/5K; CLIP ViT-B/32 or MobileCLIP2-S0 on the edge; frozen LLaVA-1.5-7B on the server with a 2-layer MLP producing 8 soft tokens and a binary classification head. Compression: 8 KB fused vector to a 256-byte latent, 32x smaller, with our two autoencoders. Training is decoupled: stage 1 trains only the autoencoder, with encoders frozen; stage 2 freezes the autoencoder, caches its latents, and trains only the MLP and head, with LLaVA frozen. The MLLM is never retrained. Baselines: no compression, PCA, BlockPCA, AE, VAE and LDA, all at the same 64 dimensions. Hardware: the edge is approximated by one x86 CPU thread, the server is a Quadro RTX 6000 GPU, and transmission time is computed as payload over bandwidth at four link speeds, so end-to-end latency is estimated.</a:t>
            </a:r>
            <a:endParaRPr/>
          </a:p>
        </p:txBody>
      </p:sp>
      <p:sp>
        <p:nvSpPr>
          <p:cNvPr id="332" name="Google Shape;332;h7ad9965b7d6dfafb_1_6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h7ad9965b7d6dfafb_1_7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h7ad9965b7d6dfafb_1_7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Left side, what we compare. Two edge encoders: standard CLIP ViT-B/32, and MobileCLIP2-S0, about eight times smaller and distilled for on-device speed; both give 512-dimensional embeddings. Baselines: PCA keeps the highest-variance directions of the fused vector; BlockPCA runs PCA on each fused block separately; a plain autoencoder and a VAE learn to reconstruct; LDA is a supervised linear projection that separates match from no-match. Every method compresses to the same 64 dimensions, 32 times smaller. Right side, the results. Uncompressed, both encoders are about 98 percent. On MobileCLIP, PCA, a plain autoencoder and a VAE drop 41, 46 and 29 points; on CLIP they lose at most 4.5. BlockPCA and LDA stay within 0.6 points. Our task-aware autoencoder is within 0.1 points of uncompressed; the label-free version reaches 90.3. Next slide: what this means.</a:t>
            </a:r>
            <a:endParaRPr/>
          </a:p>
        </p:txBody>
      </p:sp>
      <p:sp>
        <p:nvSpPr>
          <p:cNvPr id="413" name="Google Shape;413;h7ad9965b7d6dfafb_1_7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h7ad9965b7d6dfafb_1_8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h7ad9965b7d6dfafb_1_8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questions. First, why is the small encoder so sensitive? MobileCLIP is slightly better uncompressed, so the information is there; only PCA, the plain autoencoder and the VAE lose it. Our hypothesis: these methods keep what varies most, and the match signal likely sits in the difference and product blocks of the fused vector. Two things keep it: a per-block budget, as in BlockPCA, or an objective that targets the task, as in LDA and our task-aware autoencoder, which compresses the whole vector but is told what matters. The label-free autoencoder, guided only by InfoNCE alignment, lands in between. Why only MobileCLIP? One possibility is encoder geometry: the compact encoder may genuinely distribute information differently from CLIP. That is plausible but the hardest to show; per-block variance and PCA spectra for both encoders would tell us. Second, why use our autoencoder rather than LDA or BlockPCA? Against LDA, the task-aware autoencoder is tied, but LDA keeps only what separates the labels, while the autoencoder is trained to rebuild the full vector, so the MLLM gets content for open-ended tasks. Against BlockPCA, the label-free comparison, BlockPCA wins on this task, and we say so; the autoencoder can be trained with alignment objectives and is not tied to a fixed block split as modalities grow. These are expected advantages that we still need to test.</a:t>
            </a:r>
            <a:endParaRPr/>
          </a:p>
        </p:txBody>
      </p:sp>
      <p:sp>
        <p:nvSpPr>
          <p:cNvPr id="500" name="Google Shape;500;h7ad9965b7d6dfafb_1_8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h7ad9965b7d6dfafb_1_8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0" name="Google Shape;570;h7ad9965b7d6dfafb_1_8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communication. This is the paper's Figure 2: estimated end-to-end latency on a 0.1 megabit IoT link with MobileCLIP. Without compression, each inference sends the 8-kilobyte fused vector, and transmission alone is 655 milliseconds, about 73 percent of the 903 total. EMMI sends 256 bytes, so transmission drops to 20 milliseconds, and compression adds only 0.64. Total: 269 milliseconds, 3.4 times lower. Notice what remains: the image and text encoders, 214 milliseconds, are now most of the latency, so the bottleneck has shifted from the link to edge compute. These are estimates: compute is measured, transmission is computed from payload and bandwidth.</a:t>
            </a:r>
            <a:endParaRPr/>
          </a:p>
        </p:txBody>
      </p:sp>
      <p:sp>
        <p:nvSpPr>
          <p:cNvPr id="571" name="Google Shape;571;h7ad9965b7d6dfafb_1_8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h7ad9965b7d6dfafb_1_9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h7ad9965b7d6dfafb_1_9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takeaways on communication. First, the latency gain shrinks as the uplink gets faster: the time saved falls as one over bandwidth, 635 milliseconds on the IoT link, about 6 on LTE, and around 100 megabits per second it breaks even with the 0.64 millisecond compression cost. Second, and we have not tested this: with more modalities the benefit should grow, because uncompressed payloads grow with every added sensor, such as RGB, thermal, LiDAR, GPS or text reports. How large the latent must be for more modalities is an open question. Third, many devices often share one uplink or one server: a shared 10 megabit link carries about 150 inferences per second at 8 kilobytes, but about 4,900 at 256 bytes. Fourth, each device sends a fixed-size latent, which gives the server an interface it can batch. The last three are expected benefits; multi-device batching is our next experiment.</a:t>
            </a:r>
            <a:endParaRPr/>
          </a:p>
        </p:txBody>
      </p:sp>
      <p:sp>
        <p:nvSpPr>
          <p:cNvPr id="598" name="Google Shape;598;h7ad9965b7d6dfafb_1_9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3" name="Google Shape;64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on the three points. On point 2, the numbers are 98.08 and 98.32 against 97.92 and 98.41 uncompressed. If time is short, skip the fusion-details slide and the setup slide; the story still holds.</a:t>
            </a:r>
            <a:endParaRPr/>
          </a:p>
        </p:txBody>
      </p:sp>
      <p:sp>
        <p:nvSpPr>
          <p:cNvPr id="644" name="Google Shape;64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Leave this up during questions. If a question is about evaluation scope, jump back to the future-work slide; if it is about baselines, jump to the accuracy slide.</a:t>
            </a:r>
            <a:endParaRPr/>
          </a:p>
        </p:txBody>
      </p:sp>
      <p:sp>
        <p:nvSpPr>
          <p:cNvPr id="661" name="Google Shape;66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FFFFF"/>
        </a:solidFill>
      </p:bgPr>
    </p:bg>
    <p:spTree>
      <p:nvGrpSpPr>
        <p:cNvPr id="12" name="Shape 12"/>
        <p:cNvGrpSpPr/>
        <p:nvPr/>
      </p:nvGrpSpPr>
      <p:grpSpPr>
        <a:xfrm>
          <a:off x="0" y="0"/>
          <a:ext cx="0" cy="0"/>
          <a:chOff x="0" y="0"/>
          <a:chExt cx="0" cy="0"/>
        </a:xfrm>
      </p:grpSpPr>
      <p:sp>
        <p:nvSpPr>
          <p:cNvPr id="13" name="Google Shape;13;p2"/>
          <p:cNvSpPr txBox="1"/>
          <p:nvPr>
            <p:ph type="title"/>
          </p:nvPr>
        </p:nvSpPr>
        <p:spPr>
          <a:xfrm>
            <a:off x="1117589" y="762000"/>
            <a:ext cx="10261645" cy="502874"/>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F3A5F"/>
              </a:buClr>
              <a:buSzPts val="3600"/>
              <a:buFont typeface="Georgia"/>
              <a:buNone/>
              <a:defRPr sz="3600">
                <a:solidFill>
                  <a:srgbClr val="1F3A5F"/>
                </a:solidFill>
                <a:latin typeface="Georgia"/>
                <a:ea typeface="Georgia"/>
                <a:cs typeface="Georgia"/>
                <a:sym typeface="Georg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1117589" y="1569674"/>
            <a:ext cx="10261611" cy="4475526"/>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F3A5F"/>
              </a:buClr>
              <a:buSzPts val="1600"/>
              <a:buNone/>
              <a:defRPr sz="1600">
                <a:solidFill>
                  <a:srgbClr val="1F3A5F"/>
                </a:solidFill>
                <a:latin typeface="Arial"/>
                <a:ea typeface="Arial"/>
                <a:cs typeface="Arial"/>
                <a:sym typeface="Aria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solidFill>
          <a:schemeClr val="lt1"/>
        </a:solidFill>
      </p:bgPr>
    </p:bg>
    <p:spTree>
      <p:nvGrpSpPr>
        <p:cNvPr id="16" name="Shape 16"/>
        <p:cNvGrpSpPr/>
        <p:nvPr/>
      </p:nvGrpSpPr>
      <p:grpSpPr>
        <a:xfrm>
          <a:off x="0" y="0"/>
          <a:ext cx="0" cy="0"/>
          <a:chOff x="0" y="0"/>
          <a:chExt cx="0" cy="0"/>
        </a:xfrm>
      </p:grpSpPr>
      <p:sp>
        <p:nvSpPr>
          <p:cNvPr id="17" name="Google Shape;17;p4"/>
          <p:cNvSpPr txBox="1"/>
          <p:nvPr>
            <p:ph idx="1" type="body"/>
          </p:nvPr>
        </p:nvSpPr>
        <p:spPr>
          <a:xfrm>
            <a:off x="813816" y="566928"/>
            <a:ext cx="10561200" cy="292500"/>
          </a:xfrm>
          <a:prstGeom prst="rect">
            <a:avLst/>
          </a:prstGeom>
          <a:noFill/>
          <a:ln>
            <a:noFill/>
          </a:ln>
        </p:spPr>
        <p:txBody>
          <a:bodyPr anchorCtr="0" anchor="t" bIns="45700" lIns="91425" spcFirstLastPara="1" rIns="91425" wrap="square" tIns="45700">
            <a:noAutofit/>
          </a:bodyPr>
          <a:lstStyle>
            <a:lvl1pPr indent="-228600" lvl="0" marL="457200" marR="0" algn="l">
              <a:spcBef>
                <a:spcPts val="240"/>
              </a:spcBef>
              <a:spcAft>
                <a:spcPts val="0"/>
              </a:spcAft>
              <a:buClr>
                <a:schemeClr val="accent4"/>
              </a:buClr>
              <a:buSzPts val="1200"/>
              <a:buFont typeface="Arial"/>
              <a:buNone/>
              <a:defRPr b="1" i="0" sz="1200" u="none" cap="none" strike="noStrike">
                <a:solidFill>
                  <a:schemeClr val="accent4"/>
                </a:solidFill>
                <a:latin typeface="Calibri"/>
                <a:ea typeface="Calibri"/>
                <a:cs typeface="Calibri"/>
                <a:sym typeface="Calibri"/>
              </a:defRPr>
            </a:lvl1pPr>
            <a:lvl2pPr indent="-406400" lvl="1" marL="914400" marR="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8" name="Google Shape;18;p4"/>
          <p:cNvSpPr txBox="1"/>
          <p:nvPr>
            <p:ph type="title"/>
          </p:nvPr>
        </p:nvSpPr>
        <p:spPr>
          <a:xfrm>
            <a:off x="813816" y="896112"/>
            <a:ext cx="10561200" cy="6402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Clr>
                <a:schemeClr val="dk1"/>
              </a:buClr>
              <a:buSzPts val="3200"/>
              <a:buFont typeface="Cambria"/>
              <a:buNone/>
              <a:defRPr b="1" i="0" sz="3200" u="none" cap="none" strike="noStrike">
                <a:solidFill>
                  <a:schemeClr val="dk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1117589" y="762000"/>
            <a:ext cx="10261645" cy="502874"/>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F3A5F"/>
              </a:buClr>
              <a:buSzPts val="3600"/>
              <a:buFont typeface="Georgia"/>
              <a:buNone/>
              <a:defRPr b="0" i="0" sz="3600" u="none" cap="none" strike="noStrike">
                <a:solidFill>
                  <a:srgbClr val="1F3A5F"/>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1117589" y="1569674"/>
            <a:ext cx="10261611" cy="4475526"/>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F3A5F"/>
              </a:buClr>
              <a:buSzPts val="1600"/>
              <a:buFont typeface="Arial"/>
              <a:buNone/>
              <a:defRPr b="0" i="0" sz="1600" u="none" cap="none" strike="noStrike">
                <a:solidFill>
                  <a:srgbClr val="1F3A5F"/>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16.jpg"/><Relationship Id="rId5" Type="http://schemas.openxmlformats.org/officeDocument/2006/relationships/image" Target="../media/image11.jpg"/><Relationship Id="rId6"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3.png"/><Relationship Id="rId5" Type="http://schemas.openxmlformats.org/officeDocument/2006/relationships/image" Target="../media/image15.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7.png"/><Relationship Id="rId6"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 name="Shape 23"/>
        <p:cNvGrpSpPr/>
        <p:nvPr/>
      </p:nvGrpSpPr>
      <p:grpSpPr>
        <a:xfrm>
          <a:off x="0" y="0"/>
          <a:ext cx="0" cy="0"/>
          <a:chOff x="0" y="0"/>
          <a:chExt cx="0" cy="0"/>
        </a:xfrm>
      </p:grpSpPr>
      <p:sp>
        <p:nvSpPr>
          <p:cNvPr id="24" name="Google Shape;24;p5"/>
          <p:cNvSpPr/>
          <p:nvPr/>
        </p:nvSpPr>
        <p:spPr>
          <a:xfrm>
            <a:off x="0" y="0"/>
            <a:ext cx="304767" cy="68580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exas A&amp;M University logo" id="25" name="Google Shape;25;p5"/>
          <p:cNvPicPr preferRelativeResize="0"/>
          <p:nvPr/>
        </p:nvPicPr>
        <p:blipFill rotWithShape="1">
          <a:blip r:embed="rId3">
            <a:alphaModFix/>
          </a:blip>
          <a:srcRect b="0" l="-3" r="-3" t="0"/>
          <a:stretch/>
        </p:blipFill>
        <p:spPr>
          <a:xfrm>
            <a:off x="8331233" y="812767"/>
            <a:ext cx="3048000" cy="768339"/>
          </a:xfrm>
          <a:prstGeom prst="rect">
            <a:avLst/>
          </a:prstGeom>
          <a:noFill/>
          <a:ln>
            <a:noFill/>
          </a:ln>
        </p:spPr>
      </p:pic>
      <p:sp>
        <p:nvSpPr>
          <p:cNvPr id="26" name="Google Shape;26;p5"/>
          <p:cNvSpPr txBox="1"/>
          <p:nvPr>
            <p:ph type="title"/>
          </p:nvPr>
        </p:nvSpPr>
        <p:spPr>
          <a:xfrm>
            <a:off x="1117589" y="1987462"/>
            <a:ext cx="10569494" cy="1602647"/>
          </a:xfrm>
          <a:prstGeom prst="rect">
            <a:avLst/>
          </a:prstGeom>
          <a:noFill/>
          <a:ln>
            <a:noFill/>
          </a:ln>
        </p:spPr>
        <p:txBody>
          <a:bodyPr anchorCtr="0" anchor="t" bIns="0" lIns="0" spcFirstLastPara="1" rIns="0" wrap="square" tIns="0">
            <a:normAutofit fontScale="90000"/>
          </a:bodyPr>
          <a:lstStyle/>
          <a:p>
            <a:pPr indent="0" lvl="0" marL="0" rtl="0" algn="l">
              <a:lnSpc>
                <a:spcPct val="115000"/>
              </a:lnSpc>
              <a:spcBef>
                <a:spcPts val="0"/>
              </a:spcBef>
              <a:spcAft>
                <a:spcPts val="0"/>
              </a:spcAft>
              <a:buClr>
                <a:srgbClr val="1F3A5F"/>
              </a:buClr>
              <a:buSzPct val="100000"/>
              <a:buFont typeface="Georgia"/>
              <a:buNone/>
            </a:pPr>
            <a:r>
              <a:rPr b="1" i="1" lang="en-US" sz="3600">
                <a:solidFill>
                  <a:schemeClr val="dk1"/>
                </a:solidFill>
                <a:latin typeface="Times New Roman"/>
                <a:ea typeface="Times New Roman"/>
                <a:cs typeface="Times New Roman"/>
                <a:sym typeface="Times New Roman"/>
              </a:rPr>
              <a:t>EMMI:</a:t>
            </a:r>
            <a:r>
              <a:rPr b="1" i="0" lang="en-US" sz="3600">
                <a:solidFill>
                  <a:schemeClr val="dk1"/>
                </a:solidFill>
                <a:latin typeface="Times New Roman"/>
                <a:ea typeface="Times New Roman"/>
                <a:cs typeface="Times New Roman"/>
                <a:sym typeface="Times New Roman"/>
              </a:rPr>
              <a:t> Edge Multi-Modal Intelligence for Communication-Efficient MLLM Inference via Fused Representation Compression</a:t>
            </a:r>
            <a:endParaRPr sz="3600">
              <a:solidFill>
                <a:schemeClr val="dk1"/>
              </a:solidFill>
              <a:latin typeface="Times New Roman"/>
              <a:ea typeface="Times New Roman"/>
              <a:cs typeface="Times New Roman"/>
              <a:sym typeface="Times New Roman"/>
            </a:endParaRPr>
          </a:p>
        </p:txBody>
      </p:sp>
      <p:sp>
        <p:nvSpPr>
          <p:cNvPr id="27" name="Google Shape;27;p5"/>
          <p:cNvSpPr/>
          <p:nvPr/>
        </p:nvSpPr>
        <p:spPr>
          <a:xfrm>
            <a:off x="1117589" y="4333159"/>
            <a:ext cx="10569494" cy="41654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430"/>
              </a:buClr>
              <a:buSzPts val="2200"/>
              <a:buFont typeface="Arial"/>
              <a:buNone/>
            </a:pPr>
            <a:r>
              <a:rPr b="1" i="0" lang="en-US" sz="2400" u="none" cap="none" strike="noStrike">
                <a:solidFill>
                  <a:srgbClr val="1F2430"/>
                </a:solidFill>
                <a:latin typeface="Times New Roman"/>
                <a:ea typeface="Times New Roman"/>
                <a:cs typeface="Times New Roman"/>
                <a:sym typeface="Times New Roman"/>
              </a:rPr>
              <a:t>Motahare Mounesan</a:t>
            </a:r>
            <a:r>
              <a:rPr i="0" lang="en-US" sz="2400" u="none" cap="none" strike="noStrike">
                <a:solidFill>
                  <a:srgbClr val="1F2430"/>
                </a:solidFill>
                <a:latin typeface="Times New Roman"/>
                <a:ea typeface="Times New Roman"/>
                <a:cs typeface="Times New Roman"/>
                <a:sym typeface="Times New Roman"/>
              </a:rPr>
              <a:t>, Irfan Khan</a:t>
            </a:r>
            <a:endParaRPr i="0" sz="2400" u="none" cap="none" strike="noStrike">
              <a:solidFill>
                <a:schemeClr val="dk1"/>
              </a:solidFill>
              <a:latin typeface="Times New Roman"/>
              <a:ea typeface="Times New Roman"/>
              <a:cs typeface="Times New Roman"/>
              <a:sym typeface="Times New Roman"/>
            </a:endParaRPr>
          </a:p>
        </p:txBody>
      </p:sp>
      <p:sp>
        <p:nvSpPr>
          <p:cNvPr id="28" name="Google Shape;28;p5"/>
          <p:cNvSpPr/>
          <p:nvPr/>
        </p:nvSpPr>
        <p:spPr>
          <a:xfrm>
            <a:off x="1117589" y="4775068"/>
            <a:ext cx="10569494" cy="30982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577"/>
              </a:buClr>
              <a:buSzPts val="1600"/>
              <a:buFont typeface="Arial"/>
              <a:buNone/>
            </a:pPr>
            <a:r>
              <a:rPr i="0" lang="en-US" sz="2200" u="none" cap="none" strike="noStrike">
                <a:solidFill>
                  <a:srgbClr val="5B6577"/>
                </a:solidFill>
                <a:latin typeface="Times New Roman"/>
                <a:ea typeface="Times New Roman"/>
                <a:cs typeface="Times New Roman"/>
                <a:sym typeface="Times New Roman"/>
              </a:rPr>
              <a:t>Texas A&amp;M University</a:t>
            </a:r>
            <a:endParaRPr i="0" sz="2200" u="none" cap="none" strike="noStrike">
              <a:solidFill>
                <a:schemeClr val="dk1"/>
              </a:solidFill>
              <a:latin typeface="Times New Roman"/>
              <a:ea typeface="Times New Roman"/>
              <a:cs typeface="Times New Roman"/>
              <a:sym typeface="Times New Roman"/>
            </a:endParaRPr>
          </a:p>
        </p:txBody>
      </p:sp>
      <p:cxnSp>
        <p:nvCxnSpPr>
          <p:cNvPr id="29" name="Google Shape;29;p5"/>
          <p:cNvCxnSpPr/>
          <p:nvPr/>
        </p:nvCxnSpPr>
        <p:spPr>
          <a:xfrm>
            <a:off x="1117589" y="5269023"/>
            <a:ext cx="10261645" cy="0"/>
          </a:xfrm>
          <a:prstGeom prst="straightConnector1">
            <a:avLst/>
          </a:prstGeom>
          <a:noFill/>
          <a:ln cap="flat" cmpd="sng" w="12700">
            <a:solidFill>
              <a:srgbClr val="D9DEE5"/>
            </a:solidFill>
            <a:prstDash val="solid"/>
            <a:round/>
            <a:headEnd len="sm" w="sm" type="none"/>
            <a:tailEnd len="sm" w="sm" type="none"/>
          </a:ln>
        </p:spPr>
      </p:cxnSp>
      <p:sp>
        <p:nvSpPr>
          <p:cNvPr id="30" name="Google Shape;30;p5"/>
          <p:cNvSpPr/>
          <p:nvPr/>
        </p:nvSpPr>
        <p:spPr>
          <a:xfrm>
            <a:off x="1117589" y="5425612"/>
            <a:ext cx="10569494" cy="30982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A5F"/>
              </a:buClr>
              <a:buSzPts val="1600"/>
              <a:buFont typeface="Arial"/>
              <a:buNone/>
            </a:pPr>
            <a:r>
              <a:rPr b="1" i="0" lang="en-US" sz="1600" u="none" cap="none" strike="noStrike">
                <a:solidFill>
                  <a:srgbClr val="1F3A5F"/>
                </a:solidFill>
                <a:latin typeface="Times New Roman"/>
                <a:ea typeface="Times New Roman"/>
                <a:cs typeface="Times New Roman"/>
                <a:sym typeface="Times New Roman"/>
              </a:rPr>
              <a:t>ACM/IEEE Symposium on Edge Computing</a:t>
            </a:r>
            <a:endParaRPr i="0" sz="1600" u="none" cap="none" strike="noStrike">
              <a:solidFill>
                <a:schemeClr val="dk1"/>
              </a:solidFill>
              <a:latin typeface="Times New Roman"/>
              <a:ea typeface="Times New Roman"/>
              <a:cs typeface="Times New Roman"/>
              <a:sym typeface="Times New Roman"/>
            </a:endParaRPr>
          </a:p>
        </p:txBody>
      </p:sp>
      <p:sp>
        <p:nvSpPr>
          <p:cNvPr id="31" name="Google Shape;31;p5"/>
          <p:cNvSpPr/>
          <p:nvPr/>
        </p:nvSpPr>
        <p:spPr>
          <a:xfrm>
            <a:off x="1117589" y="5760806"/>
            <a:ext cx="10569494" cy="30982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263"/>
              </a:buClr>
              <a:buSzPts val="1600"/>
              <a:buFont typeface="Arial"/>
              <a:buNone/>
            </a:pPr>
            <a:r>
              <a:rPr i="0" lang="en-US" sz="1600" u="none" cap="none" strike="noStrike">
                <a:solidFill>
                  <a:srgbClr val="4A5263"/>
                </a:solidFill>
                <a:latin typeface="Times New Roman"/>
                <a:ea typeface="Times New Roman"/>
                <a:cs typeface="Times New Roman"/>
                <a:sym typeface="Times New Roman"/>
              </a:rPr>
              <a:t>Edge Intelligence 2026: The 3rd Workshop on Edge Intelligence</a:t>
            </a:r>
            <a:endParaRPr i="0" sz="16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 name="Shape 36"/>
        <p:cNvGrpSpPr/>
        <p:nvPr/>
      </p:nvGrpSpPr>
      <p:grpSpPr>
        <a:xfrm>
          <a:off x="0" y="0"/>
          <a:ext cx="0" cy="0"/>
          <a:chOff x="0" y="0"/>
          <a:chExt cx="0" cy="0"/>
        </a:xfrm>
      </p:grpSpPr>
      <p:sp>
        <p:nvSpPr>
          <p:cNvPr id="37" name="Google Shape;37;p6"/>
          <p:cNvSpPr/>
          <p:nvPr/>
        </p:nvSpPr>
        <p:spPr>
          <a:xfrm>
            <a:off x="0" y="0"/>
            <a:ext cx="304767" cy="68580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6"/>
          <p:cNvSpPr/>
          <p:nvPr/>
        </p:nvSpPr>
        <p:spPr>
          <a:xfrm>
            <a:off x="1117589" y="533357"/>
            <a:ext cx="762000" cy="50767"/>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6"/>
          <p:cNvSpPr txBox="1"/>
          <p:nvPr>
            <p:ph type="title"/>
          </p:nvPr>
        </p:nvSpPr>
        <p:spPr>
          <a:xfrm>
            <a:off x="1117589" y="762000"/>
            <a:ext cx="10569494" cy="528274"/>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3A5F"/>
              </a:buClr>
              <a:buSzPts val="3600"/>
              <a:buFont typeface="Georgia"/>
              <a:buNone/>
            </a:pPr>
            <a:r>
              <a:rPr b="1" i="0" lang="en-US" sz="3600">
                <a:solidFill>
                  <a:srgbClr val="1F3A5F"/>
                </a:solidFill>
                <a:latin typeface="Georgia"/>
                <a:ea typeface="Georgia"/>
                <a:cs typeface="Georgia"/>
                <a:sym typeface="Georgia"/>
              </a:rPr>
              <a:t>Outline</a:t>
            </a:r>
            <a:endParaRPr sz="3600"/>
          </a:p>
        </p:txBody>
      </p:sp>
      <p:cxnSp>
        <p:nvCxnSpPr>
          <p:cNvPr id="40" name="Google Shape;40;p6"/>
          <p:cNvCxnSpPr/>
          <p:nvPr/>
        </p:nvCxnSpPr>
        <p:spPr>
          <a:xfrm>
            <a:off x="1117589" y="1623638"/>
            <a:ext cx="7620000" cy="0"/>
          </a:xfrm>
          <a:prstGeom prst="straightConnector1">
            <a:avLst/>
          </a:prstGeom>
          <a:noFill/>
          <a:ln cap="flat" cmpd="sng" w="9525">
            <a:solidFill>
              <a:srgbClr val="D9DEE5"/>
            </a:solidFill>
            <a:prstDash val="solid"/>
            <a:round/>
            <a:headEnd len="sm" w="sm" type="none"/>
            <a:tailEnd len="sm" w="sm" type="none"/>
          </a:ln>
        </p:spPr>
      </p:cxnSp>
      <p:sp>
        <p:nvSpPr>
          <p:cNvPr id="41" name="Google Shape;41;p6"/>
          <p:cNvSpPr/>
          <p:nvPr/>
        </p:nvSpPr>
        <p:spPr>
          <a:xfrm>
            <a:off x="1117589" y="1750991"/>
            <a:ext cx="457156" cy="41654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A5F"/>
              </a:buClr>
              <a:buSzPts val="2200"/>
              <a:buFont typeface="Georgia"/>
              <a:buNone/>
            </a:pPr>
            <a:r>
              <a:rPr b="0" i="0" lang="en-US" sz="2200" u="none" cap="none" strike="noStrike">
                <a:solidFill>
                  <a:srgbClr val="1F3A5F"/>
                </a:solidFill>
                <a:latin typeface="Georgia"/>
                <a:ea typeface="Georgia"/>
                <a:cs typeface="Georgia"/>
                <a:sym typeface="Georgia"/>
              </a:rPr>
              <a:t>1</a:t>
            </a:r>
            <a:endParaRPr b="0" i="0" sz="2200" u="none" cap="none" strike="noStrike">
              <a:solidFill>
                <a:schemeClr val="dk1"/>
              </a:solidFill>
              <a:latin typeface="Arial"/>
              <a:ea typeface="Arial"/>
              <a:cs typeface="Arial"/>
              <a:sym typeface="Arial"/>
            </a:endParaRPr>
          </a:p>
        </p:txBody>
      </p:sp>
      <p:sp>
        <p:nvSpPr>
          <p:cNvPr id="42" name="Google Shape;42;p6"/>
          <p:cNvSpPr/>
          <p:nvPr/>
        </p:nvSpPr>
        <p:spPr>
          <a:xfrm>
            <a:off x="1828712" y="1754518"/>
            <a:ext cx="2747010" cy="41654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430"/>
              </a:buClr>
              <a:buSzPts val="2200"/>
              <a:buFont typeface="Arial"/>
              <a:buNone/>
            </a:pPr>
            <a:r>
              <a:rPr i="0" lang="en-US" sz="2200" u="none" cap="none" strike="noStrike">
                <a:solidFill>
                  <a:srgbClr val="1F2430"/>
                </a:solidFill>
                <a:latin typeface="Times New Roman"/>
                <a:ea typeface="Times New Roman"/>
                <a:cs typeface="Times New Roman"/>
                <a:sym typeface="Times New Roman"/>
              </a:rPr>
              <a:t>Introduction</a:t>
            </a:r>
            <a:endParaRPr i="0" sz="2200" u="none" cap="none" strike="noStrike">
              <a:solidFill>
                <a:schemeClr val="dk1"/>
              </a:solidFill>
              <a:latin typeface="Times New Roman"/>
              <a:ea typeface="Times New Roman"/>
              <a:cs typeface="Times New Roman"/>
              <a:sym typeface="Times New Roman"/>
            </a:endParaRPr>
          </a:p>
        </p:txBody>
      </p:sp>
      <p:sp>
        <p:nvSpPr>
          <p:cNvPr id="43" name="Google Shape;43;p6"/>
          <p:cNvSpPr/>
          <p:nvPr/>
        </p:nvSpPr>
        <p:spPr>
          <a:xfrm>
            <a:off x="4800479" y="1860352"/>
            <a:ext cx="3451093" cy="274329"/>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577"/>
              </a:buClr>
              <a:buSzPts val="1400"/>
              <a:buFont typeface="Arial"/>
              <a:buNone/>
            </a:pPr>
            <a:r>
              <a:rPr i="0" lang="en-US" sz="1400" u="none" cap="none" strike="noStrike">
                <a:solidFill>
                  <a:srgbClr val="5B6577"/>
                </a:solidFill>
                <a:latin typeface="Times New Roman"/>
                <a:ea typeface="Times New Roman"/>
                <a:cs typeface="Times New Roman"/>
                <a:sym typeface="Times New Roman"/>
              </a:rPr>
              <a:t>Where edge MLLM inference breaks</a:t>
            </a:r>
            <a:endParaRPr i="0" sz="1400" u="none" cap="none" strike="noStrike">
              <a:solidFill>
                <a:schemeClr val="dk1"/>
              </a:solidFill>
              <a:latin typeface="Times New Roman"/>
              <a:ea typeface="Times New Roman"/>
              <a:cs typeface="Times New Roman"/>
              <a:sym typeface="Times New Roman"/>
            </a:endParaRPr>
          </a:p>
        </p:txBody>
      </p:sp>
      <p:cxnSp>
        <p:nvCxnSpPr>
          <p:cNvPr id="44" name="Google Shape;44;p6"/>
          <p:cNvCxnSpPr/>
          <p:nvPr/>
        </p:nvCxnSpPr>
        <p:spPr>
          <a:xfrm>
            <a:off x="1117589" y="2275836"/>
            <a:ext cx="7620000" cy="0"/>
          </a:xfrm>
          <a:prstGeom prst="straightConnector1">
            <a:avLst/>
          </a:prstGeom>
          <a:noFill/>
          <a:ln cap="flat" cmpd="sng" w="9525">
            <a:solidFill>
              <a:srgbClr val="D9DEE5"/>
            </a:solidFill>
            <a:prstDash val="solid"/>
            <a:round/>
            <a:headEnd len="sm" w="sm" type="none"/>
            <a:tailEnd len="sm" w="sm" type="none"/>
          </a:ln>
        </p:spPr>
      </p:cxnSp>
      <p:sp>
        <p:nvSpPr>
          <p:cNvPr id="45" name="Google Shape;45;p6"/>
          <p:cNvSpPr/>
          <p:nvPr/>
        </p:nvSpPr>
        <p:spPr>
          <a:xfrm>
            <a:off x="1117589" y="2403189"/>
            <a:ext cx="457156" cy="41654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A5F"/>
              </a:buClr>
              <a:buSzPts val="2200"/>
              <a:buFont typeface="Georgia"/>
              <a:buNone/>
            </a:pPr>
            <a:r>
              <a:rPr b="0" i="0" lang="en-US" sz="2200" u="none" cap="none" strike="noStrike">
                <a:solidFill>
                  <a:srgbClr val="1F3A5F"/>
                </a:solidFill>
                <a:latin typeface="Georgia"/>
                <a:ea typeface="Georgia"/>
                <a:cs typeface="Georgia"/>
                <a:sym typeface="Georgia"/>
              </a:rPr>
              <a:t>2</a:t>
            </a:r>
            <a:endParaRPr b="0" i="0" sz="2200" u="none" cap="none" strike="noStrike">
              <a:solidFill>
                <a:schemeClr val="dk1"/>
              </a:solidFill>
              <a:latin typeface="Arial"/>
              <a:ea typeface="Arial"/>
              <a:cs typeface="Arial"/>
              <a:sym typeface="Arial"/>
            </a:endParaRPr>
          </a:p>
        </p:txBody>
      </p:sp>
      <p:sp>
        <p:nvSpPr>
          <p:cNvPr id="46" name="Google Shape;46;p6"/>
          <p:cNvSpPr/>
          <p:nvPr/>
        </p:nvSpPr>
        <p:spPr>
          <a:xfrm>
            <a:off x="1828712" y="2406717"/>
            <a:ext cx="2747010" cy="41654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430"/>
              </a:buClr>
              <a:buSzPts val="2200"/>
              <a:buFont typeface="Arial"/>
              <a:buNone/>
            </a:pPr>
            <a:r>
              <a:rPr i="0" lang="en-US" sz="2200" u="none" cap="none" strike="noStrike">
                <a:solidFill>
                  <a:srgbClr val="1F2430"/>
                </a:solidFill>
                <a:latin typeface="Times New Roman"/>
                <a:ea typeface="Times New Roman"/>
                <a:cs typeface="Times New Roman"/>
                <a:sym typeface="Times New Roman"/>
              </a:rPr>
              <a:t>Framework</a:t>
            </a:r>
            <a:endParaRPr i="0" sz="2200" u="none" cap="none" strike="noStrike">
              <a:solidFill>
                <a:schemeClr val="dk1"/>
              </a:solidFill>
              <a:latin typeface="Times New Roman"/>
              <a:ea typeface="Times New Roman"/>
              <a:cs typeface="Times New Roman"/>
              <a:sym typeface="Times New Roman"/>
            </a:endParaRPr>
          </a:p>
        </p:txBody>
      </p:sp>
      <p:sp>
        <p:nvSpPr>
          <p:cNvPr id="47" name="Google Shape;47;p6"/>
          <p:cNvSpPr/>
          <p:nvPr/>
        </p:nvSpPr>
        <p:spPr>
          <a:xfrm>
            <a:off x="4800479" y="2512550"/>
            <a:ext cx="3534040" cy="274329"/>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577"/>
              </a:buClr>
              <a:buSzPts val="1400"/>
              <a:buFont typeface="Arial"/>
              <a:buNone/>
            </a:pPr>
            <a:r>
              <a:rPr i="0" lang="en-US" sz="1400" u="none" cap="none" strike="noStrike">
                <a:solidFill>
                  <a:srgbClr val="5B6577"/>
                </a:solidFill>
                <a:latin typeface="Times New Roman"/>
                <a:ea typeface="Times New Roman"/>
                <a:cs typeface="Times New Roman"/>
                <a:sym typeface="Times New Roman"/>
              </a:rPr>
              <a:t>System model and the EMMI pipeline</a:t>
            </a:r>
            <a:endParaRPr i="0" sz="1400" u="none" cap="none" strike="noStrike">
              <a:solidFill>
                <a:schemeClr val="dk1"/>
              </a:solidFill>
              <a:latin typeface="Times New Roman"/>
              <a:ea typeface="Times New Roman"/>
              <a:cs typeface="Times New Roman"/>
              <a:sym typeface="Times New Roman"/>
            </a:endParaRPr>
          </a:p>
        </p:txBody>
      </p:sp>
      <p:cxnSp>
        <p:nvCxnSpPr>
          <p:cNvPr id="48" name="Google Shape;48;p6"/>
          <p:cNvCxnSpPr/>
          <p:nvPr/>
        </p:nvCxnSpPr>
        <p:spPr>
          <a:xfrm>
            <a:off x="1117589" y="2928034"/>
            <a:ext cx="7620000" cy="0"/>
          </a:xfrm>
          <a:prstGeom prst="straightConnector1">
            <a:avLst/>
          </a:prstGeom>
          <a:noFill/>
          <a:ln cap="flat" cmpd="sng" w="9525">
            <a:solidFill>
              <a:srgbClr val="D9DEE5"/>
            </a:solidFill>
            <a:prstDash val="solid"/>
            <a:round/>
            <a:headEnd len="sm" w="sm" type="none"/>
            <a:tailEnd len="sm" w="sm" type="none"/>
          </a:ln>
        </p:spPr>
      </p:cxnSp>
      <p:sp>
        <p:nvSpPr>
          <p:cNvPr id="49" name="Google Shape;49;p6"/>
          <p:cNvSpPr/>
          <p:nvPr/>
        </p:nvSpPr>
        <p:spPr>
          <a:xfrm>
            <a:off x="1117589" y="3055386"/>
            <a:ext cx="457156" cy="41654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A5F"/>
              </a:buClr>
              <a:buSzPts val="2200"/>
              <a:buFont typeface="Georgia"/>
              <a:buNone/>
            </a:pPr>
            <a:r>
              <a:rPr b="0" i="0" lang="en-US" sz="2200" u="none" cap="none" strike="noStrike">
                <a:solidFill>
                  <a:srgbClr val="1F3A5F"/>
                </a:solidFill>
                <a:latin typeface="Georgia"/>
                <a:ea typeface="Georgia"/>
                <a:cs typeface="Georgia"/>
                <a:sym typeface="Georgia"/>
              </a:rPr>
              <a:t>3</a:t>
            </a:r>
            <a:endParaRPr b="0" i="0" sz="2200" u="none" cap="none" strike="noStrike">
              <a:solidFill>
                <a:schemeClr val="dk1"/>
              </a:solidFill>
              <a:latin typeface="Arial"/>
              <a:ea typeface="Arial"/>
              <a:cs typeface="Arial"/>
              <a:sym typeface="Arial"/>
            </a:endParaRPr>
          </a:p>
        </p:txBody>
      </p:sp>
      <p:sp>
        <p:nvSpPr>
          <p:cNvPr id="50" name="Google Shape;50;p6"/>
          <p:cNvSpPr/>
          <p:nvPr/>
        </p:nvSpPr>
        <p:spPr>
          <a:xfrm>
            <a:off x="1828712" y="3058915"/>
            <a:ext cx="2747010" cy="41654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430"/>
              </a:buClr>
              <a:buSzPts val="2200"/>
              <a:buFont typeface="Arial"/>
              <a:buNone/>
            </a:pPr>
            <a:r>
              <a:rPr i="0" lang="en-US" sz="2200" u="none" cap="none" strike="noStrike">
                <a:solidFill>
                  <a:srgbClr val="1F2430"/>
                </a:solidFill>
                <a:latin typeface="Times New Roman"/>
                <a:ea typeface="Times New Roman"/>
                <a:cs typeface="Times New Roman"/>
                <a:sym typeface="Times New Roman"/>
              </a:rPr>
              <a:t>Solution</a:t>
            </a:r>
            <a:endParaRPr i="0" sz="2200" u="none" cap="none" strike="noStrike">
              <a:solidFill>
                <a:schemeClr val="dk1"/>
              </a:solidFill>
              <a:latin typeface="Times New Roman"/>
              <a:ea typeface="Times New Roman"/>
              <a:cs typeface="Times New Roman"/>
              <a:sym typeface="Times New Roman"/>
            </a:endParaRPr>
          </a:p>
        </p:txBody>
      </p:sp>
      <p:sp>
        <p:nvSpPr>
          <p:cNvPr id="51" name="Google Shape;51;p6"/>
          <p:cNvSpPr/>
          <p:nvPr/>
        </p:nvSpPr>
        <p:spPr>
          <a:xfrm>
            <a:off x="4800479" y="3164748"/>
            <a:ext cx="3937110" cy="274329"/>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577"/>
              </a:buClr>
              <a:buSzPts val="1400"/>
              <a:buFont typeface="Arial"/>
              <a:buNone/>
            </a:pPr>
            <a:r>
              <a:rPr i="0" lang="en-US" sz="1400" u="none" cap="none" strike="noStrike">
                <a:solidFill>
                  <a:srgbClr val="5B6577"/>
                </a:solidFill>
                <a:latin typeface="Times New Roman"/>
                <a:ea typeface="Times New Roman"/>
                <a:cs typeface="Times New Roman"/>
                <a:sym typeface="Times New Roman"/>
              </a:rPr>
              <a:t>Cross-modal fusion and learned compression</a:t>
            </a:r>
            <a:endParaRPr i="0" sz="1400" u="none" cap="none" strike="noStrike">
              <a:solidFill>
                <a:schemeClr val="dk1"/>
              </a:solidFill>
              <a:latin typeface="Times New Roman"/>
              <a:ea typeface="Times New Roman"/>
              <a:cs typeface="Times New Roman"/>
              <a:sym typeface="Times New Roman"/>
            </a:endParaRPr>
          </a:p>
        </p:txBody>
      </p:sp>
      <p:cxnSp>
        <p:nvCxnSpPr>
          <p:cNvPr id="52" name="Google Shape;52;p6"/>
          <p:cNvCxnSpPr/>
          <p:nvPr/>
        </p:nvCxnSpPr>
        <p:spPr>
          <a:xfrm>
            <a:off x="1117589" y="3580232"/>
            <a:ext cx="7620000" cy="0"/>
          </a:xfrm>
          <a:prstGeom prst="straightConnector1">
            <a:avLst/>
          </a:prstGeom>
          <a:noFill/>
          <a:ln cap="flat" cmpd="sng" w="9525">
            <a:solidFill>
              <a:srgbClr val="D9DEE5"/>
            </a:solidFill>
            <a:prstDash val="solid"/>
            <a:round/>
            <a:headEnd len="sm" w="sm" type="none"/>
            <a:tailEnd len="sm" w="sm" type="none"/>
          </a:ln>
        </p:spPr>
      </p:cxnSp>
      <p:sp>
        <p:nvSpPr>
          <p:cNvPr id="53" name="Google Shape;53;p6"/>
          <p:cNvSpPr/>
          <p:nvPr/>
        </p:nvSpPr>
        <p:spPr>
          <a:xfrm>
            <a:off x="1117589" y="3707585"/>
            <a:ext cx="457156" cy="41654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A5F"/>
              </a:buClr>
              <a:buSzPts val="2200"/>
              <a:buFont typeface="Georgia"/>
              <a:buNone/>
            </a:pPr>
            <a:r>
              <a:rPr b="0" i="0" lang="en-US" sz="2200" u="none" cap="none" strike="noStrike">
                <a:solidFill>
                  <a:srgbClr val="1F3A5F"/>
                </a:solidFill>
                <a:latin typeface="Georgia"/>
                <a:ea typeface="Georgia"/>
                <a:cs typeface="Georgia"/>
                <a:sym typeface="Georgia"/>
              </a:rPr>
              <a:t>4</a:t>
            </a:r>
            <a:endParaRPr b="0" i="0" sz="2200" u="none" cap="none" strike="noStrike">
              <a:solidFill>
                <a:schemeClr val="dk1"/>
              </a:solidFill>
              <a:latin typeface="Arial"/>
              <a:ea typeface="Arial"/>
              <a:cs typeface="Arial"/>
              <a:sym typeface="Arial"/>
            </a:endParaRPr>
          </a:p>
        </p:txBody>
      </p:sp>
      <p:sp>
        <p:nvSpPr>
          <p:cNvPr id="54" name="Google Shape;54;p6"/>
          <p:cNvSpPr/>
          <p:nvPr/>
        </p:nvSpPr>
        <p:spPr>
          <a:xfrm>
            <a:off x="1828712" y="3711112"/>
            <a:ext cx="2747010" cy="41654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430"/>
              </a:buClr>
              <a:buSzPts val="2200"/>
              <a:buFont typeface="Arial"/>
              <a:buNone/>
            </a:pPr>
            <a:r>
              <a:rPr i="0" lang="en-US" sz="2200" u="none" cap="none" strike="noStrike">
                <a:solidFill>
                  <a:srgbClr val="1F2430"/>
                </a:solidFill>
                <a:latin typeface="Times New Roman"/>
                <a:ea typeface="Times New Roman"/>
                <a:cs typeface="Times New Roman"/>
                <a:sym typeface="Times New Roman"/>
              </a:rPr>
              <a:t>Evaluation</a:t>
            </a:r>
            <a:endParaRPr i="0" sz="2200" u="none" cap="none" strike="noStrike">
              <a:solidFill>
                <a:schemeClr val="dk1"/>
              </a:solidFill>
              <a:latin typeface="Times New Roman"/>
              <a:ea typeface="Times New Roman"/>
              <a:cs typeface="Times New Roman"/>
              <a:sym typeface="Times New Roman"/>
            </a:endParaRPr>
          </a:p>
        </p:txBody>
      </p:sp>
      <p:sp>
        <p:nvSpPr>
          <p:cNvPr id="55" name="Google Shape;55;p6"/>
          <p:cNvSpPr/>
          <p:nvPr/>
        </p:nvSpPr>
        <p:spPr>
          <a:xfrm>
            <a:off x="4800479" y="3816946"/>
            <a:ext cx="3549716" cy="274329"/>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577"/>
              </a:buClr>
              <a:buSzPts val="1400"/>
              <a:buFont typeface="Arial"/>
              <a:buNone/>
            </a:pPr>
            <a:r>
              <a:rPr i="0" lang="en-US" sz="1400" u="none" cap="none" strike="noStrike">
                <a:solidFill>
                  <a:srgbClr val="5B6577"/>
                </a:solidFill>
                <a:latin typeface="Times New Roman"/>
                <a:ea typeface="Times New Roman"/>
                <a:cs typeface="Times New Roman"/>
                <a:sym typeface="Times New Roman"/>
              </a:rPr>
              <a:t>Accuracy, latency, bandwidth regimes</a:t>
            </a:r>
            <a:endParaRPr i="0" sz="1400" u="none" cap="none" strike="noStrike">
              <a:solidFill>
                <a:schemeClr val="dk1"/>
              </a:solidFill>
              <a:latin typeface="Times New Roman"/>
              <a:ea typeface="Times New Roman"/>
              <a:cs typeface="Times New Roman"/>
              <a:sym typeface="Times New Roman"/>
            </a:endParaRPr>
          </a:p>
        </p:txBody>
      </p:sp>
      <p:cxnSp>
        <p:nvCxnSpPr>
          <p:cNvPr id="56" name="Google Shape;56;p6"/>
          <p:cNvCxnSpPr/>
          <p:nvPr/>
        </p:nvCxnSpPr>
        <p:spPr>
          <a:xfrm>
            <a:off x="1117589" y="4232430"/>
            <a:ext cx="7620000" cy="0"/>
          </a:xfrm>
          <a:prstGeom prst="straightConnector1">
            <a:avLst/>
          </a:prstGeom>
          <a:noFill/>
          <a:ln cap="flat" cmpd="sng" w="9525">
            <a:solidFill>
              <a:srgbClr val="D9DEE5"/>
            </a:solidFill>
            <a:prstDash val="solid"/>
            <a:round/>
            <a:headEnd len="sm" w="sm" type="none"/>
            <a:tailEnd len="sm" w="sm" type="none"/>
          </a:ln>
        </p:spPr>
      </p:cxnSp>
      <p:sp>
        <p:nvSpPr>
          <p:cNvPr id="57" name="Google Shape;57;p6"/>
          <p:cNvSpPr/>
          <p:nvPr/>
        </p:nvSpPr>
        <p:spPr>
          <a:xfrm>
            <a:off x="1117589" y="4359783"/>
            <a:ext cx="457156" cy="41654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A5F"/>
              </a:buClr>
              <a:buSzPts val="2200"/>
              <a:buFont typeface="Georgia"/>
              <a:buNone/>
            </a:pPr>
            <a:r>
              <a:rPr b="0" i="0" lang="en-US" sz="2200" u="none" cap="none" strike="noStrike">
                <a:solidFill>
                  <a:srgbClr val="1F3A5F"/>
                </a:solidFill>
                <a:latin typeface="Georgia"/>
                <a:ea typeface="Georgia"/>
                <a:cs typeface="Georgia"/>
                <a:sym typeface="Georgia"/>
              </a:rPr>
              <a:t>5</a:t>
            </a:r>
            <a:endParaRPr b="0" i="0" sz="2200" u="none" cap="none" strike="noStrike">
              <a:solidFill>
                <a:schemeClr val="dk1"/>
              </a:solidFill>
              <a:latin typeface="Arial"/>
              <a:ea typeface="Arial"/>
              <a:cs typeface="Arial"/>
              <a:sym typeface="Arial"/>
            </a:endParaRPr>
          </a:p>
        </p:txBody>
      </p:sp>
      <p:sp>
        <p:nvSpPr>
          <p:cNvPr id="58" name="Google Shape;58;p6"/>
          <p:cNvSpPr/>
          <p:nvPr/>
        </p:nvSpPr>
        <p:spPr>
          <a:xfrm>
            <a:off x="1828698" y="4363300"/>
            <a:ext cx="3274500" cy="41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430"/>
              </a:buClr>
              <a:buSzPts val="2200"/>
              <a:buFont typeface="Arial"/>
              <a:buNone/>
            </a:pPr>
            <a:r>
              <a:rPr i="0" lang="en-US" sz="2200" u="none" cap="none" strike="noStrike">
                <a:solidFill>
                  <a:srgbClr val="1F2430"/>
                </a:solidFill>
                <a:latin typeface="Times New Roman"/>
                <a:ea typeface="Times New Roman"/>
                <a:cs typeface="Times New Roman"/>
                <a:sym typeface="Times New Roman"/>
              </a:rPr>
              <a:t>Conclusion an</a:t>
            </a:r>
            <a:r>
              <a:rPr lang="en-US" sz="2200">
                <a:solidFill>
                  <a:srgbClr val="1F2430"/>
                </a:solidFill>
                <a:latin typeface="Times New Roman"/>
                <a:ea typeface="Times New Roman"/>
                <a:cs typeface="Times New Roman"/>
                <a:sym typeface="Times New Roman"/>
              </a:rPr>
              <a:t>d </a:t>
            </a:r>
            <a:r>
              <a:rPr lang="en-US" sz="2200">
                <a:solidFill>
                  <a:schemeClr val="accent3"/>
                </a:solidFill>
                <a:latin typeface="Times New Roman"/>
                <a:ea typeface="Times New Roman"/>
                <a:cs typeface="Times New Roman"/>
                <a:sym typeface="Times New Roman"/>
              </a:rPr>
              <a:t>Future work</a:t>
            </a:r>
            <a:endParaRPr sz="2200">
              <a:solidFill>
                <a:schemeClr val="dk1"/>
              </a:solidFill>
              <a:latin typeface="Times New Roman"/>
              <a:ea typeface="Times New Roman"/>
              <a:cs typeface="Times New Roman"/>
              <a:sym typeface="Times New Roman"/>
            </a:endParaRPr>
          </a:p>
          <a:p>
            <a:pPr indent="0" lvl="0" marL="0" marR="0" rtl="0" algn="l">
              <a:lnSpc>
                <a:spcPct val="140000"/>
              </a:lnSpc>
              <a:spcBef>
                <a:spcPts val="0"/>
              </a:spcBef>
              <a:spcAft>
                <a:spcPts val="0"/>
              </a:spcAft>
              <a:buClr>
                <a:srgbClr val="1F2430"/>
              </a:buClr>
              <a:buSzPts val="2200"/>
              <a:buFont typeface="Arial"/>
              <a:buNone/>
            </a:pPr>
            <a:r>
              <a:t/>
            </a:r>
            <a:endParaRPr sz="2200">
              <a:solidFill>
                <a:srgbClr val="1F2430"/>
              </a:solidFill>
              <a:latin typeface="Times New Roman"/>
              <a:ea typeface="Times New Roman"/>
              <a:cs typeface="Times New Roman"/>
              <a:sym typeface="Times New Roman"/>
            </a:endParaRPr>
          </a:p>
        </p:txBody>
      </p:sp>
      <p:cxnSp>
        <p:nvCxnSpPr>
          <p:cNvPr id="59" name="Google Shape;59;p6"/>
          <p:cNvCxnSpPr/>
          <p:nvPr/>
        </p:nvCxnSpPr>
        <p:spPr>
          <a:xfrm>
            <a:off x="1117589" y="4884627"/>
            <a:ext cx="7620000" cy="0"/>
          </a:xfrm>
          <a:prstGeom prst="straightConnector1">
            <a:avLst/>
          </a:prstGeom>
          <a:noFill/>
          <a:ln cap="flat" cmpd="sng" w="9525">
            <a:solidFill>
              <a:srgbClr val="D9DEE5"/>
            </a:solidFill>
            <a:prstDash val="solid"/>
            <a:round/>
            <a:headEnd len="sm" w="sm" type="none"/>
            <a:tailEnd len="sm" w="sm" type="none"/>
          </a:ln>
        </p:spPr>
      </p:cxnSp>
      <p:sp>
        <p:nvSpPr>
          <p:cNvPr id="60" name="Google Shape;60;p6"/>
          <p:cNvSpPr/>
          <p:nvPr/>
        </p:nvSpPr>
        <p:spPr>
          <a:xfrm>
            <a:off x="1117589" y="5011981"/>
            <a:ext cx="457156" cy="41654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A5F"/>
              </a:buClr>
              <a:buSzPts val="2200"/>
              <a:buFont typeface="Georgia"/>
              <a:buNone/>
            </a:pPr>
            <a:r>
              <a:t/>
            </a:r>
            <a:endParaRPr b="0" i="0" sz="2200" u="none" cap="none" strike="noStrike">
              <a:solidFill>
                <a:schemeClr val="dk1"/>
              </a:solidFill>
              <a:latin typeface="Arial"/>
              <a:ea typeface="Arial"/>
              <a:cs typeface="Arial"/>
              <a:sym typeface="Arial"/>
            </a:endParaRPr>
          </a:p>
        </p:txBody>
      </p:sp>
      <p:sp>
        <p:nvSpPr>
          <p:cNvPr id="61" name="Google Shape;61;p6"/>
          <p:cNvSpPr/>
          <p:nvPr/>
        </p:nvSpPr>
        <p:spPr>
          <a:xfrm>
            <a:off x="304767" y="6299178"/>
            <a:ext cx="11887178" cy="558767"/>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p:nvPr/>
        </p:nvSpPr>
        <p:spPr>
          <a:xfrm>
            <a:off x="11209680" y="6471875"/>
            <a:ext cx="220299"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 name="Shape 67"/>
        <p:cNvGrpSpPr/>
        <p:nvPr/>
      </p:nvGrpSpPr>
      <p:grpSpPr>
        <a:xfrm>
          <a:off x="0" y="0"/>
          <a:ext cx="0" cy="0"/>
          <a:chOff x="0" y="0"/>
          <a:chExt cx="0" cy="0"/>
        </a:xfrm>
      </p:grpSpPr>
      <p:sp>
        <p:nvSpPr>
          <p:cNvPr id="68" name="Google Shape;68;p7"/>
          <p:cNvSpPr/>
          <p:nvPr/>
        </p:nvSpPr>
        <p:spPr>
          <a:xfrm>
            <a:off x="0" y="0"/>
            <a:ext cx="304767" cy="68580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7"/>
          <p:cNvSpPr/>
          <p:nvPr/>
        </p:nvSpPr>
        <p:spPr>
          <a:xfrm>
            <a:off x="1117589" y="533357"/>
            <a:ext cx="762000" cy="50767"/>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7"/>
          <p:cNvSpPr txBox="1"/>
          <p:nvPr>
            <p:ph type="title"/>
          </p:nvPr>
        </p:nvSpPr>
        <p:spPr>
          <a:xfrm>
            <a:off x="1117589" y="700216"/>
            <a:ext cx="10569600" cy="505500"/>
          </a:xfrm>
          <a:prstGeom prst="rect">
            <a:avLst/>
          </a:prstGeom>
          <a:noFill/>
          <a:ln>
            <a:noFill/>
          </a:ln>
        </p:spPr>
        <p:txBody>
          <a:bodyPr anchorCtr="0" anchor="t" bIns="0" lIns="0" spcFirstLastPara="1" rIns="0" wrap="square" tIns="0">
            <a:normAutofit fontScale="90000"/>
          </a:bodyPr>
          <a:lstStyle/>
          <a:p>
            <a:pPr indent="0" lvl="0" marL="0" rtl="0" algn="l">
              <a:lnSpc>
                <a:spcPct val="104999"/>
              </a:lnSpc>
              <a:spcBef>
                <a:spcPts val="0"/>
              </a:spcBef>
              <a:spcAft>
                <a:spcPts val="0"/>
              </a:spcAft>
              <a:buClr>
                <a:srgbClr val="1F3A5F"/>
              </a:buClr>
              <a:buSzPct val="100000"/>
              <a:buFont typeface="Georgia"/>
              <a:buNone/>
            </a:pPr>
            <a:r>
              <a:rPr b="1" lang="en-US"/>
              <a:t>Why </a:t>
            </a:r>
            <a:r>
              <a:rPr b="1" i="0" lang="en-US" sz="3600">
                <a:solidFill>
                  <a:srgbClr val="1F3A5F"/>
                </a:solidFill>
                <a:latin typeface="Georgia"/>
                <a:ea typeface="Georgia"/>
                <a:cs typeface="Georgia"/>
                <a:sym typeface="Georgia"/>
              </a:rPr>
              <a:t>MLLM for edge?</a:t>
            </a:r>
            <a:endParaRPr sz="3600"/>
          </a:p>
        </p:txBody>
      </p:sp>
      <p:sp>
        <p:nvSpPr>
          <p:cNvPr id="71" name="Google Shape;71;p7"/>
          <p:cNvSpPr/>
          <p:nvPr/>
        </p:nvSpPr>
        <p:spPr>
          <a:xfrm>
            <a:off x="1117600" y="1394300"/>
            <a:ext cx="5988000" cy="1126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2430"/>
              </a:buClr>
              <a:buSzPts val="2200"/>
              <a:buFont typeface="Times New Roman"/>
              <a:buNone/>
            </a:pPr>
            <a:r>
              <a:rPr lang="en-US" sz="2000">
                <a:latin typeface="Times New Roman"/>
                <a:ea typeface="Times New Roman"/>
                <a:cs typeface="Times New Roman"/>
                <a:sym typeface="Times New Roman"/>
              </a:rPr>
              <a:t>Edge platforms sense through many modalities (RGB, thermal, LiDAR, GPS, text reports, audio, etc), and decisions need them interpreted </a:t>
            </a:r>
            <a:r>
              <a:rPr i="1" lang="en-US" sz="2000">
                <a:latin typeface="Times New Roman"/>
                <a:ea typeface="Times New Roman"/>
                <a:cs typeface="Times New Roman"/>
                <a:sym typeface="Times New Roman"/>
              </a:rPr>
              <a:t>together</a:t>
            </a:r>
            <a:r>
              <a:rPr lang="en-US" sz="2000">
                <a:latin typeface="Times New Roman"/>
                <a:ea typeface="Times New Roman"/>
                <a:cs typeface="Times New Roman"/>
                <a:sym typeface="Times New Roman"/>
              </a:rPr>
              <a:t>.</a:t>
            </a:r>
            <a:endParaRPr i="0" sz="2000" u="none" cap="none" strike="noStrike">
              <a:solidFill>
                <a:schemeClr val="dk1"/>
              </a:solidFill>
              <a:latin typeface="Times New Roman"/>
              <a:ea typeface="Times New Roman"/>
              <a:cs typeface="Times New Roman"/>
              <a:sym typeface="Times New Roman"/>
            </a:endParaRPr>
          </a:p>
        </p:txBody>
      </p:sp>
      <p:pic>
        <p:nvPicPr>
          <p:cNvPr descr="Illustration: drones scan a burning building and a firefighter views the resulting 3D point-cloud map on a tablet." id="72" name="Google Shape;72;p7"/>
          <p:cNvPicPr preferRelativeResize="0"/>
          <p:nvPr/>
        </p:nvPicPr>
        <p:blipFill rotWithShape="1">
          <a:blip r:embed="rId3">
            <a:alphaModFix/>
          </a:blip>
          <a:srcRect b="89" l="0" r="0" t="89"/>
          <a:stretch/>
        </p:blipFill>
        <p:spPr>
          <a:xfrm>
            <a:off x="477589" y="3070588"/>
            <a:ext cx="2306100" cy="2851200"/>
          </a:xfrm>
          <a:prstGeom prst="roundRect">
            <a:avLst>
              <a:gd fmla="val 2909" name="adj"/>
            </a:avLst>
          </a:prstGeom>
          <a:noFill/>
          <a:ln cap="flat" cmpd="sng" w="28575">
            <a:solidFill>
              <a:srgbClr val="A64D79"/>
            </a:solidFill>
            <a:prstDash val="solid"/>
            <a:round/>
            <a:headEnd len="sm" w="sm" type="none"/>
            <a:tailEnd len="sm" w="sm" type="none"/>
          </a:ln>
        </p:spPr>
      </p:pic>
      <p:sp>
        <p:nvSpPr>
          <p:cNvPr id="73" name="Google Shape;73;p7"/>
          <p:cNvSpPr/>
          <p:nvPr/>
        </p:nvSpPr>
        <p:spPr>
          <a:xfrm>
            <a:off x="1772824" y="3727400"/>
            <a:ext cx="2120400" cy="3606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F2430"/>
              </a:buClr>
              <a:buSzPts val="2200"/>
              <a:buFont typeface="Times New Roman"/>
              <a:buNone/>
            </a:pPr>
            <a:r>
              <a:rPr b="1" i="0" lang="en-US" sz="2200" u="none" cap="none" strike="noStrike">
                <a:solidFill>
                  <a:schemeClr val="lt1"/>
                </a:solidFill>
                <a:highlight>
                  <a:srgbClr val="A64D79"/>
                </a:highlight>
                <a:latin typeface="Times New Roman"/>
                <a:ea typeface="Times New Roman"/>
                <a:cs typeface="Times New Roman"/>
                <a:sym typeface="Times New Roman"/>
              </a:rPr>
              <a:t>Task-specific AI</a:t>
            </a:r>
            <a:endParaRPr b="0" i="0" sz="2200" u="none" cap="none" strike="noStrike">
              <a:solidFill>
                <a:schemeClr val="lt1"/>
              </a:solidFill>
              <a:highlight>
                <a:srgbClr val="A64D79"/>
              </a:highlight>
              <a:latin typeface="Arial"/>
              <a:ea typeface="Arial"/>
              <a:cs typeface="Arial"/>
              <a:sym typeface="Arial"/>
            </a:endParaRPr>
          </a:p>
        </p:txBody>
      </p:sp>
      <p:sp>
        <p:nvSpPr>
          <p:cNvPr id="74" name="Google Shape;74;p7"/>
          <p:cNvSpPr/>
          <p:nvPr/>
        </p:nvSpPr>
        <p:spPr>
          <a:xfrm>
            <a:off x="2900075" y="4157175"/>
            <a:ext cx="2737200" cy="1526100"/>
          </a:xfrm>
          <a:prstGeom prst="rect">
            <a:avLst/>
          </a:prstGeom>
          <a:noFill/>
          <a:ln cap="flat" cmpd="sng" w="19050">
            <a:solidFill>
              <a:srgbClr val="A64D79"/>
            </a:solidFill>
            <a:prstDash val="solid"/>
            <a:round/>
            <a:headEnd len="sm" w="sm" type="none"/>
            <a:tailEnd len="sm" w="sm" type="none"/>
          </a:ln>
        </p:spPr>
        <p:txBody>
          <a:bodyPr anchorCtr="0" anchor="t" bIns="0" lIns="0" spcFirstLastPara="1" rIns="0" wrap="square" tIns="0">
            <a:noAutofit/>
          </a:bodyPr>
          <a:lstStyle/>
          <a:p>
            <a:pPr indent="-349250" lvl="0" marL="457200" marR="0" rtl="0" algn="l">
              <a:lnSpc>
                <a:spcPct val="100000"/>
              </a:lnSpc>
              <a:spcBef>
                <a:spcPts val="0"/>
              </a:spcBef>
              <a:spcAft>
                <a:spcPts val="0"/>
              </a:spcAft>
              <a:buClr>
                <a:schemeClr val="accent3"/>
              </a:buClr>
              <a:buSzPts val="1900"/>
              <a:buFont typeface="Georgia"/>
              <a:buChar char="-"/>
            </a:pPr>
            <a:r>
              <a:rPr i="1" lang="en-US" sz="1900" u="none" cap="none" strike="noStrike">
                <a:solidFill>
                  <a:schemeClr val="accent3"/>
                </a:solidFill>
                <a:latin typeface="Georgia"/>
                <a:ea typeface="Georgia"/>
                <a:cs typeface="Georgia"/>
                <a:sym typeface="Georgia"/>
              </a:rPr>
              <a:t>Detection, recognition by AI</a:t>
            </a:r>
            <a:endParaRPr i="1" sz="1900">
              <a:solidFill>
                <a:schemeClr val="accent3"/>
              </a:solidFill>
              <a:latin typeface="Georgia"/>
              <a:ea typeface="Georgia"/>
              <a:cs typeface="Georgia"/>
              <a:sym typeface="Georgia"/>
            </a:endParaRPr>
          </a:p>
          <a:p>
            <a:pPr indent="-349250" lvl="0" marL="457200" marR="0" rtl="0" algn="l">
              <a:lnSpc>
                <a:spcPct val="100000"/>
              </a:lnSpc>
              <a:spcBef>
                <a:spcPts val="0"/>
              </a:spcBef>
              <a:spcAft>
                <a:spcPts val="0"/>
              </a:spcAft>
              <a:buClr>
                <a:schemeClr val="accent3"/>
              </a:buClr>
              <a:buSzPts val="1900"/>
              <a:buFont typeface="Georgia"/>
              <a:buChar char="-"/>
            </a:pPr>
            <a:r>
              <a:rPr i="1" lang="en-US" sz="1900" u="none" cap="none" strike="noStrike">
                <a:solidFill>
                  <a:schemeClr val="accent3"/>
                </a:solidFill>
                <a:latin typeface="Georgia"/>
                <a:ea typeface="Georgia"/>
                <a:cs typeface="Georgia"/>
                <a:sym typeface="Georgia"/>
              </a:rPr>
              <a:t>Humans analyze, reason, decide</a:t>
            </a:r>
            <a:endParaRPr i="1" sz="1900">
              <a:solidFill>
                <a:schemeClr val="accent3"/>
              </a:solidFill>
              <a:latin typeface="Georgia"/>
              <a:ea typeface="Georgia"/>
              <a:cs typeface="Georgia"/>
              <a:sym typeface="Georgia"/>
            </a:endParaRPr>
          </a:p>
          <a:p>
            <a:pPr indent="-349250" lvl="0" marL="457200" marR="0" rtl="0" algn="l">
              <a:lnSpc>
                <a:spcPct val="100000"/>
              </a:lnSpc>
              <a:spcBef>
                <a:spcPts val="0"/>
              </a:spcBef>
              <a:spcAft>
                <a:spcPts val="0"/>
              </a:spcAft>
              <a:buClr>
                <a:schemeClr val="accent3"/>
              </a:buClr>
              <a:buSzPts val="1900"/>
              <a:buFont typeface="Georgia"/>
              <a:buChar char="-"/>
            </a:pPr>
            <a:r>
              <a:rPr i="1" lang="en-US" sz="1900" u="none" cap="none" strike="noStrike">
                <a:solidFill>
                  <a:schemeClr val="accent3"/>
                </a:solidFill>
                <a:latin typeface="Georgia"/>
                <a:ea typeface="Georgia"/>
                <a:cs typeface="Georgia"/>
                <a:sym typeface="Georgia"/>
              </a:rPr>
              <a:t>One model per task</a:t>
            </a:r>
            <a:endParaRPr i="1" sz="1900" u="none" cap="none" strike="noStrike">
              <a:solidFill>
                <a:schemeClr val="accent3"/>
              </a:solidFill>
              <a:latin typeface="Georgia"/>
              <a:ea typeface="Georgia"/>
              <a:cs typeface="Georgia"/>
              <a:sym typeface="Georgia"/>
            </a:endParaRPr>
          </a:p>
        </p:txBody>
      </p:sp>
      <p:pic>
        <p:nvPicPr>
          <p:cNvPr descr="Illustration: a drone with thermal and RGB cameras over a flooded neighborhood; two people wave from a blue roof near power lines." id="75" name="Google Shape;75;p7"/>
          <p:cNvPicPr preferRelativeResize="0"/>
          <p:nvPr/>
        </p:nvPicPr>
        <p:blipFill rotWithShape="1">
          <a:blip r:embed="rId4">
            <a:alphaModFix/>
          </a:blip>
          <a:srcRect b="0" l="12" r="12" t="0"/>
          <a:stretch/>
        </p:blipFill>
        <p:spPr>
          <a:xfrm>
            <a:off x="5814385" y="2953108"/>
            <a:ext cx="3363300" cy="2955300"/>
          </a:xfrm>
          <a:prstGeom prst="roundRect">
            <a:avLst>
              <a:gd fmla="val 2353" name="adj"/>
            </a:avLst>
          </a:prstGeom>
          <a:noFill/>
          <a:ln cap="flat" cmpd="sng" w="28575">
            <a:solidFill>
              <a:srgbClr val="3C78D8"/>
            </a:solidFill>
            <a:prstDash val="solid"/>
            <a:round/>
            <a:headEnd len="sm" w="sm" type="none"/>
            <a:tailEnd len="sm" w="sm" type="none"/>
          </a:ln>
        </p:spPr>
      </p:pic>
      <p:sp>
        <p:nvSpPr>
          <p:cNvPr id="76" name="Google Shape;76;p7"/>
          <p:cNvSpPr/>
          <p:nvPr/>
        </p:nvSpPr>
        <p:spPr>
          <a:xfrm>
            <a:off x="8698388" y="3602988"/>
            <a:ext cx="2542200" cy="3606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F3A5F"/>
              </a:buClr>
              <a:buSzPts val="2200"/>
              <a:buFont typeface="Times New Roman"/>
              <a:buNone/>
            </a:pPr>
            <a:r>
              <a:rPr b="1" i="0" lang="en-US" sz="2200" u="none" cap="none" strike="noStrike">
                <a:solidFill>
                  <a:schemeClr val="lt1"/>
                </a:solidFill>
                <a:highlight>
                  <a:srgbClr val="3C78D8"/>
                </a:highlight>
                <a:latin typeface="Times New Roman"/>
                <a:ea typeface="Times New Roman"/>
                <a:cs typeface="Times New Roman"/>
                <a:sym typeface="Times New Roman"/>
              </a:rPr>
              <a:t>Multimodal LLM</a:t>
            </a:r>
            <a:endParaRPr b="0" i="0" sz="2200" u="none" cap="none" strike="noStrike">
              <a:solidFill>
                <a:schemeClr val="lt1"/>
              </a:solidFill>
              <a:highlight>
                <a:srgbClr val="3C78D8"/>
              </a:highlight>
              <a:latin typeface="Arial"/>
              <a:ea typeface="Arial"/>
              <a:cs typeface="Arial"/>
              <a:sym typeface="Arial"/>
            </a:endParaRPr>
          </a:p>
        </p:txBody>
      </p:sp>
      <p:sp>
        <p:nvSpPr>
          <p:cNvPr id="77" name="Google Shape;77;p7"/>
          <p:cNvSpPr/>
          <p:nvPr/>
        </p:nvSpPr>
        <p:spPr>
          <a:xfrm>
            <a:off x="9293575" y="4013600"/>
            <a:ext cx="2737200" cy="1567200"/>
          </a:xfrm>
          <a:prstGeom prst="rect">
            <a:avLst/>
          </a:prstGeom>
          <a:noFill/>
          <a:ln cap="flat" cmpd="sng" w="19050">
            <a:solidFill>
              <a:srgbClr val="3C78D8"/>
            </a:solidFill>
            <a:prstDash val="solid"/>
            <a:round/>
            <a:headEnd len="sm" w="sm" type="none"/>
            <a:tailEnd len="sm" w="sm" type="none"/>
          </a:ln>
        </p:spPr>
        <p:txBody>
          <a:bodyPr anchorCtr="0" anchor="t" bIns="0" lIns="0" spcFirstLastPara="1" rIns="0" wrap="square" tIns="0">
            <a:noAutofit/>
          </a:bodyPr>
          <a:lstStyle/>
          <a:p>
            <a:pPr indent="-349250" lvl="0" marL="457200" marR="0" rtl="0" algn="l">
              <a:lnSpc>
                <a:spcPct val="100000"/>
              </a:lnSpc>
              <a:spcBef>
                <a:spcPts val="0"/>
              </a:spcBef>
              <a:spcAft>
                <a:spcPts val="0"/>
              </a:spcAft>
              <a:buClr>
                <a:srgbClr val="1F2430"/>
              </a:buClr>
              <a:buSzPts val="1900"/>
              <a:buFont typeface="Georgia"/>
              <a:buChar char="-"/>
            </a:pPr>
            <a:r>
              <a:rPr i="1" lang="en-US" sz="1900" u="none" cap="none" strike="noStrike">
                <a:solidFill>
                  <a:srgbClr val="1F2430"/>
                </a:solidFill>
                <a:latin typeface="Georgia"/>
                <a:ea typeface="Georgia"/>
                <a:cs typeface="Georgia"/>
                <a:sym typeface="Georgia"/>
              </a:rPr>
              <a:t>One model, many tasks</a:t>
            </a:r>
            <a:endParaRPr i="1" sz="1900">
              <a:solidFill>
                <a:srgbClr val="1F2430"/>
              </a:solidFill>
              <a:latin typeface="Georgia"/>
              <a:ea typeface="Georgia"/>
              <a:cs typeface="Georgia"/>
              <a:sym typeface="Georgia"/>
            </a:endParaRPr>
          </a:p>
          <a:p>
            <a:pPr indent="-349250" lvl="0" marL="457200" marR="0" rtl="0" algn="l">
              <a:lnSpc>
                <a:spcPct val="100000"/>
              </a:lnSpc>
              <a:spcBef>
                <a:spcPts val="0"/>
              </a:spcBef>
              <a:spcAft>
                <a:spcPts val="0"/>
              </a:spcAft>
              <a:buClr>
                <a:srgbClr val="1F2430"/>
              </a:buClr>
              <a:buSzPts val="1900"/>
              <a:buFont typeface="Georgia"/>
              <a:buChar char="-"/>
            </a:pPr>
            <a:r>
              <a:rPr i="1" lang="en-US" sz="1900" u="none" cap="none" strike="noStrike">
                <a:solidFill>
                  <a:srgbClr val="1F2430"/>
                </a:solidFill>
                <a:latin typeface="Georgia"/>
                <a:ea typeface="Georgia"/>
                <a:cs typeface="Georgia"/>
                <a:sym typeface="Georgia"/>
              </a:rPr>
              <a:t>New questions, new disasters</a:t>
            </a:r>
            <a:endParaRPr i="1" sz="1900">
              <a:solidFill>
                <a:srgbClr val="1F2430"/>
              </a:solidFill>
              <a:latin typeface="Georgia"/>
              <a:ea typeface="Georgia"/>
              <a:cs typeface="Georgia"/>
              <a:sym typeface="Georgia"/>
            </a:endParaRPr>
          </a:p>
          <a:p>
            <a:pPr indent="-349250" lvl="0" marL="457200" marR="0" rtl="0" algn="l">
              <a:lnSpc>
                <a:spcPct val="100000"/>
              </a:lnSpc>
              <a:spcBef>
                <a:spcPts val="0"/>
              </a:spcBef>
              <a:spcAft>
                <a:spcPts val="0"/>
              </a:spcAft>
              <a:buClr>
                <a:srgbClr val="1F2430"/>
              </a:buClr>
              <a:buSzPts val="1900"/>
              <a:buFont typeface="Georgia"/>
              <a:buChar char="-"/>
            </a:pPr>
            <a:r>
              <a:rPr i="1" lang="en-US" sz="1900">
                <a:solidFill>
                  <a:srgbClr val="1F2430"/>
                </a:solidFill>
                <a:latin typeface="Georgia"/>
                <a:ea typeface="Georgia"/>
                <a:cs typeface="Georgia"/>
                <a:sym typeface="Georgia"/>
              </a:rPr>
              <a:t>Reasoning</a:t>
            </a:r>
            <a:endParaRPr i="1" sz="1900">
              <a:solidFill>
                <a:srgbClr val="1F2430"/>
              </a:solidFill>
              <a:latin typeface="Georgia"/>
              <a:ea typeface="Georgia"/>
              <a:cs typeface="Georgia"/>
              <a:sym typeface="Georgia"/>
            </a:endParaRPr>
          </a:p>
          <a:p>
            <a:pPr indent="0" lvl="0" marL="0" marR="0" rtl="0" algn="l">
              <a:lnSpc>
                <a:spcPct val="100000"/>
              </a:lnSpc>
              <a:spcBef>
                <a:spcPts val="0"/>
              </a:spcBef>
              <a:spcAft>
                <a:spcPts val="0"/>
              </a:spcAft>
              <a:buNone/>
            </a:pPr>
            <a:r>
              <a:t/>
            </a:r>
            <a:endParaRPr i="1" sz="1900" u="none" cap="none" strike="noStrike">
              <a:solidFill>
                <a:schemeClr val="dk1"/>
              </a:solidFill>
              <a:latin typeface="Georgia"/>
              <a:ea typeface="Georgia"/>
              <a:cs typeface="Georgia"/>
              <a:sym typeface="Georgia"/>
            </a:endParaRPr>
          </a:p>
        </p:txBody>
      </p:sp>
      <p:sp>
        <p:nvSpPr>
          <p:cNvPr id="78" name="Google Shape;78;p7"/>
          <p:cNvSpPr/>
          <p:nvPr/>
        </p:nvSpPr>
        <p:spPr>
          <a:xfrm>
            <a:off x="304767" y="6299178"/>
            <a:ext cx="11887178" cy="558767"/>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7"/>
          <p:cNvSpPr/>
          <p:nvPr/>
        </p:nvSpPr>
        <p:spPr>
          <a:xfrm>
            <a:off x="1117534" y="6471875"/>
            <a:ext cx="1066337"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Introduction</a:t>
            </a:r>
            <a:endParaRPr b="0" i="0" sz="1200" u="none" cap="none" strike="noStrike">
              <a:solidFill>
                <a:schemeClr val="dk1"/>
              </a:solidFill>
              <a:latin typeface="Arial"/>
              <a:ea typeface="Arial"/>
              <a:cs typeface="Arial"/>
              <a:sym typeface="Arial"/>
            </a:endParaRPr>
          </a:p>
        </p:txBody>
      </p:sp>
      <p:sp>
        <p:nvSpPr>
          <p:cNvPr id="80" name="Google Shape;80;p7"/>
          <p:cNvSpPr/>
          <p:nvPr/>
        </p:nvSpPr>
        <p:spPr>
          <a:xfrm>
            <a:off x="2310915" y="6471875"/>
            <a:ext cx="914334"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Framework</a:t>
            </a:r>
            <a:endParaRPr b="0" i="0" sz="1200" u="none" cap="none" strike="noStrike">
              <a:solidFill>
                <a:schemeClr val="dk1"/>
              </a:solidFill>
              <a:latin typeface="Arial"/>
              <a:ea typeface="Arial"/>
              <a:cs typeface="Arial"/>
              <a:sym typeface="Arial"/>
            </a:endParaRPr>
          </a:p>
        </p:txBody>
      </p:sp>
      <p:sp>
        <p:nvSpPr>
          <p:cNvPr id="81" name="Google Shape;81;p7"/>
          <p:cNvSpPr/>
          <p:nvPr/>
        </p:nvSpPr>
        <p:spPr>
          <a:xfrm>
            <a:off x="3377627" y="6471875"/>
            <a:ext cx="660797"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Solution</a:t>
            </a:r>
            <a:endParaRPr b="0" i="0" sz="1200" u="none" cap="none" strike="noStrike">
              <a:solidFill>
                <a:schemeClr val="dk1"/>
              </a:solidFill>
              <a:latin typeface="Arial"/>
              <a:ea typeface="Arial"/>
              <a:cs typeface="Arial"/>
              <a:sym typeface="Arial"/>
            </a:endParaRPr>
          </a:p>
        </p:txBody>
      </p:sp>
      <p:sp>
        <p:nvSpPr>
          <p:cNvPr id="82" name="Google Shape;82;p7"/>
          <p:cNvSpPr/>
          <p:nvPr/>
        </p:nvSpPr>
        <p:spPr>
          <a:xfrm>
            <a:off x="4233058" y="6471875"/>
            <a:ext cx="853877"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Evaluation</a:t>
            </a:r>
            <a:endParaRPr b="0" i="0" sz="1200" u="none" cap="none" strike="noStrike">
              <a:solidFill>
                <a:schemeClr val="dk1"/>
              </a:solidFill>
              <a:latin typeface="Arial"/>
              <a:ea typeface="Arial"/>
              <a:cs typeface="Arial"/>
              <a:sym typeface="Arial"/>
            </a:endParaRPr>
          </a:p>
        </p:txBody>
      </p:sp>
      <p:sp>
        <p:nvSpPr>
          <p:cNvPr id="83" name="Google Shape;83;p7"/>
          <p:cNvSpPr/>
          <p:nvPr/>
        </p:nvSpPr>
        <p:spPr>
          <a:xfrm>
            <a:off x="5249389" y="6471875"/>
            <a:ext cx="904610"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Conclusion</a:t>
            </a:r>
            <a:endParaRPr b="0" i="0" sz="1200" u="none" cap="none" strike="noStrike">
              <a:solidFill>
                <a:schemeClr val="dk1"/>
              </a:solidFill>
              <a:latin typeface="Arial"/>
              <a:ea typeface="Arial"/>
              <a:cs typeface="Arial"/>
              <a:sym typeface="Arial"/>
            </a:endParaRPr>
          </a:p>
        </p:txBody>
      </p:sp>
      <p:sp>
        <p:nvSpPr>
          <p:cNvPr id="84" name="Google Shape;84;p7"/>
          <p:cNvSpPr/>
          <p:nvPr/>
        </p:nvSpPr>
        <p:spPr>
          <a:xfrm>
            <a:off x="6307998" y="6471875"/>
            <a:ext cx="965266"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Future work</a:t>
            </a:r>
            <a:endParaRPr b="0" i="0" sz="1200" u="none" cap="none" strike="noStrike">
              <a:solidFill>
                <a:schemeClr val="dk1"/>
              </a:solidFill>
              <a:latin typeface="Arial"/>
              <a:ea typeface="Arial"/>
              <a:cs typeface="Arial"/>
              <a:sym typeface="Arial"/>
            </a:endParaRPr>
          </a:p>
        </p:txBody>
      </p:sp>
      <p:sp>
        <p:nvSpPr>
          <p:cNvPr id="85" name="Google Shape;85;p7"/>
          <p:cNvSpPr/>
          <p:nvPr/>
        </p:nvSpPr>
        <p:spPr>
          <a:xfrm>
            <a:off x="11209680" y="6471875"/>
            <a:ext cx="2202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lang="en-US" sz="1200">
                <a:solidFill>
                  <a:srgbClr val="FFFFFF"/>
                </a:solidFill>
              </a:rPr>
              <a:t>2</a:t>
            </a:r>
            <a:endParaRPr b="0" i="0" sz="1200" u="none" cap="none" strike="noStrike">
              <a:solidFill>
                <a:schemeClr val="dk1"/>
              </a:solidFill>
              <a:latin typeface="Arial"/>
              <a:ea typeface="Arial"/>
              <a:cs typeface="Arial"/>
              <a:sym typeface="Arial"/>
            </a:endParaRPr>
          </a:p>
        </p:txBody>
      </p:sp>
      <p:pic>
        <p:nvPicPr>
          <p:cNvPr id="86" name="Google Shape;86;p7" title="Gemini_Generated_Image_rare2krare2krare.jpeg"/>
          <p:cNvPicPr preferRelativeResize="0"/>
          <p:nvPr/>
        </p:nvPicPr>
        <p:blipFill>
          <a:blip r:embed="rId5">
            <a:alphaModFix/>
          </a:blip>
          <a:stretch>
            <a:fillRect/>
          </a:stretch>
        </p:blipFill>
        <p:spPr>
          <a:xfrm>
            <a:off x="8698400" y="954028"/>
            <a:ext cx="3115499" cy="1699369"/>
          </a:xfrm>
          <a:prstGeom prst="rect">
            <a:avLst/>
          </a:prstGeom>
          <a:noFill/>
          <a:ln>
            <a:noFill/>
          </a:ln>
        </p:spPr>
      </p:pic>
      <p:pic>
        <p:nvPicPr>
          <p:cNvPr id="87" name="Google Shape;87;p7" title="Gemini_Generated_Image_9kly0y9kly0y9kly.jpeg"/>
          <p:cNvPicPr preferRelativeResize="0"/>
          <p:nvPr/>
        </p:nvPicPr>
        <p:blipFill>
          <a:blip r:embed="rId6">
            <a:alphaModFix/>
          </a:blip>
          <a:stretch>
            <a:fillRect/>
          </a:stretch>
        </p:blipFill>
        <p:spPr>
          <a:xfrm>
            <a:off x="7105575" y="1571539"/>
            <a:ext cx="1739732" cy="9489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 name="Shape 92"/>
        <p:cNvGrpSpPr/>
        <p:nvPr/>
      </p:nvGrpSpPr>
      <p:grpSpPr>
        <a:xfrm>
          <a:off x="0" y="0"/>
          <a:ext cx="0" cy="0"/>
          <a:chOff x="0" y="0"/>
          <a:chExt cx="0" cy="0"/>
        </a:xfrm>
      </p:grpSpPr>
      <p:sp>
        <p:nvSpPr>
          <p:cNvPr id="93" name="Google Shape;93;p8"/>
          <p:cNvSpPr/>
          <p:nvPr/>
        </p:nvSpPr>
        <p:spPr>
          <a:xfrm>
            <a:off x="0" y="0"/>
            <a:ext cx="304767" cy="68580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a:off x="1117589" y="533355"/>
            <a:ext cx="762000" cy="50767"/>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txBox="1"/>
          <p:nvPr>
            <p:ph type="title"/>
          </p:nvPr>
        </p:nvSpPr>
        <p:spPr>
          <a:xfrm>
            <a:off x="1117514" y="762000"/>
            <a:ext cx="10569600" cy="99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13D"/>
              </a:buClr>
              <a:buSzPts val="3200"/>
              <a:buFont typeface="Georgia"/>
              <a:buNone/>
            </a:pPr>
            <a:r>
              <a:rPr b="1" lang="en-US" sz="3200">
                <a:solidFill>
                  <a:srgbClr val="14213D"/>
                </a:solidFill>
              </a:rPr>
              <a:t>Why MLLMs are hard to bring to the edge?</a:t>
            </a:r>
            <a:endParaRPr sz="3488"/>
          </a:p>
        </p:txBody>
      </p:sp>
      <p:pic>
        <p:nvPicPr>
          <p:cNvPr descr="A drone fuses visual, acoustic and GPS streams; an on-board MLLM runs out of memory and latency budget, while offloading to a remote server hits a network bottleneck. The gap between the two is the resource gap." id="96" name="Google Shape;96;p8"/>
          <p:cNvPicPr preferRelativeResize="0"/>
          <p:nvPr/>
        </p:nvPicPr>
        <p:blipFill rotWithShape="1">
          <a:blip r:embed="rId3">
            <a:alphaModFix/>
          </a:blip>
          <a:srcRect b="0" l="-65" r="-65" t="0"/>
          <a:stretch/>
        </p:blipFill>
        <p:spPr>
          <a:xfrm>
            <a:off x="404962" y="2256063"/>
            <a:ext cx="5802860" cy="3161112"/>
          </a:xfrm>
          <a:prstGeom prst="rect">
            <a:avLst/>
          </a:prstGeom>
          <a:noFill/>
          <a:ln>
            <a:noFill/>
          </a:ln>
        </p:spPr>
      </p:pic>
      <p:sp>
        <p:nvSpPr>
          <p:cNvPr id="97" name="Google Shape;97;p8"/>
          <p:cNvSpPr/>
          <p:nvPr/>
        </p:nvSpPr>
        <p:spPr>
          <a:xfrm>
            <a:off x="304767" y="6299177"/>
            <a:ext cx="11887178" cy="558767"/>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1117534" y="6471873"/>
            <a:ext cx="1066337"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Introduction</a:t>
            </a:r>
            <a:endParaRPr b="0" i="0" sz="1200" u="none" cap="none" strike="noStrike">
              <a:solidFill>
                <a:schemeClr val="dk1"/>
              </a:solidFill>
              <a:latin typeface="Arial"/>
              <a:ea typeface="Arial"/>
              <a:cs typeface="Arial"/>
              <a:sym typeface="Arial"/>
            </a:endParaRPr>
          </a:p>
        </p:txBody>
      </p:sp>
      <p:sp>
        <p:nvSpPr>
          <p:cNvPr id="99" name="Google Shape;99;p8"/>
          <p:cNvSpPr/>
          <p:nvPr/>
        </p:nvSpPr>
        <p:spPr>
          <a:xfrm>
            <a:off x="2310915" y="6471873"/>
            <a:ext cx="914334"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Framework</a:t>
            </a:r>
            <a:endParaRPr b="0" i="0" sz="1200" u="none" cap="none" strike="noStrike">
              <a:solidFill>
                <a:schemeClr val="dk1"/>
              </a:solidFill>
              <a:latin typeface="Arial"/>
              <a:ea typeface="Arial"/>
              <a:cs typeface="Arial"/>
              <a:sym typeface="Arial"/>
            </a:endParaRPr>
          </a:p>
        </p:txBody>
      </p:sp>
      <p:sp>
        <p:nvSpPr>
          <p:cNvPr id="100" name="Google Shape;100;p8"/>
          <p:cNvSpPr/>
          <p:nvPr/>
        </p:nvSpPr>
        <p:spPr>
          <a:xfrm>
            <a:off x="3377627" y="6471873"/>
            <a:ext cx="660797"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Solution</a:t>
            </a:r>
            <a:endParaRPr b="0" i="0" sz="1200" u="none" cap="none" strike="noStrike">
              <a:solidFill>
                <a:schemeClr val="dk1"/>
              </a:solidFill>
              <a:latin typeface="Arial"/>
              <a:ea typeface="Arial"/>
              <a:cs typeface="Arial"/>
              <a:sym typeface="Arial"/>
            </a:endParaRPr>
          </a:p>
        </p:txBody>
      </p:sp>
      <p:sp>
        <p:nvSpPr>
          <p:cNvPr id="101" name="Google Shape;101;p8"/>
          <p:cNvSpPr/>
          <p:nvPr/>
        </p:nvSpPr>
        <p:spPr>
          <a:xfrm>
            <a:off x="4233058" y="6471873"/>
            <a:ext cx="853877"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Evaluation</a:t>
            </a:r>
            <a:endParaRPr b="0" i="0" sz="1200" u="none" cap="none" strike="noStrike">
              <a:solidFill>
                <a:schemeClr val="dk1"/>
              </a:solidFill>
              <a:latin typeface="Arial"/>
              <a:ea typeface="Arial"/>
              <a:cs typeface="Arial"/>
              <a:sym typeface="Arial"/>
            </a:endParaRPr>
          </a:p>
        </p:txBody>
      </p:sp>
      <p:sp>
        <p:nvSpPr>
          <p:cNvPr id="102" name="Google Shape;102;p8"/>
          <p:cNvSpPr/>
          <p:nvPr/>
        </p:nvSpPr>
        <p:spPr>
          <a:xfrm>
            <a:off x="5249389" y="6471873"/>
            <a:ext cx="904610"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Conclusion</a:t>
            </a:r>
            <a:endParaRPr b="0" i="0" sz="1200" u="none" cap="none" strike="noStrike">
              <a:solidFill>
                <a:schemeClr val="dk1"/>
              </a:solidFill>
              <a:latin typeface="Arial"/>
              <a:ea typeface="Arial"/>
              <a:cs typeface="Arial"/>
              <a:sym typeface="Arial"/>
            </a:endParaRPr>
          </a:p>
        </p:txBody>
      </p:sp>
      <p:sp>
        <p:nvSpPr>
          <p:cNvPr id="103" name="Google Shape;103;p8"/>
          <p:cNvSpPr/>
          <p:nvPr/>
        </p:nvSpPr>
        <p:spPr>
          <a:xfrm>
            <a:off x="6307998" y="6471873"/>
            <a:ext cx="965266"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Future work</a:t>
            </a:r>
            <a:endParaRPr b="0" i="0" sz="1200" u="none" cap="none" strike="noStrike">
              <a:solidFill>
                <a:schemeClr val="dk1"/>
              </a:solidFill>
              <a:latin typeface="Arial"/>
              <a:ea typeface="Arial"/>
              <a:cs typeface="Arial"/>
              <a:sym typeface="Arial"/>
            </a:endParaRPr>
          </a:p>
        </p:txBody>
      </p:sp>
      <p:sp>
        <p:nvSpPr>
          <p:cNvPr id="104" name="Google Shape;104;p8"/>
          <p:cNvSpPr/>
          <p:nvPr/>
        </p:nvSpPr>
        <p:spPr>
          <a:xfrm>
            <a:off x="11219922" y="6471873"/>
            <a:ext cx="2202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lang="en-US" sz="1200">
                <a:solidFill>
                  <a:srgbClr val="FFFFFF"/>
                </a:solidFill>
              </a:rPr>
              <a:t>3</a:t>
            </a:r>
            <a:endParaRPr b="0" i="0" sz="1200" u="none" cap="none" strike="noStrike">
              <a:solidFill>
                <a:schemeClr val="dk1"/>
              </a:solidFill>
              <a:latin typeface="Arial"/>
              <a:ea typeface="Arial"/>
              <a:cs typeface="Arial"/>
              <a:sym typeface="Arial"/>
            </a:endParaRPr>
          </a:p>
        </p:txBody>
      </p:sp>
      <p:sp>
        <p:nvSpPr>
          <p:cNvPr id="105" name="Google Shape;105;p8"/>
          <p:cNvSpPr/>
          <p:nvPr/>
        </p:nvSpPr>
        <p:spPr>
          <a:xfrm>
            <a:off x="6307992" y="1414322"/>
            <a:ext cx="5187900" cy="1575300"/>
          </a:xfrm>
          <a:prstGeom prst="roundRect">
            <a:avLst>
              <a:gd fmla="val 6248" name="adj"/>
            </a:avLst>
          </a:prstGeom>
          <a:solidFill>
            <a:srgbClr val="FFFFFE"/>
          </a:solidFill>
          <a:ln cap="flat" cmpd="sng" w="9525">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ttings" id="106" name="Google Shape;106;p8"/>
          <p:cNvPicPr preferRelativeResize="0"/>
          <p:nvPr/>
        </p:nvPicPr>
        <p:blipFill rotWithShape="1">
          <a:blip r:embed="rId4">
            <a:alphaModFix/>
          </a:blip>
          <a:srcRect b="0" l="0" r="0" t="0"/>
          <a:stretch/>
        </p:blipFill>
        <p:spPr>
          <a:xfrm>
            <a:off x="6536934" y="1617853"/>
            <a:ext cx="279356" cy="279356"/>
          </a:xfrm>
          <a:prstGeom prst="rect">
            <a:avLst/>
          </a:prstGeom>
          <a:noFill/>
          <a:ln>
            <a:noFill/>
          </a:ln>
        </p:spPr>
      </p:pic>
      <p:sp>
        <p:nvSpPr>
          <p:cNvPr id="107" name="Google Shape;107;p8"/>
          <p:cNvSpPr/>
          <p:nvPr/>
        </p:nvSpPr>
        <p:spPr>
          <a:xfrm>
            <a:off x="6917879" y="1627996"/>
            <a:ext cx="27348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700"/>
              <a:buFont typeface="Arial"/>
              <a:buNone/>
            </a:pPr>
            <a:r>
              <a:rPr b="1" i="0" lang="en-US" sz="2000" u="none" cap="none" strike="noStrike">
                <a:solidFill>
                  <a:srgbClr val="14213D"/>
                </a:solidFill>
                <a:latin typeface="Times New Roman"/>
                <a:ea typeface="Times New Roman"/>
                <a:cs typeface="Times New Roman"/>
                <a:sym typeface="Times New Roman"/>
              </a:rPr>
              <a:t>Compute and memory</a:t>
            </a:r>
            <a:endParaRPr i="0" sz="2000" u="none" cap="none" strike="noStrike">
              <a:solidFill>
                <a:srgbClr val="14213D"/>
              </a:solidFill>
              <a:latin typeface="Times New Roman"/>
              <a:ea typeface="Times New Roman"/>
              <a:cs typeface="Times New Roman"/>
              <a:sym typeface="Times New Roman"/>
            </a:endParaRPr>
          </a:p>
        </p:txBody>
      </p:sp>
      <p:sp>
        <p:nvSpPr>
          <p:cNvPr id="108" name="Google Shape;108;p8"/>
          <p:cNvSpPr/>
          <p:nvPr/>
        </p:nvSpPr>
        <p:spPr>
          <a:xfrm>
            <a:off x="6536934" y="1986066"/>
            <a:ext cx="4872000" cy="523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D4656"/>
              </a:buClr>
              <a:buSzPts val="1400"/>
              <a:buFont typeface="Arial"/>
              <a:buNone/>
            </a:pPr>
            <a:r>
              <a:rPr i="0" lang="en-US" sz="1700" u="none" cap="none" strike="noStrike">
                <a:solidFill>
                  <a:srgbClr val="3D4656"/>
                </a:solidFill>
                <a:latin typeface="Times New Roman"/>
                <a:ea typeface="Times New Roman"/>
                <a:cs typeface="Times New Roman"/>
                <a:sym typeface="Times New Roman"/>
              </a:rPr>
              <a:t>High-capacity MLLMs exceed edge resources; compact MLLMs give up reasoning capability.</a:t>
            </a:r>
            <a:endParaRPr i="0" sz="1700" u="none" cap="none" strike="noStrike">
              <a:solidFill>
                <a:srgbClr val="14213D"/>
              </a:solidFill>
              <a:latin typeface="Times New Roman"/>
              <a:ea typeface="Times New Roman"/>
              <a:cs typeface="Times New Roman"/>
              <a:sym typeface="Times New Roman"/>
            </a:endParaRPr>
          </a:p>
        </p:txBody>
      </p:sp>
      <p:sp>
        <p:nvSpPr>
          <p:cNvPr id="109" name="Google Shape;109;p8"/>
          <p:cNvSpPr/>
          <p:nvPr/>
        </p:nvSpPr>
        <p:spPr>
          <a:xfrm>
            <a:off x="6536934" y="2603505"/>
            <a:ext cx="48720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280"/>
              </a:buClr>
              <a:buSzPts val="1200"/>
              <a:buFont typeface="Arial"/>
              <a:buNone/>
            </a:pPr>
            <a:r>
              <a:rPr b="0" i="0" lang="en-US" sz="1200" u="none" cap="none" strike="noStrike">
                <a:solidFill>
                  <a:srgbClr val="6A7280"/>
                </a:solidFill>
                <a:latin typeface="Arial"/>
                <a:ea typeface="Arial"/>
                <a:cs typeface="Arial"/>
                <a:sym typeface="Arial"/>
              </a:rPr>
              <a:t>Our server backbone alone: LLaVA-1.5-7B, 6.6B parameters</a:t>
            </a:r>
            <a:endParaRPr b="0" i="0" sz="1200" u="none" cap="none" strike="noStrike">
              <a:solidFill>
                <a:srgbClr val="14213D"/>
              </a:solidFill>
              <a:latin typeface="Arial"/>
              <a:ea typeface="Arial"/>
              <a:cs typeface="Arial"/>
              <a:sym typeface="Arial"/>
            </a:endParaRPr>
          </a:p>
        </p:txBody>
      </p:sp>
      <p:sp>
        <p:nvSpPr>
          <p:cNvPr id="110" name="Google Shape;110;p8"/>
          <p:cNvSpPr/>
          <p:nvPr/>
        </p:nvSpPr>
        <p:spPr>
          <a:xfrm>
            <a:off x="6307993" y="3048979"/>
            <a:ext cx="5187900" cy="1575300"/>
          </a:xfrm>
          <a:prstGeom prst="roundRect">
            <a:avLst>
              <a:gd fmla="val 6248" name="adj"/>
            </a:avLst>
          </a:prstGeom>
          <a:solidFill>
            <a:srgbClr val="FFFFFE"/>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ctivity" id="111" name="Google Shape;111;p8"/>
          <p:cNvPicPr preferRelativeResize="0"/>
          <p:nvPr/>
        </p:nvPicPr>
        <p:blipFill rotWithShape="1">
          <a:blip r:embed="rId5">
            <a:alphaModFix/>
          </a:blip>
          <a:srcRect b="0" l="0" r="0" t="0"/>
          <a:stretch/>
        </p:blipFill>
        <p:spPr>
          <a:xfrm>
            <a:off x="6536935" y="3252510"/>
            <a:ext cx="279356" cy="279356"/>
          </a:xfrm>
          <a:prstGeom prst="rect">
            <a:avLst/>
          </a:prstGeom>
          <a:noFill/>
          <a:ln>
            <a:noFill/>
          </a:ln>
        </p:spPr>
      </p:pic>
      <p:sp>
        <p:nvSpPr>
          <p:cNvPr id="112" name="Google Shape;112;p8"/>
          <p:cNvSpPr/>
          <p:nvPr/>
        </p:nvSpPr>
        <p:spPr>
          <a:xfrm>
            <a:off x="6917880" y="3262653"/>
            <a:ext cx="22881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700"/>
              <a:buFont typeface="Arial"/>
              <a:buNone/>
            </a:pPr>
            <a:r>
              <a:rPr b="1" i="0" lang="en-US" sz="2000" u="none" cap="none" strike="noStrike">
                <a:solidFill>
                  <a:srgbClr val="14213D"/>
                </a:solidFill>
                <a:latin typeface="Times New Roman"/>
                <a:ea typeface="Times New Roman"/>
                <a:cs typeface="Times New Roman"/>
                <a:sym typeface="Times New Roman"/>
              </a:rPr>
              <a:t>Limited bandwidth</a:t>
            </a:r>
            <a:endParaRPr i="0" sz="2000" u="none" cap="none" strike="noStrike">
              <a:solidFill>
                <a:srgbClr val="14213D"/>
              </a:solidFill>
              <a:latin typeface="Times New Roman"/>
              <a:ea typeface="Times New Roman"/>
              <a:cs typeface="Times New Roman"/>
              <a:sym typeface="Times New Roman"/>
            </a:endParaRPr>
          </a:p>
        </p:txBody>
      </p:sp>
      <p:sp>
        <p:nvSpPr>
          <p:cNvPr id="113" name="Google Shape;113;p8"/>
          <p:cNvSpPr/>
          <p:nvPr/>
        </p:nvSpPr>
        <p:spPr>
          <a:xfrm>
            <a:off x="6536935" y="3620723"/>
            <a:ext cx="4872000" cy="523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D4656"/>
              </a:buClr>
              <a:buSzPts val="1400"/>
              <a:buFont typeface="Arial"/>
              <a:buNone/>
            </a:pPr>
            <a:r>
              <a:rPr i="0" lang="en-US" sz="1700" u="none" cap="none" strike="noStrike">
                <a:solidFill>
                  <a:srgbClr val="3D4656"/>
                </a:solidFill>
                <a:latin typeface="Times New Roman"/>
                <a:ea typeface="Times New Roman"/>
                <a:cs typeface="Times New Roman"/>
                <a:sym typeface="Times New Roman"/>
              </a:rPr>
              <a:t>Offloading over slow wireless links makes transmission the bottleneck.</a:t>
            </a:r>
            <a:endParaRPr i="0" sz="1700" u="none" cap="none" strike="noStrike">
              <a:solidFill>
                <a:srgbClr val="14213D"/>
              </a:solidFill>
              <a:latin typeface="Times New Roman"/>
              <a:ea typeface="Times New Roman"/>
              <a:cs typeface="Times New Roman"/>
              <a:sym typeface="Times New Roman"/>
            </a:endParaRPr>
          </a:p>
        </p:txBody>
      </p:sp>
      <p:sp>
        <p:nvSpPr>
          <p:cNvPr id="114" name="Google Shape;114;p8"/>
          <p:cNvSpPr/>
          <p:nvPr/>
        </p:nvSpPr>
        <p:spPr>
          <a:xfrm>
            <a:off x="6536935" y="4227919"/>
            <a:ext cx="48720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280"/>
              </a:buClr>
              <a:buSzPts val="1200"/>
              <a:buFont typeface="Arial"/>
              <a:buNone/>
            </a:pPr>
            <a:r>
              <a:rPr b="0" i="0" lang="en-US" sz="1200" u="none" cap="none" strike="noStrike">
                <a:solidFill>
                  <a:srgbClr val="6A7280"/>
                </a:solidFill>
                <a:latin typeface="Arial"/>
                <a:ea typeface="Arial"/>
                <a:cs typeface="Arial"/>
                <a:sym typeface="Arial"/>
              </a:rPr>
              <a:t>Uncompressed: 655 of 903 ms is transmission at 0.1 Mbps</a:t>
            </a:r>
            <a:endParaRPr b="0" i="0" sz="1200" u="none" cap="none" strike="noStrike">
              <a:solidFill>
                <a:srgbClr val="14213D"/>
              </a:solidFill>
              <a:latin typeface="Arial"/>
              <a:ea typeface="Arial"/>
              <a:cs typeface="Arial"/>
              <a:sym typeface="Arial"/>
            </a:endParaRPr>
          </a:p>
        </p:txBody>
      </p:sp>
      <p:sp>
        <p:nvSpPr>
          <p:cNvPr id="115" name="Google Shape;115;p8"/>
          <p:cNvSpPr txBox="1"/>
          <p:nvPr/>
        </p:nvSpPr>
        <p:spPr>
          <a:xfrm>
            <a:off x="9244907" y="1180430"/>
            <a:ext cx="3000000" cy="4926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US" sz="2000">
                <a:solidFill>
                  <a:schemeClr val="lt1"/>
                </a:solidFill>
                <a:highlight>
                  <a:srgbClr val="A64D79"/>
                </a:highlight>
                <a:latin typeface="Times New Roman"/>
                <a:ea typeface="Times New Roman"/>
                <a:cs typeface="Times New Roman"/>
                <a:sym typeface="Times New Roman"/>
              </a:rPr>
              <a:t>On-board MLLM</a:t>
            </a:r>
            <a:endParaRPr>
              <a:solidFill>
                <a:schemeClr val="lt1"/>
              </a:solidFill>
              <a:highlight>
                <a:srgbClr val="A64D79"/>
              </a:highlight>
            </a:endParaRPr>
          </a:p>
        </p:txBody>
      </p:sp>
      <p:sp>
        <p:nvSpPr>
          <p:cNvPr id="116" name="Google Shape;116;p8"/>
          <p:cNvSpPr/>
          <p:nvPr/>
        </p:nvSpPr>
        <p:spPr>
          <a:xfrm>
            <a:off x="6319836" y="4680877"/>
            <a:ext cx="5187900" cy="1575300"/>
          </a:xfrm>
          <a:prstGeom prst="roundRect">
            <a:avLst>
              <a:gd fmla="val 6248" name="adj"/>
            </a:avLst>
          </a:prstGeom>
          <a:solidFill>
            <a:srgbClr val="FFFFFE"/>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ck" id="117" name="Google Shape;117;p8"/>
          <p:cNvPicPr preferRelativeResize="0"/>
          <p:nvPr/>
        </p:nvPicPr>
        <p:blipFill rotWithShape="1">
          <a:blip r:embed="rId6">
            <a:alphaModFix/>
          </a:blip>
          <a:srcRect b="0" l="0" r="0" t="0"/>
          <a:stretch/>
        </p:blipFill>
        <p:spPr>
          <a:xfrm>
            <a:off x="6548778" y="4884407"/>
            <a:ext cx="279356" cy="279356"/>
          </a:xfrm>
          <a:prstGeom prst="rect">
            <a:avLst/>
          </a:prstGeom>
          <a:noFill/>
          <a:ln>
            <a:noFill/>
          </a:ln>
        </p:spPr>
      </p:pic>
      <p:sp>
        <p:nvSpPr>
          <p:cNvPr id="118" name="Google Shape;118;p8"/>
          <p:cNvSpPr/>
          <p:nvPr/>
        </p:nvSpPr>
        <p:spPr>
          <a:xfrm>
            <a:off x="6929723" y="4894549"/>
            <a:ext cx="17853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700"/>
              <a:buFont typeface="Arial"/>
              <a:buNone/>
            </a:pPr>
            <a:r>
              <a:rPr b="1" i="0" lang="en-US" sz="2000" u="none" cap="none" strike="noStrike">
                <a:solidFill>
                  <a:srgbClr val="14213D"/>
                </a:solidFill>
                <a:latin typeface="Times New Roman"/>
                <a:ea typeface="Times New Roman"/>
                <a:cs typeface="Times New Roman"/>
                <a:sym typeface="Times New Roman"/>
              </a:rPr>
              <a:t>Data exposure</a:t>
            </a:r>
            <a:endParaRPr i="0" sz="2000" u="none" cap="none" strike="noStrike">
              <a:solidFill>
                <a:srgbClr val="14213D"/>
              </a:solidFill>
              <a:latin typeface="Times New Roman"/>
              <a:ea typeface="Times New Roman"/>
              <a:cs typeface="Times New Roman"/>
              <a:sym typeface="Times New Roman"/>
            </a:endParaRPr>
          </a:p>
        </p:txBody>
      </p:sp>
      <p:sp>
        <p:nvSpPr>
          <p:cNvPr id="119" name="Google Shape;119;p8"/>
          <p:cNvSpPr/>
          <p:nvPr/>
        </p:nvSpPr>
        <p:spPr>
          <a:xfrm>
            <a:off x="6548778" y="5252618"/>
            <a:ext cx="4872000" cy="523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i="0" lang="en-US" sz="1700" u="none" cap="none" strike="noStrike">
                <a:solidFill>
                  <a:srgbClr val="3D4656"/>
                </a:solidFill>
                <a:latin typeface="Times New Roman"/>
                <a:ea typeface="Times New Roman"/>
                <a:cs typeface="Times New Roman"/>
                <a:sym typeface="Times New Roman"/>
              </a:rPr>
              <a:t>Sending raw sensor observations exposes them over the network.</a:t>
            </a:r>
            <a:endParaRPr i="0" sz="1700" u="none" cap="none" strike="noStrike">
              <a:solidFill>
                <a:srgbClr val="14213D"/>
              </a:solidFill>
              <a:latin typeface="Times New Roman"/>
              <a:ea typeface="Times New Roman"/>
              <a:cs typeface="Times New Roman"/>
              <a:sym typeface="Times New Roman"/>
            </a:endParaRPr>
          </a:p>
        </p:txBody>
      </p:sp>
      <p:sp>
        <p:nvSpPr>
          <p:cNvPr id="120" name="Google Shape;120;p8"/>
          <p:cNvSpPr/>
          <p:nvPr/>
        </p:nvSpPr>
        <p:spPr>
          <a:xfrm>
            <a:off x="6548778" y="5839332"/>
            <a:ext cx="48720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280"/>
              </a:buClr>
              <a:buSzPts val="1200"/>
              <a:buFont typeface="Arial"/>
              <a:buNone/>
            </a:pPr>
            <a:r>
              <a:rPr b="0" i="0" lang="en-US" sz="1200" u="none" cap="none" strike="noStrike">
                <a:solidFill>
                  <a:srgbClr val="6A7280"/>
                </a:solidFill>
                <a:latin typeface="Arial"/>
                <a:ea typeface="Arial"/>
                <a:cs typeface="Arial"/>
                <a:sym typeface="Arial"/>
              </a:rPr>
              <a:t>Raw data should ideally stay on the device</a:t>
            </a:r>
            <a:endParaRPr b="0" i="0" sz="1200" u="none" cap="none" strike="noStrike">
              <a:solidFill>
                <a:srgbClr val="14213D"/>
              </a:solidFill>
              <a:latin typeface="Arial"/>
              <a:ea typeface="Arial"/>
              <a:cs typeface="Arial"/>
              <a:sym typeface="Arial"/>
            </a:endParaRPr>
          </a:p>
        </p:txBody>
      </p:sp>
      <p:sp>
        <p:nvSpPr>
          <p:cNvPr id="121" name="Google Shape;121;p8"/>
          <p:cNvSpPr txBox="1"/>
          <p:nvPr/>
        </p:nvSpPr>
        <p:spPr>
          <a:xfrm>
            <a:off x="9316986" y="4451976"/>
            <a:ext cx="2085900" cy="4926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US" sz="2000">
                <a:solidFill>
                  <a:schemeClr val="lt1"/>
                </a:solidFill>
                <a:highlight>
                  <a:srgbClr val="3C78D8"/>
                </a:highlight>
                <a:latin typeface="Times New Roman"/>
                <a:ea typeface="Times New Roman"/>
                <a:cs typeface="Times New Roman"/>
                <a:sym typeface="Times New Roman"/>
              </a:rPr>
              <a:t>Offload raw data</a:t>
            </a:r>
            <a:endParaRPr>
              <a:solidFill>
                <a:schemeClr val="lt1"/>
              </a:solidFill>
              <a:highlight>
                <a:srgbClr val="3C78D8"/>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6" name="Shape 126"/>
        <p:cNvGrpSpPr/>
        <p:nvPr/>
      </p:nvGrpSpPr>
      <p:grpSpPr>
        <a:xfrm>
          <a:off x="0" y="0"/>
          <a:ext cx="0" cy="0"/>
          <a:chOff x="0" y="0"/>
          <a:chExt cx="0" cy="0"/>
        </a:xfrm>
      </p:grpSpPr>
      <p:sp>
        <p:nvSpPr>
          <p:cNvPr id="127" name="Google Shape;127;p9"/>
          <p:cNvSpPr txBox="1"/>
          <p:nvPr>
            <p:ph type="title"/>
          </p:nvPr>
        </p:nvSpPr>
        <p:spPr>
          <a:xfrm>
            <a:off x="806667" y="854331"/>
            <a:ext cx="10883400" cy="4725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4213D"/>
              </a:buClr>
              <a:buSzPts val="2880"/>
              <a:buFont typeface="Georgia"/>
              <a:buNone/>
            </a:pPr>
            <a:r>
              <a:rPr b="1" i="0" lang="en-US" sz="3200">
                <a:solidFill>
                  <a:srgbClr val="14213D"/>
                </a:solidFill>
                <a:latin typeface="Georgia"/>
                <a:ea typeface="Georgia"/>
                <a:cs typeface="Georgia"/>
                <a:sym typeface="Georgia"/>
              </a:rPr>
              <a:t>What should cross the edge–server boundary?</a:t>
            </a:r>
            <a:endParaRPr sz="3200"/>
          </a:p>
        </p:txBody>
      </p:sp>
      <p:sp>
        <p:nvSpPr>
          <p:cNvPr id="128" name="Google Shape;128;p9"/>
          <p:cNvSpPr/>
          <p:nvPr/>
        </p:nvSpPr>
        <p:spPr>
          <a:xfrm>
            <a:off x="812767" y="1676355"/>
            <a:ext cx="10883400" cy="292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D4656"/>
              </a:buClr>
              <a:buSzPts val="1500"/>
              <a:buFont typeface="Arial"/>
              <a:buNone/>
            </a:pPr>
            <a:r>
              <a:rPr i="0" lang="en-US" sz="1500" u="none" cap="none" strike="noStrike">
                <a:solidFill>
                  <a:srgbClr val="3D4656"/>
                </a:solidFill>
                <a:latin typeface="Times New Roman"/>
                <a:ea typeface="Times New Roman"/>
                <a:cs typeface="Times New Roman"/>
                <a:sym typeface="Times New Roman"/>
              </a:rPr>
              <a:t>The MLLM must live on a server, so something has to cross the link. Each existing answer pays a cost.</a:t>
            </a:r>
            <a:endParaRPr i="0" sz="1500" u="none" cap="none" strike="noStrike">
              <a:solidFill>
                <a:schemeClr val="dk1"/>
              </a:solidFill>
              <a:latin typeface="Times New Roman"/>
              <a:ea typeface="Times New Roman"/>
              <a:cs typeface="Times New Roman"/>
              <a:sym typeface="Times New Roman"/>
            </a:endParaRPr>
          </a:p>
        </p:txBody>
      </p:sp>
      <p:sp>
        <p:nvSpPr>
          <p:cNvPr id="129" name="Google Shape;129;p9"/>
          <p:cNvSpPr/>
          <p:nvPr/>
        </p:nvSpPr>
        <p:spPr>
          <a:xfrm>
            <a:off x="815942" y="2200208"/>
            <a:ext cx="2484600" cy="3638700"/>
          </a:xfrm>
          <a:prstGeom prst="roundRect">
            <a:avLst>
              <a:gd fmla="val 3961" name="adj"/>
            </a:avLst>
          </a:prstGeom>
          <a:solidFill>
            <a:srgbClr val="FFFFFE"/>
          </a:solidFill>
          <a:ln cap="flat" cmpd="sng" w="9525">
            <a:solidFill>
              <a:srgbClr val="DCD9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a:off x="1070295" y="2454562"/>
            <a:ext cx="20352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280"/>
              </a:buClr>
              <a:buSzPts val="1200"/>
              <a:buFont typeface="Arial"/>
              <a:buNone/>
            </a:pPr>
            <a:r>
              <a:rPr b="1" i="0" lang="en-US" sz="1200" u="none" cap="none" strike="noStrike">
                <a:solidFill>
                  <a:srgbClr val="6A7280"/>
                </a:solidFill>
                <a:latin typeface="Arial"/>
                <a:ea typeface="Arial"/>
                <a:cs typeface="Arial"/>
                <a:sym typeface="Arial"/>
              </a:rPr>
              <a:t>OFFLOADING</a:t>
            </a:r>
            <a:endParaRPr b="0" i="0" sz="1200" u="none" cap="none" strike="noStrike">
              <a:solidFill>
                <a:schemeClr val="dk1"/>
              </a:solidFill>
              <a:latin typeface="Arial"/>
              <a:ea typeface="Arial"/>
              <a:cs typeface="Arial"/>
              <a:sym typeface="Arial"/>
            </a:endParaRPr>
          </a:p>
        </p:txBody>
      </p:sp>
      <p:sp>
        <p:nvSpPr>
          <p:cNvPr id="131" name="Google Shape;131;p9"/>
          <p:cNvSpPr/>
          <p:nvPr/>
        </p:nvSpPr>
        <p:spPr>
          <a:xfrm>
            <a:off x="1070295" y="2794936"/>
            <a:ext cx="20352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800"/>
              <a:buFont typeface="Arial"/>
              <a:buNone/>
            </a:pPr>
            <a:r>
              <a:rPr b="1" i="0" lang="en-US" sz="1800" u="none" cap="none" strike="noStrike">
                <a:solidFill>
                  <a:srgbClr val="14213D"/>
                </a:solidFill>
                <a:latin typeface="Times New Roman"/>
                <a:ea typeface="Times New Roman"/>
                <a:cs typeface="Times New Roman"/>
                <a:sym typeface="Times New Roman"/>
              </a:rPr>
              <a:t>Raw inputs</a:t>
            </a:r>
            <a:endParaRPr i="0" sz="1800" u="none" cap="none" strike="noStrike">
              <a:solidFill>
                <a:schemeClr val="dk1"/>
              </a:solidFill>
              <a:latin typeface="Times New Roman"/>
              <a:ea typeface="Times New Roman"/>
              <a:cs typeface="Times New Roman"/>
              <a:sym typeface="Times New Roman"/>
            </a:endParaRPr>
          </a:p>
        </p:txBody>
      </p:sp>
      <p:sp>
        <p:nvSpPr>
          <p:cNvPr id="132" name="Google Shape;132;p9"/>
          <p:cNvSpPr/>
          <p:nvPr/>
        </p:nvSpPr>
        <p:spPr>
          <a:xfrm>
            <a:off x="1070295" y="3196222"/>
            <a:ext cx="2035200" cy="52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D4656"/>
              </a:buClr>
              <a:buSzPts val="1400"/>
              <a:buFont typeface="Arial"/>
              <a:buNone/>
            </a:pPr>
            <a:r>
              <a:rPr i="0" lang="en-US" sz="1400" u="none" cap="none" strike="noStrike">
                <a:solidFill>
                  <a:srgbClr val="3D4656"/>
                </a:solidFill>
                <a:latin typeface="Georgia"/>
                <a:ea typeface="Georgia"/>
                <a:cs typeface="Georgia"/>
                <a:sym typeface="Georgia"/>
              </a:rPr>
              <a:t>Every pixel and sample goes over the link.</a:t>
            </a:r>
            <a:endParaRPr i="0" sz="1400" u="none" cap="none" strike="noStrike">
              <a:solidFill>
                <a:schemeClr val="dk1"/>
              </a:solidFill>
              <a:latin typeface="Georgia"/>
              <a:ea typeface="Georgia"/>
              <a:cs typeface="Georgia"/>
              <a:sym typeface="Georgia"/>
            </a:endParaRPr>
          </a:p>
        </p:txBody>
      </p:sp>
      <p:sp>
        <p:nvSpPr>
          <p:cNvPr id="133" name="Google Shape;133;p9"/>
          <p:cNvSpPr/>
          <p:nvPr/>
        </p:nvSpPr>
        <p:spPr>
          <a:xfrm>
            <a:off x="1070295" y="3821078"/>
            <a:ext cx="2035200" cy="52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4541B"/>
              </a:buClr>
              <a:buSzPts val="1400"/>
              <a:buFont typeface="Arial"/>
              <a:buNone/>
            </a:pPr>
            <a:r>
              <a:rPr b="1" i="0" lang="en-US" sz="1400" u="none" cap="none" strike="noStrike">
                <a:solidFill>
                  <a:srgbClr val="B4541B"/>
                </a:solidFill>
                <a:latin typeface="Arial"/>
                <a:ea typeface="Arial"/>
                <a:cs typeface="Arial"/>
                <a:sym typeface="Arial"/>
              </a:rPr>
              <a:t>Cost:</a:t>
            </a:r>
            <a:r>
              <a:rPr b="0" i="0" lang="en-US" sz="1400" u="none" cap="none" strike="noStrike">
                <a:solidFill>
                  <a:srgbClr val="B4541B"/>
                </a:solidFill>
                <a:latin typeface="Arial"/>
                <a:ea typeface="Arial"/>
                <a:cs typeface="Arial"/>
                <a:sym typeface="Arial"/>
              </a:rPr>
              <a:t> bandwidth; raw data leaves the device.</a:t>
            </a:r>
            <a:endParaRPr b="0" i="0" sz="1400" u="none" cap="none" strike="noStrike">
              <a:solidFill>
                <a:schemeClr val="dk1"/>
              </a:solidFill>
              <a:latin typeface="Arial"/>
              <a:ea typeface="Arial"/>
              <a:cs typeface="Arial"/>
              <a:sym typeface="Arial"/>
            </a:endParaRPr>
          </a:p>
        </p:txBody>
      </p:sp>
      <p:sp>
        <p:nvSpPr>
          <p:cNvPr id="134" name="Google Shape;134;p9"/>
          <p:cNvSpPr/>
          <p:nvPr/>
        </p:nvSpPr>
        <p:spPr>
          <a:xfrm>
            <a:off x="3510117" y="2200208"/>
            <a:ext cx="2484600" cy="3638700"/>
          </a:xfrm>
          <a:prstGeom prst="roundRect">
            <a:avLst>
              <a:gd fmla="val 3961" name="adj"/>
            </a:avLst>
          </a:prstGeom>
          <a:solidFill>
            <a:srgbClr val="FFFFFE"/>
          </a:solidFill>
          <a:ln cap="flat" cmpd="sng" w="9525">
            <a:solidFill>
              <a:srgbClr val="DCD9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9"/>
          <p:cNvSpPr/>
          <p:nvPr/>
        </p:nvSpPr>
        <p:spPr>
          <a:xfrm>
            <a:off x="3764470" y="2454562"/>
            <a:ext cx="20352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280"/>
              </a:buClr>
              <a:buSzPts val="1200"/>
              <a:buFont typeface="Arial"/>
              <a:buNone/>
            </a:pPr>
            <a:r>
              <a:rPr b="1" i="0" lang="en-US" sz="1200" u="none" cap="none" strike="noStrike">
                <a:solidFill>
                  <a:srgbClr val="6A7280"/>
                </a:solidFill>
                <a:latin typeface="Arial"/>
                <a:ea typeface="Arial"/>
                <a:cs typeface="Arial"/>
                <a:sym typeface="Arial"/>
              </a:rPr>
              <a:t>SPLIT COMPUTING</a:t>
            </a:r>
            <a:endParaRPr b="0" i="0" sz="1200" u="none" cap="none" strike="noStrike">
              <a:solidFill>
                <a:schemeClr val="dk1"/>
              </a:solidFill>
              <a:latin typeface="Arial"/>
              <a:ea typeface="Arial"/>
              <a:cs typeface="Arial"/>
              <a:sym typeface="Arial"/>
            </a:endParaRPr>
          </a:p>
        </p:txBody>
      </p:sp>
      <p:sp>
        <p:nvSpPr>
          <p:cNvPr id="136" name="Google Shape;136;p9"/>
          <p:cNvSpPr/>
          <p:nvPr/>
        </p:nvSpPr>
        <p:spPr>
          <a:xfrm>
            <a:off x="3764470" y="2794936"/>
            <a:ext cx="22272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800"/>
              <a:buFont typeface="Arial"/>
              <a:buNone/>
            </a:pPr>
            <a:r>
              <a:rPr b="1" i="0" lang="en-US" sz="1800" u="none" cap="none" strike="noStrike">
                <a:solidFill>
                  <a:srgbClr val="14213D"/>
                </a:solidFill>
                <a:latin typeface="Times New Roman"/>
                <a:ea typeface="Times New Roman"/>
                <a:cs typeface="Times New Roman"/>
                <a:sym typeface="Times New Roman"/>
              </a:rPr>
              <a:t>Model activations</a:t>
            </a:r>
            <a:endParaRPr i="0" sz="1800" u="none" cap="none" strike="noStrike">
              <a:solidFill>
                <a:schemeClr val="dk1"/>
              </a:solidFill>
              <a:latin typeface="Times New Roman"/>
              <a:ea typeface="Times New Roman"/>
              <a:cs typeface="Times New Roman"/>
              <a:sym typeface="Times New Roman"/>
            </a:endParaRPr>
          </a:p>
        </p:txBody>
      </p:sp>
      <p:sp>
        <p:nvSpPr>
          <p:cNvPr id="137" name="Google Shape;137;p9"/>
          <p:cNvSpPr/>
          <p:nvPr/>
        </p:nvSpPr>
        <p:spPr>
          <a:xfrm>
            <a:off x="3764470" y="3196222"/>
            <a:ext cx="2035200" cy="52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D4656"/>
              </a:buClr>
              <a:buSzPts val="1400"/>
              <a:buFont typeface="Arial"/>
              <a:buNone/>
            </a:pPr>
            <a:r>
              <a:rPr i="0" lang="en-US" sz="1400" u="none" cap="none" strike="noStrike">
                <a:solidFill>
                  <a:srgbClr val="3D4656"/>
                </a:solidFill>
                <a:latin typeface="Georgia"/>
                <a:ea typeface="Georgia"/>
                <a:cs typeface="Georgia"/>
                <a:sym typeface="Georgia"/>
              </a:rPr>
              <a:t>The network is cut at a layer; its tensors cross.</a:t>
            </a:r>
            <a:endParaRPr i="0" sz="1400" u="none" cap="none" strike="noStrike">
              <a:solidFill>
                <a:schemeClr val="dk1"/>
              </a:solidFill>
              <a:latin typeface="Georgia"/>
              <a:ea typeface="Georgia"/>
              <a:cs typeface="Georgia"/>
              <a:sym typeface="Georgia"/>
            </a:endParaRPr>
          </a:p>
        </p:txBody>
      </p:sp>
      <p:sp>
        <p:nvSpPr>
          <p:cNvPr id="138" name="Google Shape;138;p9"/>
          <p:cNvSpPr/>
          <p:nvPr/>
        </p:nvSpPr>
        <p:spPr>
          <a:xfrm>
            <a:off x="3764470" y="3821078"/>
            <a:ext cx="2035200" cy="772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4541B"/>
              </a:buClr>
              <a:buSzPts val="1400"/>
              <a:buFont typeface="Arial"/>
              <a:buNone/>
            </a:pPr>
            <a:r>
              <a:rPr b="1" i="0" lang="en-US" sz="1400" u="none" cap="none" strike="noStrike">
                <a:solidFill>
                  <a:srgbClr val="B4541B"/>
                </a:solidFill>
                <a:latin typeface="Arial"/>
                <a:ea typeface="Arial"/>
                <a:cs typeface="Arial"/>
                <a:sym typeface="Arial"/>
              </a:rPr>
              <a:t>Cost:</a:t>
            </a:r>
            <a:r>
              <a:rPr b="0" i="0" lang="en-US" sz="1400" u="none" cap="none" strike="noStrike">
                <a:solidFill>
                  <a:srgbClr val="B4541B"/>
                </a:solidFill>
                <a:latin typeface="Arial"/>
                <a:ea typeface="Arial"/>
                <a:cs typeface="Arial"/>
                <a:sym typeface="Arial"/>
              </a:rPr>
              <a:t> tied to one model’s internals; frequent exchanges.</a:t>
            </a:r>
            <a:endParaRPr b="0" i="0" sz="1400" u="none" cap="none" strike="noStrike">
              <a:solidFill>
                <a:schemeClr val="dk1"/>
              </a:solidFill>
              <a:latin typeface="Arial"/>
              <a:ea typeface="Arial"/>
              <a:cs typeface="Arial"/>
              <a:sym typeface="Arial"/>
            </a:endParaRPr>
          </a:p>
        </p:txBody>
      </p:sp>
      <p:sp>
        <p:nvSpPr>
          <p:cNvPr id="139" name="Google Shape;139;p9"/>
          <p:cNvSpPr/>
          <p:nvPr/>
        </p:nvSpPr>
        <p:spPr>
          <a:xfrm>
            <a:off x="6204292" y="2200208"/>
            <a:ext cx="2484600" cy="3638700"/>
          </a:xfrm>
          <a:prstGeom prst="roundRect">
            <a:avLst>
              <a:gd fmla="val 3961" name="adj"/>
            </a:avLst>
          </a:prstGeom>
          <a:solidFill>
            <a:srgbClr val="FFFFFE"/>
          </a:solidFill>
          <a:ln cap="flat" cmpd="sng" w="9525">
            <a:solidFill>
              <a:srgbClr val="DCD9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9"/>
          <p:cNvSpPr/>
          <p:nvPr/>
        </p:nvSpPr>
        <p:spPr>
          <a:xfrm>
            <a:off x="6458645" y="2454562"/>
            <a:ext cx="20352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280"/>
              </a:buClr>
              <a:buSzPts val="1200"/>
              <a:buFont typeface="Arial"/>
              <a:buNone/>
            </a:pPr>
            <a:r>
              <a:rPr b="1" i="0" lang="en-US" sz="1200" u="none" cap="none" strike="noStrike">
                <a:solidFill>
                  <a:srgbClr val="6A7280"/>
                </a:solidFill>
                <a:latin typeface="Arial"/>
                <a:ea typeface="Arial"/>
                <a:cs typeface="Arial"/>
                <a:sym typeface="Arial"/>
              </a:rPr>
              <a:t>FEATURE COMPRESSION</a:t>
            </a:r>
            <a:endParaRPr b="0" i="0" sz="1200" u="none" cap="none" strike="noStrike">
              <a:solidFill>
                <a:schemeClr val="dk1"/>
              </a:solidFill>
              <a:latin typeface="Arial"/>
              <a:ea typeface="Arial"/>
              <a:cs typeface="Arial"/>
              <a:sym typeface="Arial"/>
            </a:endParaRPr>
          </a:p>
        </p:txBody>
      </p:sp>
      <p:sp>
        <p:nvSpPr>
          <p:cNvPr id="141" name="Google Shape;141;p9"/>
          <p:cNvSpPr/>
          <p:nvPr/>
        </p:nvSpPr>
        <p:spPr>
          <a:xfrm>
            <a:off x="6458645" y="2794936"/>
            <a:ext cx="2035200" cy="573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800"/>
              <a:buFont typeface="Arial"/>
              <a:buNone/>
            </a:pPr>
            <a:r>
              <a:rPr b="1" i="0" lang="en-US" sz="1800" u="none" cap="none" strike="noStrike">
                <a:solidFill>
                  <a:srgbClr val="14213D"/>
                </a:solidFill>
                <a:latin typeface="Times New Roman"/>
                <a:ea typeface="Times New Roman"/>
                <a:cs typeface="Times New Roman"/>
                <a:sym typeface="Times New Roman"/>
              </a:rPr>
              <a:t>Per-modality features</a:t>
            </a:r>
            <a:endParaRPr i="0" sz="1800" u="none" cap="none" strike="noStrike">
              <a:solidFill>
                <a:schemeClr val="dk1"/>
              </a:solidFill>
              <a:latin typeface="Times New Roman"/>
              <a:ea typeface="Times New Roman"/>
              <a:cs typeface="Times New Roman"/>
              <a:sym typeface="Times New Roman"/>
            </a:endParaRPr>
          </a:p>
        </p:txBody>
      </p:sp>
      <p:sp>
        <p:nvSpPr>
          <p:cNvPr id="142" name="Google Shape;142;p9"/>
          <p:cNvSpPr/>
          <p:nvPr/>
        </p:nvSpPr>
        <p:spPr>
          <a:xfrm>
            <a:off x="6458645" y="3470506"/>
            <a:ext cx="2035200" cy="772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D4656"/>
              </a:buClr>
              <a:buSzPts val="1400"/>
              <a:buFont typeface="Arial"/>
              <a:buNone/>
            </a:pPr>
            <a:r>
              <a:rPr i="0" lang="en-US" sz="1400" u="none" cap="none" strike="noStrike">
                <a:solidFill>
                  <a:srgbClr val="3D4656"/>
                </a:solidFill>
                <a:latin typeface="Georgia"/>
                <a:ea typeface="Georgia"/>
                <a:cs typeface="Georgia"/>
                <a:sym typeface="Georgia"/>
              </a:rPr>
              <a:t>Each modality compressed alone (e.g. TOFC).</a:t>
            </a:r>
            <a:endParaRPr i="0" sz="1400" u="none" cap="none" strike="noStrike">
              <a:solidFill>
                <a:schemeClr val="dk1"/>
              </a:solidFill>
              <a:latin typeface="Georgia"/>
              <a:ea typeface="Georgia"/>
              <a:cs typeface="Georgia"/>
              <a:sym typeface="Georgia"/>
            </a:endParaRPr>
          </a:p>
        </p:txBody>
      </p:sp>
      <p:sp>
        <p:nvSpPr>
          <p:cNvPr id="143" name="Google Shape;143;p9"/>
          <p:cNvSpPr/>
          <p:nvPr/>
        </p:nvSpPr>
        <p:spPr>
          <a:xfrm>
            <a:off x="6458645" y="4344293"/>
            <a:ext cx="2035200" cy="52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4541B"/>
              </a:buClr>
              <a:buSzPts val="1400"/>
              <a:buFont typeface="Arial"/>
              <a:buNone/>
            </a:pPr>
            <a:r>
              <a:rPr b="1" i="0" lang="en-US" sz="1400" u="none" cap="none" strike="noStrike">
                <a:solidFill>
                  <a:srgbClr val="B4541B"/>
                </a:solidFill>
                <a:latin typeface="Arial"/>
                <a:ea typeface="Arial"/>
                <a:cs typeface="Arial"/>
                <a:sym typeface="Arial"/>
              </a:rPr>
              <a:t>Cost:</a:t>
            </a:r>
            <a:r>
              <a:rPr b="0" i="0" lang="en-US" sz="1400" u="none" cap="none" strike="noStrike">
                <a:solidFill>
                  <a:srgbClr val="B4541B"/>
                </a:solidFill>
                <a:latin typeface="Arial"/>
                <a:ea typeface="Arial"/>
                <a:cs typeface="Arial"/>
                <a:sym typeface="Arial"/>
              </a:rPr>
              <a:t> fusion happens only after transmission.</a:t>
            </a:r>
            <a:endParaRPr b="0" i="0" sz="1400" u="none" cap="none" strike="noStrike">
              <a:solidFill>
                <a:schemeClr val="dk1"/>
              </a:solidFill>
              <a:latin typeface="Arial"/>
              <a:ea typeface="Arial"/>
              <a:cs typeface="Arial"/>
              <a:sym typeface="Arial"/>
            </a:endParaRPr>
          </a:p>
        </p:txBody>
      </p:sp>
      <p:sp>
        <p:nvSpPr>
          <p:cNvPr id="144" name="Google Shape;144;p9"/>
          <p:cNvSpPr/>
          <p:nvPr/>
        </p:nvSpPr>
        <p:spPr>
          <a:xfrm>
            <a:off x="8895292" y="2197033"/>
            <a:ext cx="2484000" cy="3645000"/>
          </a:xfrm>
          <a:prstGeom prst="roundRect">
            <a:avLst>
              <a:gd fmla="val 4090" name="adj"/>
            </a:avLst>
          </a:prstGeom>
          <a:solidFill>
            <a:srgbClr val="1421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9"/>
          <p:cNvSpPr/>
          <p:nvPr/>
        </p:nvSpPr>
        <p:spPr>
          <a:xfrm>
            <a:off x="9149292" y="2451033"/>
            <a:ext cx="20352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955E"/>
              </a:buClr>
              <a:buSzPts val="1200"/>
              <a:buFont typeface="Arial"/>
              <a:buNone/>
            </a:pPr>
            <a:r>
              <a:rPr b="1" i="0" lang="en-US" sz="1200" u="none" cap="none" strike="noStrike">
                <a:solidFill>
                  <a:srgbClr val="E8955E"/>
                </a:solidFill>
                <a:latin typeface="Arial"/>
                <a:ea typeface="Arial"/>
                <a:cs typeface="Arial"/>
                <a:sym typeface="Arial"/>
              </a:rPr>
              <a:t>EMMI</a:t>
            </a:r>
            <a:endParaRPr b="0" i="0" sz="1200" u="none" cap="none" strike="noStrike">
              <a:solidFill>
                <a:schemeClr val="dk1"/>
              </a:solidFill>
              <a:latin typeface="Arial"/>
              <a:ea typeface="Arial"/>
              <a:cs typeface="Arial"/>
              <a:sym typeface="Arial"/>
            </a:endParaRPr>
          </a:p>
        </p:txBody>
      </p:sp>
      <p:sp>
        <p:nvSpPr>
          <p:cNvPr id="146" name="Google Shape;146;p9"/>
          <p:cNvSpPr/>
          <p:nvPr/>
        </p:nvSpPr>
        <p:spPr>
          <a:xfrm>
            <a:off x="9149292" y="2791409"/>
            <a:ext cx="2035200" cy="848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7F6F2"/>
              </a:buClr>
              <a:buSzPts val="1800"/>
              <a:buFont typeface="Arial"/>
              <a:buNone/>
            </a:pPr>
            <a:r>
              <a:rPr b="1" i="0" lang="en-US" sz="1800" u="none" cap="none" strike="noStrike">
                <a:solidFill>
                  <a:srgbClr val="F7F6F2"/>
                </a:solidFill>
                <a:latin typeface="Times New Roman"/>
                <a:ea typeface="Times New Roman"/>
                <a:cs typeface="Times New Roman"/>
                <a:sym typeface="Times New Roman"/>
              </a:rPr>
              <a:t>One fused, compressed latent</a:t>
            </a:r>
            <a:endParaRPr i="0" sz="1800" u="none" cap="none" strike="noStrike">
              <a:solidFill>
                <a:schemeClr val="dk1"/>
              </a:solidFill>
              <a:latin typeface="Times New Roman"/>
              <a:ea typeface="Times New Roman"/>
              <a:cs typeface="Times New Roman"/>
              <a:sym typeface="Times New Roman"/>
            </a:endParaRPr>
          </a:p>
        </p:txBody>
      </p:sp>
      <p:sp>
        <p:nvSpPr>
          <p:cNvPr id="147" name="Google Shape;147;p9"/>
          <p:cNvSpPr/>
          <p:nvPr/>
        </p:nvSpPr>
        <p:spPr>
          <a:xfrm>
            <a:off x="9149292" y="3741263"/>
            <a:ext cx="2035200" cy="52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5DBE6"/>
              </a:buClr>
              <a:buSzPts val="1400"/>
              <a:buFont typeface="Arial"/>
              <a:buNone/>
            </a:pPr>
            <a:r>
              <a:rPr i="0" lang="en-US" sz="1400" u="none" cap="none" strike="noStrike">
                <a:solidFill>
                  <a:srgbClr val="D5DBE6"/>
                </a:solidFill>
                <a:latin typeface="Georgia"/>
                <a:ea typeface="Georgia"/>
                <a:cs typeface="Georgia"/>
                <a:sym typeface="Georgia"/>
              </a:rPr>
              <a:t>Modalities fused at the edge, then compressed.</a:t>
            </a:r>
            <a:endParaRPr i="0" sz="1400" u="none" cap="none" strike="noStrike">
              <a:solidFill>
                <a:schemeClr val="dk1"/>
              </a:solidFill>
              <a:latin typeface="Georgia"/>
              <a:ea typeface="Georgia"/>
              <a:cs typeface="Georgia"/>
              <a:sym typeface="Georgia"/>
            </a:endParaRPr>
          </a:p>
        </p:txBody>
      </p:sp>
      <p:sp>
        <p:nvSpPr>
          <p:cNvPr id="148" name="Google Shape;148;p9"/>
          <p:cNvSpPr/>
          <p:nvPr/>
        </p:nvSpPr>
        <p:spPr>
          <a:xfrm>
            <a:off x="9149292" y="4366121"/>
            <a:ext cx="2035200" cy="772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7F6F2"/>
              </a:buClr>
              <a:buSzPts val="1400"/>
              <a:buFont typeface="Arial"/>
              <a:buNone/>
            </a:pPr>
            <a:r>
              <a:rPr b="1" i="0" lang="en-US" sz="1400" u="none" cap="none" strike="noStrike">
                <a:solidFill>
                  <a:srgbClr val="F7F6F2"/>
                </a:solidFill>
                <a:latin typeface="Georgia"/>
                <a:ea typeface="Georgia"/>
                <a:cs typeface="Georgia"/>
                <a:sym typeface="Georgia"/>
              </a:rPr>
              <a:t>Fixed size: 256 B</a:t>
            </a:r>
            <a:r>
              <a:rPr i="0" lang="en-US" sz="1400" u="none" cap="none" strike="noStrike">
                <a:solidFill>
                  <a:srgbClr val="F7F6F2"/>
                </a:solidFill>
                <a:latin typeface="Georgia"/>
                <a:ea typeface="Georgia"/>
                <a:cs typeface="Georgia"/>
                <a:sym typeface="Georgia"/>
              </a:rPr>
              <a:t>, independent of the server model.</a:t>
            </a:r>
            <a:endParaRPr i="0" sz="1400" u="none" cap="none" strike="noStrike">
              <a:solidFill>
                <a:schemeClr val="dk1"/>
              </a:solidFill>
              <a:latin typeface="Georgia"/>
              <a:ea typeface="Georgia"/>
              <a:cs typeface="Georgia"/>
              <a:sym typeface="Georgia"/>
            </a:endParaRPr>
          </a:p>
        </p:txBody>
      </p:sp>
      <p:sp>
        <p:nvSpPr>
          <p:cNvPr id="149" name="Google Shape;149;p9"/>
          <p:cNvSpPr/>
          <p:nvPr/>
        </p:nvSpPr>
        <p:spPr>
          <a:xfrm>
            <a:off x="10693433" y="6238269"/>
            <a:ext cx="6858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A7280"/>
              </a:buClr>
              <a:buSzPts val="1200"/>
              <a:buFont typeface="Arial"/>
              <a:buNone/>
            </a:pPr>
            <a:r>
              <a:rPr b="0" i="0" lang="en-US" sz="1200" u="none" cap="none" strike="noStrike">
                <a:solidFill>
                  <a:srgbClr val="6A7280"/>
                </a:solidFill>
                <a:latin typeface="Arial"/>
                <a:ea typeface="Arial"/>
                <a:cs typeface="Arial"/>
                <a:sym typeface="Arial"/>
              </a:rPr>
              <a:t>4</a:t>
            </a:r>
            <a:endParaRPr b="0" i="0" sz="1200" u="none" cap="none" strike="noStrike">
              <a:solidFill>
                <a:schemeClr val="dk1"/>
              </a:solidFill>
              <a:latin typeface="Arial"/>
              <a:ea typeface="Arial"/>
              <a:cs typeface="Arial"/>
              <a:sym typeface="Arial"/>
            </a:endParaRPr>
          </a:p>
        </p:txBody>
      </p:sp>
      <p:sp>
        <p:nvSpPr>
          <p:cNvPr id="150" name="Google Shape;150;p9"/>
          <p:cNvSpPr/>
          <p:nvPr/>
        </p:nvSpPr>
        <p:spPr>
          <a:xfrm>
            <a:off x="0" y="0"/>
            <a:ext cx="304800" cy="68580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
          <p:cNvSpPr/>
          <p:nvPr/>
        </p:nvSpPr>
        <p:spPr>
          <a:xfrm>
            <a:off x="304767" y="6299178"/>
            <a:ext cx="11887200" cy="5589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
          <p:cNvSpPr/>
          <p:nvPr/>
        </p:nvSpPr>
        <p:spPr>
          <a:xfrm>
            <a:off x="1117534" y="6471875"/>
            <a:ext cx="10662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Introduction</a:t>
            </a:r>
            <a:endParaRPr b="0" i="0" sz="1200" u="none" cap="none" strike="noStrike">
              <a:solidFill>
                <a:schemeClr val="dk1"/>
              </a:solidFill>
              <a:latin typeface="Arial"/>
              <a:ea typeface="Arial"/>
              <a:cs typeface="Arial"/>
              <a:sym typeface="Arial"/>
            </a:endParaRPr>
          </a:p>
        </p:txBody>
      </p:sp>
      <p:sp>
        <p:nvSpPr>
          <p:cNvPr id="153" name="Google Shape;153;p9"/>
          <p:cNvSpPr/>
          <p:nvPr/>
        </p:nvSpPr>
        <p:spPr>
          <a:xfrm>
            <a:off x="2310915" y="6471875"/>
            <a:ext cx="914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Framework</a:t>
            </a:r>
            <a:endParaRPr b="0" i="0" sz="1200" u="none" cap="none" strike="noStrike">
              <a:solidFill>
                <a:schemeClr val="dk1"/>
              </a:solidFill>
              <a:latin typeface="Arial"/>
              <a:ea typeface="Arial"/>
              <a:cs typeface="Arial"/>
              <a:sym typeface="Arial"/>
            </a:endParaRPr>
          </a:p>
        </p:txBody>
      </p:sp>
      <p:sp>
        <p:nvSpPr>
          <p:cNvPr id="154" name="Google Shape;154;p9"/>
          <p:cNvSpPr/>
          <p:nvPr/>
        </p:nvSpPr>
        <p:spPr>
          <a:xfrm>
            <a:off x="3377627" y="6471875"/>
            <a:ext cx="660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Solution</a:t>
            </a:r>
            <a:endParaRPr b="0" i="0" sz="1200" u="none" cap="none" strike="noStrike">
              <a:solidFill>
                <a:schemeClr val="dk1"/>
              </a:solidFill>
              <a:latin typeface="Arial"/>
              <a:ea typeface="Arial"/>
              <a:cs typeface="Arial"/>
              <a:sym typeface="Arial"/>
            </a:endParaRPr>
          </a:p>
        </p:txBody>
      </p:sp>
      <p:sp>
        <p:nvSpPr>
          <p:cNvPr id="155" name="Google Shape;155;p9"/>
          <p:cNvSpPr/>
          <p:nvPr/>
        </p:nvSpPr>
        <p:spPr>
          <a:xfrm>
            <a:off x="4233058" y="6471875"/>
            <a:ext cx="8538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Evaluation</a:t>
            </a:r>
            <a:endParaRPr b="0" i="0" sz="1200" u="none" cap="none" strike="noStrike">
              <a:solidFill>
                <a:schemeClr val="dk1"/>
              </a:solidFill>
              <a:latin typeface="Arial"/>
              <a:ea typeface="Arial"/>
              <a:cs typeface="Arial"/>
              <a:sym typeface="Arial"/>
            </a:endParaRPr>
          </a:p>
        </p:txBody>
      </p:sp>
      <p:sp>
        <p:nvSpPr>
          <p:cNvPr id="156" name="Google Shape;156;p9"/>
          <p:cNvSpPr/>
          <p:nvPr/>
        </p:nvSpPr>
        <p:spPr>
          <a:xfrm>
            <a:off x="5249389" y="6471875"/>
            <a:ext cx="904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Conclusion</a:t>
            </a:r>
            <a:endParaRPr b="0" i="0" sz="1200" u="none" cap="none" strike="noStrike">
              <a:solidFill>
                <a:schemeClr val="dk1"/>
              </a:solidFill>
              <a:latin typeface="Arial"/>
              <a:ea typeface="Arial"/>
              <a:cs typeface="Arial"/>
              <a:sym typeface="Arial"/>
            </a:endParaRPr>
          </a:p>
        </p:txBody>
      </p:sp>
      <p:sp>
        <p:nvSpPr>
          <p:cNvPr id="157" name="Google Shape;157;p9"/>
          <p:cNvSpPr/>
          <p:nvPr/>
        </p:nvSpPr>
        <p:spPr>
          <a:xfrm>
            <a:off x="6307998" y="6471875"/>
            <a:ext cx="965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Future work</a:t>
            </a:r>
            <a:endParaRPr b="0" i="0" sz="1200" u="none" cap="none" strike="noStrike">
              <a:solidFill>
                <a:schemeClr val="dk1"/>
              </a:solidFill>
              <a:latin typeface="Arial"/>
              <a:ea typeface="Arial"/>
              <a:cs typeface="Arial"/>
              <a:sym typeface="Arial"/>
            </a:endParaRPr>
          </a:p>
        </p:txBody>
      </p:sp>
      <p:sp>
        <p:nvSpPr>
          <p:cNvPr id="158" name="Google Shape;158;p9"/>
          <p:cNvSpPr/>
          <p:nvPr/>
        </p:nvSpPr>
        <p:spPr>
          <a:xfrm>
            <a:off x="11209680" y="6471875"/>
            <a:ext cx="2202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lang="en-US" sz="1200">
                <a:solidFill>
                  <a:srgbClr val="FFFFFF"/>
                </a:solidFill>
              </a:rPr>
              <a:t>4</a:t>
            </a:r>
            <a:endParaRPr sz="1200">
              <a:solidFill>
                <a:srgbClr val="FFFFFF"/>
              </a:solidFill>
            </a:endParaRPr>
          </a:p>
          <a:p>
            <a:pPr indent="0" lvl="0" marL="0" marR="0" rtl="0" algn="l">
              <a:lnSpc>
                <a:spcPct val="140000"/>
              </a:lnSpc>
              <a:spcBef>
                <a:spcPts val="0"/>
              </a:spcBef>
              <a:spcAft>
                <a:spcPts val="0"/>
              </a:spcAft>
              <a:buClr>
                <a:srgbClr val="FFFFFF"/>
              </a:buClr>
              <a:buSzPts val="1200"/>
              <a:buFont typeface="Arial"/>
              <a:buNone/>
            </a:pPr>
            <a:r>
              <a:t/>
            </a:r>
            <a:endParaRPr sz="1200">
              <a:solidFill>
                <a:srgbClr val="FFFFFF"/>
              </a:solidFill>
            </a:endParaRPr>
          </a:p>
        </p:txBody>
      </p:sp>
      <p:sp>
        <p:nvSpPr>
          <p:cNvPr id="159" name="Google Shape;159;p9"/>
          <p:cNvSpPr/>
          <p:nvPr/>
        </p:nvSpPr>
        <p:spPr>
          <a:xfrm>
            <a:off x="1117589" y="533357"/>
            <a:ext cx="762000" cy="507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0"/>
          <p:cNvSpPr txBox="1"/>
          <p:nvPr/>
        </p:nvSpPr>
        <p:spPr>
          <a:xfrm>
            <a:off x="813830" y="1443974"/>
            <a:ext cx="57654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i="0" lang="en-US" sz="1700" u="none" cap="none" strike="noStrike">
                <a:solidFill>
                  <a:schemeClr val="accent3"/>
                </a:solidFill>
                <a:latin typeface="Times New Roman"/>
                <a:ea typeface="Times New Roman"/>
                <a:cs typeface="Times New Roman"/>
                <a:sym typeface="Times New Roman"/>
              </a:rPr>
              <a:t>Device </a:t>
            </a:r>
            <a:r>
              <a:rPr i="1" lang="en-US" sz="1700" u="none" cap="none" strike="noStrike">
                <a:solidFill>
                  <a:schemeClr val="accent3"/>
                </a:solidFill>
                <a:latin typeface="Times New Roman"/>
                <a:ea typeface="Times New Roman"/>
                <a:cs typeface="Times New Roman"/>
                <a:sym typeface="Times New Roman"/>
              </a:rPr>
              <a:t>i</a:t>
            </a:r>
            <a:r>
              <a:rPr i="0" lang="en-US" sz="1700" u="none" cap="none" strike="noStrike">
                <a:solidFill>
                  <a:schemeClr val="accent3"/>
                </a:solidFill>
                <a:latin typeface="Times New Roman"/>
                <a:ea typeface="Times New Roman"/>
                <a:cs typeface="Times New Roman"/>
                <a:sym typeface="Times New Roman"/>
              </a:rPr>
              <a:t> observes </a:t>
            </a:r>
            <a:r>
              <a:rPr i="1" lang="en-US" sz="1700" u="none" cap="none" strike="noStrike">
                <a:solidFill>
                  <a:schemeClr val="accent3"/>
                </a:solidFill>
                <a:latin typeface="Times New Roman"/>
                <a:ea typeface="Times New Roman"/>
                <a:cs typeface="Times New Roman"/>
                <a:sym typeface="Times New Roman"/>
              </a:rPr>
              <a:t>X</a:t>
            </a:r>
            <a:r>
              <a:rPr baseline="-25000" i="1" lang="en-US" sz="1700" u="none" cap="none" strike="noStrike">
                <a:solidFill>
                  <a:schemeClr val="accent3"/>
                </a:solidFill>
                <a:latin typeface="Times New Roman"/>
                <a:ea typeface="Times New Roman"/>
                <a:cs typeface="Times New Roman"/>
                <a:sym typeface="Times New Roman"/>
              </a:rPr>
              <a:t>i</a:t>
            </a:r>
            <a:r>
              <a:rPr baseline="30000" i="1" lang="en-US" sz="1700" u="none" cap="none" strike="noStrike">
                <a:solidFill>
                  <a:schemeClr val="accent3"/>
                </a:solidFill>
                <a:latin typeface="Times New Roman"/>
                <a:ea typeface="Times New Roman"/>
                <a:cs typeface="Times New Roman"/>
                <a:sym typeface="Times New Roman"/>
              </a:rPr>
              <a:t>t</a:t>
            </a:r>
            <a:r>
              <a:rPr i="0" lang="en-US" sz="1700" u="none" cap="none" strike="noStrike">
                <a:solidFill>
                  <a:schemeClr val="accent3"/>
                </a:solidFill>
                <a:latin typeface="Times New Roman"/>
                <a:ea typeface="Times New Roman"/>
                <a:cs typeface="Times New Roman"/>
                <a:sym typeface="Times New Roman"/>
              </a:rPr>
              <a:t>: </a:t>
            </a:r>
            <a:r>
              <a:rPr i="1" lang="en-US" sz="1700" u="none" cap="none" strike="noStrike">
                <a:solidFill>
                  <a:schemeClr val="accent3"/>
                </a:solidFill>
                <a:latin typeface="Times New Roman"/>
                <a:ea typeface="Times New Roman"/>
                <a:cs typeface="Times New Roman"/>
                <a:sym typeface="Times New Roman"/>
              </a:rPr>
              <a:t>M</a:t>
            </a:r>
            <a:r>
              <a:rPr baseline="-25000" i="1" lang="en-US" sz="1700" u="none" cap="none" strike="noStrike">
                <a:solidFill>
                  <a:schemeClr val="accent3"/>
                </a:solidFill>
                <a:latin typeface="Times New Roman"/>
                <a:ea typeface="Times New Roman"/>
                <a:cs typeface="Times New Roman"/>
                <a:sym typeface="Times New Roman"/>
              </a:rPr>
              <a:t>i</a:t>
            </a:r>
            <a:r>
              <a:rPr i="0" lang="en-US" sz="1700" u="none" cap="none" strike="noStrike">
                <a:solidFill>
                  <a:schemeClr val="accent3"/>
                </a:solidFill>
                <a:latin typeface="Times New Roman"/>
                <a:ea typeface="Times New Roman"/>
                <a:cs typeface="Times New Roman"/>
                <a:sym typeface="Times New Roman"/>
              </a:rPr>
              <a:t> modalities at time </a:t>
            </a:r>
            <a:r>
              <a:rPr i="1" lang="en-US" sz="1700" u="none" cap="none" strike="noStrike">
                <a:solidFill>
                  <a:schemeClr val="accent3"/>
                </a:solidFill>
                <a:latin typeface="Times New Roman"/>
                <a:ea typeface="Times New Roman"/>
                <a:cs typeface="Times New Roman"/>
                <a:sym typeface="Times New Roman"/>
              </a:rPr>
              <a:t>t</a:t>
            </a:r>
            <a:endParaRPr i="0" sz="1700" u="none" cap="none" strike="noStrike">
              <a:solidFill>
                <a:schemeClr val="accent3"/>
              </a:solidFill>
              <a:latin typeface="Times New Roman"/>
              <a:ea typeface="Times New Roman"/>
              <a:cs typeface="Times New Roman"/>
              <a:sym typeface="Times New Roman"/>
            </a:endParaRPr>
          </a:p>
        </p:txBody>
      </p:sp>
      <p:sp>
        <p:nvSpPr>
          <p:cNvPr id="166" name="Google Shape;166;p10"/>
          <p:cNvSpPr/>
          <p:nvPr/>
        </p:nvSpPr>
        <p:spPr>
          <a:xfrm>
            <a:off x="813816" y="1864622"/>
            <a:ext cx="3612000" cy="493800"/>
          </a:xfrm>
          <a:prstGeom prst="roundRect">
            <a:avLst>
              <a:gd fmla="val 14815" name="adj"/>
            </a:avLst>
          </a:prstGeom>
          <a:solidFill>
            <a:srgbClr val="3C78D8"/>
          </a:solidFill>
          <a:ln cap="flat" cmpd="sng" w="9525">
            <a:solidFill>
              <a:srgbClr val="DCD9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D5A6BD"/>
              </a:highlight>
            </a:endParaRPr>
          </a:p>
        </p:txBody>
      </p:sp>
      <p:sp>
        <p:nvSpPr>
          <p:cNvPr id="167" name="Google Shape;167;p10"/>
          <p:cNvSpPr txBox="1"/>
          <p:nvPr/>
        </p:nvSpPr>
        <p:spPr>
          <a:xfrm>
            <a:off x="978408" y="1864622"/>
            <a:ext cx="10515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600" u="none" cap="none" strike="noStrike">
                <a:solidFill>
                  <a:schemeClr val="dk1"/>
                </a:solidFill>
                <a:latin typeface="Times New Roman"/>
                <a:ea typeface="Times New Roman"/>
                <a:cs typeface="Times New Roman"/>
                <a:sym typeface="Times New Roman"/>
              </a:rPr>
              <a:t>Device 1</a:t>
            </a:r>
            <a:endParaRPr i="0" sz="1600" u="none" cap="none" strike="noStrike">
              <a:solidFill>
                <a:schemeClr val="dk1"/>
              </a:solidFill>
              <a:latin typeface="Times New Roman"/>
              <a:ea typeface="Times New Roman"/>
              <a:cs typeface="Times New Roman"/>
              <a:sym typeface="Times New Roman"/>
            </a:endParaRPr>
          </a:p>
        </p:txBody>
      </p:sp>
      <p:sp>
        <p:nvSpPr>
          <p:cNvPr id="168" name="Google Shape;168;p10"/>
          <p:cNvSpPr/>
          <p:nvPr/>
        </p:nvSpPr>
        <p:spPr>
          <a:xfrm>
            <a:off x="2093976" y="1956062"/>
            <a:ext cx="567000" cy="310800"/>
          </a:xfrm>
          <a:prstGeom prst="roundRect">
            <a:avLst>
              <a:gd fmla="val 50000" name="adj"/>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0"/>
          <p:cNvSpPr txBox="1"/>
          <p:nvPr/>
        </p:nvSpPr>
        <p:spPr>
          <a:xfrm>
            <a:off x="2093976" y="1956062"/>
            <a:ext cx="567000" cy="310800"/>
          </a:xfrm>
          <a:prstGeom prst="rect">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RGB</a:t>
            </a:r>
            <a:endParaRPr b="0" i="0" sz="1200" u="none" cap="none" strike="noStrike">
              <a:solidFill>
                <a:schemeClr val="dk1"/>
              </a:solidFill>
              <a:latin typeface="Calibri"/>
              <a:ea typeface="Calibri"/>
              <a:cs typeface="Calibri"/>
              <a:sym typeface="Calibri"/>
            </a:endParaRPr>
          </a:p>
        </p:txBody>
      </p:sp>
      <p:sp>
        <p:nvSpPr>
          <p:cNvPr id="170" name="Google Shape;170;p10"/>
          <p:cNvSpPr/>
          <p:nvPr/>
        </p:nvSpPr>
        <p:spPr>
          <a:xfrm>
            <a:off x="2734056" y="1956062"/>
            <a:ext cx="567000" cy="310800"/>
          </a:xfrm>
          <a:prstGeom prst="roundRect">
            <a:avLst>
              <a:gd fmla="val 50000" name="adj"/>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0"/>
          <p:cNvSpPr txBox="1"/>
          <p:nvPr/>
        </p:nvSpPr>
        <p:spPr>
          <a:xfrm>
            <a:off x="2734056" y="1956062"/>
            <a:ext cx="567000" cy="310800"/>
          </a:xfrm>
          <a:prstGeom prst="rect">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GPS</a:t>
            </a:r>
            <a:endParaRPr b="0" i="0" sz="1200" u="none" cap="none" strike="noStrike">
              <a:solidFill>
                <a:schemeClr val="dk1"/>
              </a:solidFill>
              <a:latin typeface="Calibri"/>
              <a:ea typeface="Calibri"/>
              <a:cs typeface="Calibri"/>
              <a:sym typeface="Calibri"/>
            </a:endParaRPr>
          </a:p>
        </p:txBody>
      </p:sp>
      <p:sp>
        <p:nvSpPr>
          <p:cNvPr id="172" name="Google Shape;172;p10"/>
          <p:cNvSpPr/>
          <p:nvPr/>
        </p:nvSpPr>
        <p:spPr>
          <a:xfrm>
            <a:off x="813816" y="2468126"/>
            <a:ext cx="3612000" cy="493800"/>
          </a:xfrm>
          <a:prstGeom prst="roundRect">
            <a:avLst>
              <a:gd fmla="val 14815" name="adj"/>
            </a:avLst>
          </a:prstGeom>
          <a:solidFill>
            <a:srgbClr val="3C78D8"/>
          </a:solidFill>
          <a:ln cap="flat" cmpd="sng" w="9525">
            <a:solidFill>
              <a:srgbClr val="DCD9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0"/>
          <p:cNvSpPr txBox="1"/>
          <p:nvPr/>
        </p:nvSpPr>
        <p:spPr>
          <a:xfrm>
            <a:off x="978408" y="2468126"/>
            <a:ext cx="10515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600" u="none" cap="none" strike="noStrike">
                <a:solidFill>
                  <a:schemeClr val="dk1"/>
                </a:solidFill>
                <a:latin typeface="Times New Roman"/>
                <a:ea typeface="Times New Roman"/>
                <a:cs typeface="Times New Roman"/>
                <a:sym typeface="Times New Roman"/>
              </a:rPr>
              <a:t>Device </a:t>
            </a:r>
            <a:r>
              <a:rPr b="1" i="1" lang="en-US" sz="1600" u="none" cap="none" strike="noStrike">
                <a:solidFill>
                  <a:schemeClr val="dk1"/>
                </a:solidFill>
                <a:latin typeface="Times New Roman"/>
                <a:ea typeface="Times New Roman"/>
                <a:cs typeface="Times New Roman"/>
                <a:sym typeface="Times New Roman"/>
              </a:rPr>
              <a:t>i</a:t>
            </a:r>
            <a:endParaRPr i="0" sz="1600" u="none" cap="none" strike="noStrike">
              <a:solidFill>
                <a:schemeClr val="dk1"/>
              </a:solidFill>
              <a:latin typeface="Times New Roman"/>
              <a:ea typeface="Times New Roman"/>
              <a:cs typeface="Times New Roman"/>
              <a:sym typeface="Times New Roman"/>
            </a:endParaRPr>
          </a:p>
        </p:txBody>
      </p:sp>
      <p:sp>
        <p:nvSpPr>
          <p:cNvPr id="174" name="Google Shape;174;p10"/>
          <p:cNvSpPr/>
          <p:nvPr/>
        </p:nvSpPr>
        <p:spPr>
          <a:xfrm>
            <a:off x="2093976" y="2559566"/>
            <a:ext cx="777300" cy="310800"/>
          </a:xfrm>
          <a:prstGeom prst="roundRect">
            <a:avLst>
              <a:gd fmla="val 50000" name="adj"/>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0"/>
          <p:cNvSpPr txBox="1"/>
          <p:nvPr/>
        </p:nvSpPr>
        <p:spPr>
          <a:xfrm>
            <a:off x="2093976" y="2559566"/>
            <a:ext cx="777300" cy="310800"/>
          </a:xfrm>
          <a:prstGeom prst="rect">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thermal</a:t>
            </a:r>
            <a:endParaRPr b="0" i="0" sz="1200" u="none" cap="none" strike="noStrike">
              <a:solidFill>
                <a:schemeClr val="dk1"/>
              </a:solidFill>
              <a:latin typeface="Calibri"/>
              <a:ea typeface="Calibri"/>
              <a:cs typeface="Calibri"/>
              <a:sym typeface="Calibri"/>
            </a:endParaRPr>
          </a:p>
        </p:txBody>
      </p:sp>
      <p:sp>
        <p:nvSpPr>
          <p:cNvPr id="176" name="Google Shape;176;p10"/>
          <p:cNvSpPr/>
          <p:nvPr/>
        </p:nvSpPr>
        <p:spPr>
          <a:xfrm>
            <a:off x="2944368" y="2559566"/>
            <a:ext cx="658500" cy="310800"/>
          </a:xfrm>
          <a:prstGeom prst="roundRect">
            <a:avLst>
              <a:gd fmla="val 50000" name="adj"/>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0"/>
          <p:cNvSpPr txBox="1"/>
          <p:nvPr/>
        </p:nvSpPr>
        <p:spPr>
          <a:xfrm>
            <a:off x="2944368" y="2559566"/>
            <a:ext cx="658500" cy="310800"/>
          </a:xfrm>
          <a:prstGeom prst="rect">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LiDAR</a:t>
            </a:r>
            <a:endParaRPr b="0" i="0" sz="1200" u="none" cap="none" strike="noStrike">
              <a:solidFill>
                <a:schemeClr val="dk1"/>
              </a:solidFill>
              <a:latin typeface="Calibri"/>
              <a:ea typeface="Calibri"/>
              <a:cs typeface="Calibri"/>
              <a:sym typeface="Calibri"/>
            </a:endParaRPr>
          </a:p>
        </p:txBody>
      </p:sp>
      <p:sp>
        <p:nvSpPr>
          <p:cNvPr id="178" name="Google Shape;178;p10"/>
          <p:cNvSpPr/>
          <p:nvPr/>
        </p:nvSpPr>
        <p:spPr>
          <a:xfrm>
            <a:off x="3675888" y="2559566"/>
            <a:ext cx="530400" cy="310800"/>
          </a:xfrm>
          <a:prstGeom prst="roundRect">
            <a:avLst>
              <a:gd fmla="val 50000" name="adj"/>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0"/>
          <p:cNvSpPr txBox="1"/>
          <p:nvPr/>
        </p:nvSpPr>
        <p:spPr>
          <a:xfrm>
            <a:off x="3675888" y="2559566"/>
            <a:ext cx="530400" cy="310800"/>
          </a:xfrm>
          <a:prstGeom prst="rect">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text</a:t>
            </a:r>
            <a:endParaRPr b="0" i="0" sz="1200" u="none" cap="none" strike="noStrike">
              <a:solidFill>
                <a:schemeClr val="dk1"/>
              </a:solidFill>
              <a:latin typeface="Calibri"/>
              <a:ea typeface="Calibri"/>
              <a:cs typeface="Calibri"/>
              <a:sym typeface="Calibri"/>
            </a:endParaRPr>
          </a:p>
        </p:txBody>
      </p:sp>
      <p:sp>
        <p:nvSpPr>
          <p:cNvPr id="180" name="Google Shape;180;p10"/>
          <p:cNvSpPr/>
          <p:nvPr/>
        </p:nvSpPr>
        <p:spPr>
          <a:xfrm>
            <a:off x="813816" y="3071630"/>
            <a:ext cx="3612000" cy="493800"/>
          </a:xfrm>
          <a:prstGeom prst="roundRect">
            <a:avLst>
              <a:gd fmla="val 14815" name="adj"/>
            </a:avLst>
          </a:prstGeom>
          <a:solidFill>
            <a:srgbClr val="3C78D8"/>
          </a:solidFill>
          <a:ln cap="flat" cmpd="sng" w="9525">
            <a:solidFill>
              <a:srgbClr val="DCD9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0"/>
          <p:cNvSpPr txBox="1"/>
          <p:nvPr/>
        </p:nvSpPr>
        <p:spPr>
          <a:xfrm>
            <a:off x="978408" y="3071630"/>
            <a:ext cx="10515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600" u="none" cap="none" strike="noStrike">
                <a:solidFill>
                  <a:schemeClr val="dk1"/>
                </a:solidFill>
                <a:latin typeface="Times New Roman"/>
                <a:ea typeface="Times New Roman"/>
                <a:cs typeface="Times New Roman"/>
                <a:sym typeface="Times New Roman"/>
              </a:rPr>
              <a:t>Device</a:t>
            </a:r>
            <a:r>
              <a:rPr b="1" i="0" lang="en-US" sz="1600" u="none" cap="none" strike="noStrike">
                <a:solidFill>
                  <a:schemeClr val="dk1"/>
                </a:solidFill>
                <a:latin typeface="Times New Roman"/>
                <a:ea typeface="Times New Roman"/>
                <a:cs typeface="Times New Roman"/>
                <a:sym typeface="Times New Roman"/>
              </a:rPr>
              <a:t> </a:t>
            </a:r>
            <a:r>
              <a:rPr b="1" i="1" lang="en-US" sz="1600" u="none" cap="none" strike="noStrike">
                <a:solidFill>
                  <a:schemeClr val="dk1"/>
                </a:solidFill>
                <a:latin typeface="Times New Roman"/>
                <a:ea typeface="Times New Roman"/>
                <a:cs typeface="Times New Roman"/>
                <a:sym typeface="Times New Roman"/>
              </a:rPr>
              <a:t>N</a:t>
            </a:r>
            <a:endParaRPr i="0" sz="1600" u="none" cap="none" strike="noStrike">
              <a:solidFill>
                <a:schemeClr val="dk1"/>
              </a:solidFill>
              <a:latin typeface="Times New Roman"/>
              <a:ea typeface="Times New Roman"/>
              <a:cs typeface="Times New Roman"/>
              <a:sym typeface="Times New Roman"/>
            </a:endParaRPr>
          </a:p>
        </p:txBody>
      </p:sp>
      <p:sp>
        <p:nvSpPr>
          <p:cNvPr id="182" name="Google Shape;182;p10"/>
          <p:cNvSpPr/>
          <p:nvPr/>
        </p:nvSpPr>
        <p:spPr>
          <a:xfrm>
            <a:off x="2093976" y="3163070"/>
            <a:ext cx="567000" cy="310800"/>
          </a:xfrm>
          <a:prstGeom prst="roundRect">
            <a:avLst>
              <a:gd fmla="val 50000" name="adj"/>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0"/>
          <p:cNvSpPr txBox="1"/>
          <p:nvPr/>
        </p:nvSpPr>
        <p:spPr>
          <a:xfrm>
            <a:off x="2093976" y="3163070"/>
            <a:ext cx="567000" cy="310800"/>
          </a:xfrm>
          <a:prstGeom prst="rect">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RGB</a:t>
            </a:r>
            <a:endParaRPr b="0" i="0" sz="1200" u="none" cap="none" strike="noStrike">
              <a:solidFill>
                <a:schemeClr val="dk1"/>
              </a:solidFill>
              <a:latin typeface="Calibri"/>
              <a:ea typeface="Calibri"/>
              <a:cs typeface="Calibri"/>
              <a:sym typeface="Calibri"/>
            </a:endParaRPr>
          </a:p>
        </p:txBody>
      </p:sp>
      <p:sp>
        <p:nvSpPr>
          <p:cNvPr id="184" name="Google Shape;184;p10"/>
          <p:cNvSpPr/>
          <p:nvPr/>
        </p:nvSpPr>
        <p:spPr>
          <a:xfrm>
            <a:off x="2734056" y="3163070"/>
            <a:ext cx="658500" cy="310800"/>
          </a:xfrm>
          <a:prstGeom prst="roundRect">
            <a:avLst>
              <a:gd fmla="val 50000" name="adj"/>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0"/>
          <p:cNvSpPr txBox="1"/>
          <p:nvPr/>
        </p:nvSpPr>
        <p:spPr>
          <a:xfrm>
            <a:off x="2734056" y="3163070"/>
            <a:ext cx="658500" cy="310800"/>
          </a:xfrm>
          <a:prstGeom prst="rect">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LiDAR</a:t>
            </a:r>
            <a:endParaRPr b="0" i="0" sz="1200" u="none" cap="none" strike="noStrike">
              <a:solidFill>
                <a:schemeClr val="dk1"/>
              </a:solidFill>
              <a:latin typeface="Calibri"/>
              <a:ea typeface="Calibri"/>
              <a:cs typeface="Calibri"/>
              <a:sym typeface="Calibri"/>
            </a:endParaRPr>
          </a:p>
        </p:txBody>
      </p:sp>
      <p:sp>
        <p:nvSpPr>
          <p:cNvPr id="186" name="Google Shape;186;p10"/>
          <p:cNvSpPr/>
          <p:nvPr/>
        </p:nvSpPr>
        <p:spPr>
          <a:xfrm>
            <a:off x="3465576" y="3163070"/>
            <a:ext cx="567000" cy="310800"/>
          </a:xfrm>
          <a:prstGeom prst="roundRect">
            <a:avLst>
              <a:gd fmla="val 50000" name="adj"/>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0"/>
          <p:cNvSpPr txBox="1"/>
          <p:nvPr/>
        </p:nvSpPr>
        <p:spPr>
          <a:xfrm>
            <a:off x="3465576" y="3163070"/>
            <a:ext cx="567000" cy="310800"/>
          </a:xfrm>
          <a:prstGeom prst="rect">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GPS</a:t>
            </a:r>
            <a:endParaRPr b="0" i="0" sz="1200" u="none" cap="none" strike="noStrike">
              <a:solidFill>
                <a:schemeClr val="dk1"/>
              </a:solidFill>
              <a:latin typeface="Calibri"/>
              <a:ea typeface="Calibri"/>
              <a:cs typeface="Calibri"/>
              <a:sym typeface="Calibri"/>
            </a:endParaRPr>
          </a:p>
        </p:txBody>
      </p:sp>
      <p:sp>
        <p:nvSpPr>
          <p:cNvPr id="188" name="Google Shape;188;p10"/>
          <p:cNvSpPr txBox="1"/>
          <p:nvPr/>
        </p:nvSpPr>
        <p:spPr>
          <a:xfrm>
            <a:off x="4837176" y="2111542"/>
            <a:ext cx="36120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4"/>
              </a:buClr>
              <a:buSzPts val="1400"/>
              <a:buFont typeface="Calibri"/>
              <a:buNone/>
            </a:pPr>
            <a:r>
              <a:rPr b="1" i="0" lang="en-US" sz="2000" u="none" cap="none" strike="noStrike">
                <a:solidFill>
                  <a:srgbClr val="A64D79"/>
                </a:solidFill>
                <a:latin typeface="Times New Roman"/>
                <a:ea typeface="Times New Roman"/>
                <a:cs typeface="Times New Roman"/>
                <a:sym typeface="Times New Roman"/>
              </a:rPr>
              <a:t>wireless link · bandwidth </a:t>
            </a:r>
            <a:r>
              <a:rPr b="1" i="1" lang="en-US" sz="2000" u="none" cap="none" strike="noStrike">
                <a:solidFill>
                  <a:srgbClr val="A64D79"/>
                </a:solidFill>
                <a:latin typeface="Times New Roman"/>
                <a:ea typeface="Times New Roman"/>
                <a:cs typeface="Times New Roman"/>
                <a:sym typeface="Times New Roman"/>
              </a:rPr>
              <a:t>B</a:t>
            </a:r>
            <a:endParaRPr b="1" i="0" sz="2000" u="none" cap="none" strike="noStrike">
              <a:solidFill>
                <a:srgbClr val="A64D79"/>
              </a:solidFill>
              <a:latin typeface="Times New Roman"/>
              <a:ea typeface="Times New Roman"/>
              <a:cs typeface="Times New Roman"/>
              <a:sym typeface="Times New Roman"/>
            </a:endParaRPr>
          </a:p>
        </p:txBody>
      </p:sp>
      <p:cxnSp>
        <p:nvCxnSpPr>
          <p:cNvPr id="189" name="Google Shape;189;p10"/>
          <p:cNvCxnSpPr/>
          <p:nvPr/>
        </p:nvCxnSpPr>
        <p:spPr>
          <a:xfrm>
            <a:off x="4928616" y="2687582"/>
            <a:ext cx="3429000" cy="0"/>
          </a:xfrm>
          <a:prstGeom prst="straightConnector1">
            <a:avLst/>
          </a:prstGeom>
          <a:noFill/>
          <a:ln cap="flat" cmpd="sng" w="88900">
            <a:solidFill>
              <a:srgbClr val="A64D79"/>
            </a:solidFill>
            <a:prstDash val="solid"/>
            <a:round/>
            <a:headEnd len="sm" w="sm" type="none"/>
            <a:tailEnd len="med" w="med" type="triangle"/>
          </a:ln>
        </p:spPr>
      </p:cxnSp>
      <p:sp>
        <p:nvSpPr>
          <p:cNvPr id="190" name="Google Shape;190;p10"/>
          <p:cNvSpPr/>
          <p:nvPr/>
        </p:nvSpPr>
        <p:spPr>
          <a:xfrm>
            <a:off x="8860536" y="1864622"/>
            <a:ext cx="2514600" cy="1700700"/>
          </a:xfrm>
          <a:prstGeom prst="roundRect">
            <a:avLst>
              <a:gd fmla="val 6452" name="adj"/>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1" name="Google Shape;191;p10"/>
          <p:cNvPicPr preferRelativeResize="0"/>
          <p:nvPr/>
        </p:nvPicPr>
        <p:blipFill rotWithShape="1">
          <a:blip r:embed="rId3">
            <a:alphaModFix/>
          </a:blip>
          <a:srcRect b="0" l="0" r="0" t="0"/>
          <a:stretch/>
        </p:blipFill>
        <p:spPr>
          <a:xfrm>
            <a:off x="9889236" y="2047502"/>
            <a:ext cx="457200" cy="457200"/>
          </a:xfrm>
          <a:prstGeom prst="rect">
            <a:avLst/>
          </a:prstGeom>
          <a:noFill/>
          <a:ln>
            <a:noFill/>
          </a:ln>
        </p:spPr>
      </p:pic>
      <p:sp>
        <p:nvSpPr>
          <p:cNvPr id="192" name="Google Shape;192;p10"/>
          <p:cNvSpPr txBox="1"/>
          <p:nvPr/>
        </p:nvSpPr>
        <p:spPr>
          <a:xfrm>
            <a:off x="8860536" y="2577854"/>
            <a:ext cx="25146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2400" u="none" cap="none" strike="noStrike">
                <a:solidFill>
                  <a:schemeClr val="lt1"/>
                </a:solidFill>
                <a:latin typeface="Times New Roman"/>
                <a:ea typeface="Times New Roman"/>
                <a:cs typeface="Times New Roman"/>
                <a:sym typeface="Times New Roman"/>
              </a:rPr>
              <a:t>Server</a:t>
            </a:r>
            <a:endParaRPr i="0" sz="2400" u="none" cap="none" strike="noStrike">
              <a:solidFill>
                <a:schemeClr val="dk1"/>
              </a:solidFill>
              <a:latin typeface="Times New Roman"/>
              <a:ea typeface="Times New Roman"/>
              <a:cs typeface="Times New Roman"/>
              <a:sym typeface="Times New Roman"/>
            </a:endParaRPr>
          </a:p>
        </p:txBody>
      </p:sp>
      <p:sp>
        <p:nvSpPr>
          <p:cNvPr id="193" name="Google Shape;193;p10"/>
          <p:cNvSpPr txBox="1"/>
          <p:nvPr/>
        </p:nvSpPr>
        <p:spPr>
          <a:xfrm>
            <a:off x="8860536" y="2943614"/>
            <a:ext cx="25146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5DBE6"/>
              </a:buClr>
              <a:buSzPts val="1300"/>
              <a:buFont typeface="Calibri"/>
              <a:buNone/>
            </a:pPr>
            <a:r>
              <a:rPr b="1" i="0" lang="en-US" sz="1900" u="none" cap="none" strike="noStrike">
                <a:solidFill>
                  <a:schemeClr val="lt1"/>
                </a:solidFill>
                <a:latin typeface="Times New Roman"/>
                <a:ea typeface="Times New Roman"/>
                <a:cs typeface="Times New Roman"/>
                <a:sym typeface="Times New Roman"/>
              </a:rPr>
              <a:t>high-capacity MLLM</a:t>
            </a:r>
            <a:endParaRPr b="1" i="0" sz="1900" u="none" cap="none" strike="noStrike">
              <a:solidFill>
                <a:schemeClr val="lt1"/>
              </a:solidFill>
              <a:latin typeface="Times New Roman"/>
              <a:ea typeface="Times New Roman"/>
              <a:cs typeface="Times New Roman"/>
              <a:sym typeface="Times New Roman"/>
            </a:endParaRPr>
          </a:p>
        </p:txBody>
      </p:sp>
      <p:cxnSp>
        <p:nvCxnSpPr>
          <p:cNvPr id="194" name="Google Shape;194;p10"/>
          <p:cNvCxnSpPr/>
          <p:nvPr/>
        </p:nvCxnSpPr>
        <p:spPr>
          <a:xfrm>
            <a:off x="813816" y="3858014"/>
            <a:ext cx="3612000" cy="0"/>
          </a:xfrm>
          <a:prstGeom prst="straightConnector1">
            <a:avLst/>
          </a:prstGeom>
          <a:noFill/>
          <a:ln cap="flat" cmpd="sng" w="50800">
            <a:solidFill>
              <a:schemeClr val="accent1"/>
            </a:solidFill>
            <a:prstDash val="solid"/>
            <a:round/>
            <a:headEnd len="sm" w="sm" type="none"/>
            <a:tailEnd len="sm" w="sm" type="none"/>
          </a:ln>
        </p:spPr>
      </p:cxnSp>
      <p:sp>
        <p:nvSpPr>
          <p:cNvPr id="195" name="Google Shape;195;p10"/>
          <p:cNvSpPr txBox="1"/>
          <p:nvPr/>
        </p:nvSpPr>
        <p:spPr>
          <a:xfrm>
            <a:off x="813816" y="3967742"/>
            <a:ext cx="36120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200"/>
              <a:buFont typeface="Cambria"/>
              <a:buNone/>
            </a:pPr>
            <a:r>
              <a:rPr b="0" i="1" lang="en-US" sz="2200" u="none" cap="none" strike="noStrike">
                <a:solidFill>
                  <a:schemeClr val="dk1"/>
                </a:solidFill>
                <a:latin typeface="Cambria"/>
                <a:ea typeface="Cambria"/>
                <a:cs typeface="Cambria"/>
                <a:sym typeface="Cambria"/>
              </a:rPr>
              <a:t>T</a:t>
            </a:r>
            <a:r>
              <a:rPr b="0" baseline="-25000" i="0" lang="en-US" sz="2200" u="none" cap="none" strike="noStrike">
                <a:solidFill>
                  <a:schemeClr val="dk1"/>
                </a:solidFill>
                <a:latin typeface="Cambria"/>
                <a:ea typeface="Cambria"/>
                <a:cs typeface="Cambria"/>
                <a:sym typeface="Cambria"/>
              </a:rPr>
              <a:t>edge</a:t>
            </a:r>
            <a:endParaRPr b="0" i="0" sz="2200" u="none" cap="none" strike="noStrike">
              <a:solidFill>
                <a:schemeClr val="dk1"/>
              </a:solidFill>
              <a:latin typeface="Calibri"/>
              <a:ea typeface="Calibri"/>
              <a:cs typeface="Calibri"/>
              <a:sym typeface="Calibri"/>
            </a:endParaRPr>
          </a:p>
        </p:txBody>
      </p:sp>
      <p:sp>
        <p:nvSpPr>
          <p:cNvPr id="196" name="Google Shape;196;p10"/>
          <p:cNvSpPr txBox="1"/>
          <p:nvPr/>
        </p:nvSpPr>
        <p:spPr>
          <a:xfrm>
            <a:off x="813816" y="4443230"/>
            <a:ext cx="3612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200"/>
              <a:buFont typeface="Calibri"/>
              <a:buNone/>
            </a:pPr>
            <a:r>
              <a:rPr i="0" lang="en-US" sz="1800" u="none" cap="none" strike="noStrike">
                <a:solidFill>
                  <a:schemeClr val="accent3"/>
                </a:solidFill>
                <a:latin typeface="Times New Roman"/>
                <a:ea typeface="Times New Roman"/>
                <a:cs typeface="Times New Roman"/>
                <a:sym typeface="Times New Roman"/>
              </a:rPr>
              <a:t>edge processing</a:t>
            </a:r>
            <a:endParaRPr i="0" sz="1800" u="none" cap="none" strike="noStrike">
              <a:solidFill>
                <a:schemeClr val="accent3"/>
              </a:solidFill>
              <a:latin typeface="Times New Roman"/>
              <a:ea typeface="Times New Roman"/>
              <a:cs typeface="Times New Roman"/>
              <a:sym typeface="Times New Roman"/>
            </a:endParaRPr>
          </a:p>
        </p:txBody>
      </p:sp>
      <p:cxnSp>
        <p:nvCxnSpPr>
          <p:cNvPr id="197" name="Google Shape;197;p10"/>
          <p:cNvCxnSpPr/>
          <p:nvPr/>
        </p:nvCxnSpPr>
        <p:spPr>
          <a:xfrm>
            <a:off x="4837176" y="3858014"/>
            <a:ext cx="3612000" cy="0"/>
          </a:xfrm>
          <a:prstGeom prst="straightConnector1">
            <a:avLst/>
          </a:prstGeom>
          <a:noFill/>
          <a:ln cap="flat" cmpd="sng" w="50800">
            <a:solidFill>
              <a:schemeClr val="accent2"/>
            </a:solidFill>
            <a:prstDash val="solid"/>
            <a:round/>
            <a:headEnd len="sm" w="sm" type="none"/>
            <a:tailEnd len="sm" w="sm" type="none"/>
          </a:ln>
        </p:spPr>
      </p:cxnSp>
      <p:sp>
        <p:nvSpPr>
          <p:cNvPr id="198" name="Google Shape;198;p10"/>
          <p:cNvSpPr txBox="1"/>
          <p:nvPr/>
        </p:nvSpPr>
        <p:spPr>
          <a:xfrm>
            <a:off x="4837176" y="3967742"/>
            <a:ext cx="36120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200"/>
              <a:buFont typeface="Cambria"/>
              <a:buNone/>
            </a:pPr>
            <a:r>
              <a:rPr b="0" i="1" lang="en-US" sz="2200" u="none" cap="none" strike="noStrike">
                <a:solidFill>
                  <a:schemeClr val="dk1"/>
                </a:solidFill>
                <a:latin typeface="Cambria"/>
                <a:ea typeface="Cambria"/>
                <a:cs typeface="Cambria"/>
                <a:sym typeface="Cambria"/>
              </a:rPr>
              <a:t>T</a:t>
            </a:r>
            <a:r>
              <a:rPr b="0" baseline="-25000" i="0" lang="en-US" sz="2200" u="none" cap="none" strike="noStrike">
                <a:solidFill>
                  <a:schemeClr val="dk1"/>
                </a:solidFill>
                <a:latin typeface="Cambria"/>
                <a:ea typeface="Cambria"/>
                <a:cs typeface="Cambria"/>
                <a:sym typeface="Cambria"/>
              </a:rPr>
              <a:t>comm</a:t>
            </a:r>
            <a:r>
              <a:rPr b="0" i="0" lang="en-US" sz="2200" u="none" cap="none" strike="noStrike">
                <a:solidFill>
                  <a:schemeClr val="dk1"/>
                </a:solidFill>
                <a:latin typeface="Cambria"/>
                <a:ea typeface="Cambria"/>
                <a:cs typeface="Cambria"/>
                <a:sym typeface="Cambria"/>
              </a:rPr>
              <a:t> = </a:t>
            </a:r>
            <a:r>
              <a:rPr b="0" i="1" lang="en-US" sz="2200" u="none" cap="none" strike="noStrike">
                <a:solidFill>
                  <a:schemeClr val="dk1"/>
                </a:solidFill>
                <a:latin typeface="Cambria"/>
                <a:ea typeface="Cambria"/>
                <a:cs typeface="Cambria"/>
                <a:sym typeface="Cambria"/>
              </a:rPr>
              <a:t>S</a:t>
            </a:r>
            <a:r>
              <a:rPr b="0" baseline="-25000" i="0" lang="en-US" sz="2200" u="none" cap="none" strike="noStrike">
                <a:solidFill>
                  <a:schemeClr val="dk1"/>
                </a:solidFill>
                <a:latin typeface="Cambria"/>
                <a:ea typeface="Cambria"/>
                <a:cs typeface="Cambria"/>
                <a:sym typeface="Cambria"/>
              </a:rPr>
              <a:t>tx</a:t>
            </a:r>
            <a:r>
              <a:rPr b="0" i="0" lang="en-US" sz="2200" u="none" cap="none" strike="noStrike">
                <a:solidFill>
                  <a:schemeClr val="dk1"/>
                </a:solidFill>
                <a:latin typeface="Cambria"/>
                <a:ea typeface="Cambria"/>
                <a:cs typeface="Cambria"/>
                <a:sym typeface="Cambria"/>
              </a:rPr>
              <a:t> / </a:t>
            </a:r>
            <a:r>
              <a:rPr b="0" i="1" lang="en-US" sz="2200" u="none" cap="none" strike="noStrike">
                <a:solidFill>
                  <a:schemeClr val="dk1"/>
                </a:solidFill>
                <a:latin typeface="Cambria"/>
                <a:ea typeface="Cambria"/>
                <a:cs typeface="Cambria"/>
                <a:sym typeface="Cambria"/>
              </a:rPr>
              <a:t>B</a:t>
            </a:r>
            <a:endParaRPr b="0" i="0" sz="2200" u="none" cap="none" strike="noStrike">
              <a:solidFill>
                <a:schemeClr val="dk1"/>
              </a:solidFill>
              <a:latin typeface="Calibri"/>
              <a:ea typeface="Calibri"/>
              <a:cs typeface="Calibri"/>
              <a:sym typeface="Calibri"/>
            </a:endParaRPr>
          </a:p>
        </p:txBody>
      </p:sp>
      <p:sp>
        <p:nvSpPr>
          <p:cNvPr id="199" name="Google Shape;199;p10"/>
          <p:cNvSpPr txBox="1"/>
          <p:nvPr/>
        </p:nvSpPr>
        <p:spPr>
          <a:xfrm>
            <a:off x="5062500" y="4443225"/>
            <a:ext cx="35100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4"/>
              </a:buClr>
              <a:buSzPts val="1200"/>
              <a:buFont typeface="Calibri"/>
              <a:buNone/>
            </a:pPr>
            <a:r>
              <a:rPr i="0" lang="en-US" sz="1900" u="none" cap="none" strike="noStrike">
                <a:solidFill>
                  <a:srgbClr val="A64D79"/>
                </a:solidFill>
                <a:latin typeface="Georgia"/>
                <a:ea typeface="Georgia"/>
                <a:cs typeface="Georgia"/>
                <a:sym typeface="Georgia"/>
              </a:rPr>
              <a:t>communication: </a:t>
            </a:r>
            <a:endParaRPr i="0" sz="1900" u="none" cap="none" strike="noStrike">
              <a:solidFill>
                <a:srgbClr val="A64D79"/>
              </a:solidFill>
              <a:latin typeface="Georgia"/>
              <a:ea typeface="Georgia"/>
              <a:cs typeface="Georgia"/>
              <a:sym typeface="Georgia"/>
            </a:endParaRPr>
          </a:p>
          <a:p>
            <a:pPr indent="0" lvl="0" marL="0" marR="0" rtl="0" algn="ctr">
              <a:spcBef>
                <a:spcPts val="0"/>
              </a:spcBef>
              <a:spcAft>
                <a:spcPts val="0"/>
              </a:spcAft>
              <a:buClr>
                <a:schemeClr val="accent4"/>
              </a:buClr>
              <a:buSzPts val="1200"/>
              <a:buFont typeface="Calibri"/>
              <a:buNone/>
            </a:pPr>
            <a:r>
              <a:rPr i="0" lang="en-US" sz="1900" u="none" cap="none" strike="noStrike">
                <a:solidFill>
                  <a:srgbClr val="A64D79"/>
                </a:solidFill>
                <a:latin typeface="Georgia"/>
                <a:ea typeface="Georgia"/>
                <a:cs typeface="Georgia"/>
                <a:sym typeface="Georgia"/>
              </a:rPr>
              <a:t>payload size over bandwidth</a:t>
            </a:r>
            <a:endParaRPr i="0" sz="1900" u="none" cap="none" strike="noStrike">
              <a:solidFill>
                <a:srgbClr val="A64D79"/>
              </a:solidFill>
              <a:latin typeface="Georgia"/>
              <a:ea typeface="Georgia"/>
              <a:cs typeface="Georgia"/>
              <a:sym typeface="Georgia"/>
            </a:endParaRPr>
          </a:p>
        </p:txBody>
      </p:sp>
      <p:cxnSp>
        <p:nvCxnSpPr>
          <p:cNvPr id="200" name="Google Shape;200;p10"/>
          <p:cNvCxnSpPr/>
          <p:nvPr/>
        </p:nvCxnSpPr>
        <p:spPr>
          <a:xfrm>
            <a:off x="8860536" y="3858014"/>
            <a:ext cx="2514600" cy="0"/>
          </a:xfrm>
          <a:prstGeom prst="straightConnector1">
            <a:avLst/>
          </a:prstGeom>
          <a:noFill/>
          <a:ln cap="flat" cmpd="sng" w="50800">
            <a:solidFill>
              <a:schemeClr val="accent3"/>
            </a:solidFill>
            <a:prstDash val="solid"/>
            <a:round/>
            <a:headEnd len="sm" w="sm" type="none"/>
            <a:tailEnd len="sm" w="sm" type="none"/>
          </a:ln>
        </p:spPr>
      </p:cxnSp>
      <p:sp>
        <p:nvSpPr>
          <p:cNvPr id="201" name="Google Shape;201;p10"/>
          <p:cNvSpPr txBox="1"/>
          <p:nvPr/>
        </p:nvSpPr>
        <p:spPr>
          <a:xfrm>
            <a:off x="8860536" y="3967742"/>
            <a:ext cx="2514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200"/>
              <a:buFont typeface="Cambria"/>
              <a:buNone/>
            </a:pPr>
            <a:r>
              <a:rPr b="0" i="1" lang="en-US" sz="2200" u="none" cap="none" strike="noStrike">
                <a:solidFill>
                  <a:schemeClr val="dk1"/>
                </a:solidFill>
                <a:latin typeface="Cambria"/>
                <a:ea typeface="Cambria"/>
                <a:cs typeface="Cambria"/>
                <a:sym typeface="Cambria"/>
              </a:rPr>
              <a:t>T</a:t>
            </a:r>
            <a:r>
              <a:rPr b="0" baseline="-25000" i="0" lang="en-US" sz="2200" u="none" cap="none" strike="noStrike">
                <a:solidFill>
                  <a:schemeClr val="dk1"/>
                </a:solidFill>
                <a:latin typeface="Cambria"/>
                <a:ea typeface="Cambria"/>
                <a:cs typeface="Cambria"/>
                <a:sym typeface="Cambria"/>
              </a:rPr>
              <a:t>server</a:t>
            </a:r>
            <a:endParaRPr b="0" i="0" sz="2200" u="none" cap="none" strike="noStrike">
              <a:solidFill>
                <a:schemeClr val="dk1"/>
              </a:solidFill>
              <a:latin typeface="Calibri"/>
              <a:ea typeface="Calibri"/>
              <a:cs typeface="Calibri"/>
              <a:sym typeface="Calibri"/>
            </a:endParaRPr>
          </a:p>
        </p:txBody>
      </p:sp>
      <p:sp>
        <p:nvSpPr>
          <p:cNvPr id="202" name="Google Shape;202;p10"/>
          <p:cNvSpPr txBox="1"/>
          <p:nvPr/>
        </p:nvSpPr>
        <p:spPr>
          <a:xfrm>
            <a:off x="8860536" y="4443230"/>
            <a:ext cx="2514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200"/>
              <a:buFont typeface="Calibri"/>
              <a:buNone/>
            </a:pPr>
            <a:r>
              <a:rPr i="0" lang="en-US" sz="1900" u="none" cap="none" strike="noStrike">
                <a:solidFill>
                  <a:schemeClr val="accent3"/>
                </a:solidFill>
                <a:latin typeface="Georgia"/>
                <a:ea typeface="Georgia"/>
                <a:cs typeface="Georgia"/>
                <a:sym typeface="Georgia"/>
              </a:rPr>
              <a:t>server reasoning</a:t>
            </a:r>
            <a:endParaRPr i="0" sz="1900" u="none" cap="none" strike="noStrike">
              <a:solidFill>
                <a:schemeClr val="accent3"/>
              </a:solidFill>
              <a:latin typeface="Georgia"/>
              <a:ea typeface="Georgia"/>
              <a:cs typeface="Georgia"/>
              <a:sym typeface="Georgia"/>
            </a:endParaRPr>
          </a:p>
        </p:txBody>
      </p:sp>
      <p:sp>
        <p:nvSpPr>
          <p:cNvPr id="203" name="Google Shape;203;p10"/>
          <p:cNvSpPr/>
          <p:nvPr/>
        </p:nvSpPr>
        <p:spPr>
          <a:xfrm>
            <a:off x="813825" y="5137449"/>
            <a:ext cx="10561200" cy="933000"/>
          </a:xfrm>
          <a:prstGeom prst="roundRect">
            <a:avLst>
              <a:gd fmla="val 9302" name="adj"/>
            </a:avLst>
          </a:prstGeom>
          <a:solidFill>
            <a:schemeClr val="lt1"/>
          </a:solidFill>
          <a:ln cap="flat" cmpd="sng" w="1905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CFE2F3"/>
              </a:highlight>
            </a:endParaRPr>
          </a:p>
        </p:txBody>
      </p:sp>
      <p:sp>
        <p:nvSpPr>
          <p:cNvPr id="204" name="Google Shape;204;p10"/>
          <p:cNvSpPr txBox="1"/>
          <p:nvPr/>
        </p:nvSpPr>
        <p:spPr>
          <a:xfrm>
            <a:off x="1042416" y="5168179"/>
            <a:ext cx="3383400" cy="78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Cambria"/>
              <a:buNone/>
            </a:pPr>
            <a:r>
              <a:rPr b="1" i="1" lang="en-US" sz="2200" u="none" cap="none" strike="noStrike">
                <a:solidFill>
                  <a:schemeClr val="accent3"/>
                </a:solidFill>
                <a:latin typeface="Times New Roman"/>
                <a:ea typeface="Times New Roman"/>
                <a:cs typeface="Times New Roman"/>
                <a:sym typeface="Times New Roman"/>
              </a:rPr>
              <a:t>T</a:t>
            </a:r>
            <a:r>
              <a:rPr b="1" baseline="-25000" i="0" lang="en-US" sz="2200" u="none" cap="none" strike="noStrike">
                <a:solidFill>
                  <a:schemeClr val="accent3"/>
                </a:solidFill>
                <a:latin typeface="Times New Roman"/>
                <a:ea typeface="Times New Roman"/>
                <a:cs typeface="Times New Roman"/>
                <a:sym typeface="Times New Roman"/>
              </a:rPr>
              <a:t>total</a:t>
            </a:r>
            <a:r>
              <a:rPr b="1" i="0" lang="en-US" sz="2200" u="none" cap="none" strike="noStrike">
                <a:solidFill>
                  <a:schemeClr val="accent3"/>
                </a:solidFill>
                <a:latin typeface="Times New Roman"/>
                <a:ea typeface="Times New Roman"/>
                <a:cs typeface="Times New Roman"/>
                <a:sym typeface="Times New Roman"/>
              </a:rPr>
              <a:t> = </a:t>
            </a:r>
            <a:r>
              <a:rPr b="1" i="1" lang="en-US" sz="2200" u="none" cap="none" strike="noStrike">
                <a:solidFill>
                  <a:schemeClr val="accent3"/>
                </a:solidFill>
                <a:latin typeface="Times New Roman"/>
                <a:ea typeface="Times New Roman"/>
                <a:cs typeface="Times New Roman"/>
                <a:sym typeface="Times New Roman"/>
              </a:rPr>
              <a:t>T</a:t>
            </a:r>
            <a:r>
              <a:rPr b="1" baseline="-25000" i="0" lang="en-US" sz="2200" u="none" cap="none" strike="noStrike">
                <a:solidFill>
                  <a:schemeClr val="accent3"/>
                </a:solidFill>
                <a:latin typeface="Times New Roman"/>
                <a:ea typeface="Times New Roman"/>
                <a:cs typeface="Times New Roman"/>
                <a:sym typeface="Times New Roman"/>
              </a:rPr>
              <a:t>edge</a:t>
            </a:r>
            <a:r>
              <a:rPr b="1" i="0" lang="en-US" sz="2200" u="none" cap="none" strike="noStrike">
                <a:solidFill>
                  <a:schemeClr val="accent3"/>
                </a:solidFill>
                <a:latin typeface="Times New Roman"/>
                <a:ea typeface="Times New Roman"/>
                <a:cs typeface="Times New Roman"/>
                <a:sym typeface="Times New Roman"/>
              </a:rPr>
              <a:t> + </a:t>
            </a:r>
            <a:r>
              <a:rPr b="1" i="1" lang="en-US" sz="2200" u="none" cap="none" strike="noStrike">
                <a:solidFill>
                  <a:schemeClr val="accent3"/>
                </a:solidFill>
                <a:latin typeface="Times New Roman"/>
                <a:ea typeface="Times New Roman"/>
                <a:cs typeface="Times New Roman"/>
                <a:sym typeface="Times New Roman"/>
              </a:rPr>
              <a:t>T</a:t>
            </a:r>
            <a:r>
              <a:rPr b="1" baseline="-25000" i="0" lang="en-US" sz="2200" u="none" cap="none" strike="noStrike">
                <a:solidFill>
                  <a:schemeClr val="accent3"/>
                </a:solidFill>
                <a:latin typeface="Times New Roman"/>
                <a:ea typeface="Times New Roman"/>
                <a:cs typeface="Times New Roman"/>
                <a:sym typeface="Times New Roman"/>
              </a:rPr>
              <a:t>comm</a:t>
            </a:r>
            <a:r>
              <a:rPr b="1" i="0" lang="en-US" sz="2200" u="none" cap="none" strike="noStrike">
                <a:solidFill>
                  <a:schemeClr val="accent3"/>
                </a:solidFill>
                <a:latin typeface="Times New Roman"/>
                <a:ea typeface="Times New Roman"/>
                <a:cs typeface="Times New Roman"/>
                <a:sym typeface="Times New Roman"/>
              </a:rPr>
              <a:t> + </a:t>
            </a:r>
            <a:r>
              <a:rPr b="1" i="1" lang="en-US" sz="2200" u="none" cap="none" strike="noStrike">
                <a:solidFill>
                  <a:schemeClr val="accent3"/>
                </a:solidFill>
                <a:latin typeface="Times New Roman"/>
                <a:ea typeface="Times New Roman"/>
                <a:cs typeface="Times New Roman"/>
                <a:sym typeface="Times New Roman"/>
              </a:rPr>
              <a:t>T</a:t>
            </a:r>
            <a:r>
              <a:rPr b="1" baseline="-25000" i="0" lang="en-US" sz="2200" u="none" cap="none" strike="noStrike">
                <a:solidFill>
                  <a:schemeClr val="accent3"/>
                </a:solidFill>
                <a:latin typeface="Times New Roman"/>
                <a:ea typeface="Times New Roman"/>
                <a:cs typeface="Times New Roman"/>
                <a:sym typeface="Times New Roman"/>
              </a:rPr>
              <a:t>server</a:t>
            </a:r>
            <a:endParaRPr b="1" i="0" sz="2200" u="none" cap="none" strike="noStrike">
              <a:solidFill>
                <a:schemeClr val="accent3"/>
              </a:solidFill>
              <a:latin typeface="Times New Roman"/>
              <a:ea typeface="Times New Roman"/>
              <a:cs typeface="Times New Roman"/>
              <a:sym typeface="Times New Roman"/>
            </a:endParaRPr>
          </a:p>
        </p:txBody>
      </p:sp>
      <p:sp>
        <p:nvSpPr>
          <p:cNvPr id="205" name="Google Shape;205;p10"/>
          <p:cNvSpPr txBox="1"/>
          <p:nvPr/>
        </p:nvSpPr>
        <p:spPr>
          <a:xfrm>
            <a:off x="4608575" y="5168175"/>
            <a:ext cx="6685800" cy="78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i="0" lang="en-US" sz="1800" u="none" cap="none" strike="noStrike">
                <a:solidFill>
                  <a:schemeClr val="dk1"/>
                </a:solidFill>
                <a:latin typeface="Times New Roman"/>
                <a:ea typeface="Times New Roman"/>
                <a:cs typeface="Times New Roman"/>
                <a:sym typeface="Times New Roman"/>
              </a:rPr>
              <a:t>When </a:t>
            </a:r>
            <a:r>
              <a:rPr i="1" lang="en-US" sz="1800" u="none" cap="none" strike="noStrike">
                <a:solidFill>
                  <a:schemeClr val="dk1"/>
                </a:solidFill>
                <a:latin typeface="Times New Roman"/>
                <a:ea typeface="Times New Roman"/>
                <a:cs typeface="Times New Roman"/>
                <a:sym typeface="Times New Roman"/>
              </a:rPr>
              <a:t>B</a:t>
            </a:r>
            <a:r>
              <a:rPr i="0" lang="en-US" sz="1800" u="none" cap="none" strike="noStrike">
                <a:solidFill>
                  <a:schemeClr val="dk1"/>
                </a:solidFill>
                <a:latin typeface="Times New Roman"/>
                <a:ea typeface="Times New Roman"/>
                <a:cs typeface="Times New Roman"/>
                <a:sym typeface="Times New Roman"/>
              </a:rPr>
              <a:t> is small </a:t>
            </a:r>
            <a:r>
              <a:rPr lang="en-US" sz="1800">
                <a:solidFill>
                  <a:schemeClr val="dk1"/>
                </a:solidFill>
                <a:latin typeface="Times New Roman"/>
                <a:ea typeface="Times New Roman"/>
                <a:cs typeface="Times New Roman"/>
                <a:sym typeface="Times New Roman"/>
              </a:rPr>
              <a:t>relative</a:t>
            </a:r>
            <a:r>
              <a:rPr i="0" lang="en-US" sz="1800" u="none" cap="none" strike="noStrike">
                <a:solidFill>
                  <a:schemeClr val="dk1"/>
                </a:solidFill>
                <a:latin typeface="Times New Roman"/>
                <a:ea typeface="Times New Roman"/>
                <a:cs typeface="Times New Roman"/>
                <a:sym typeface="Times New Roman"/>
              </a:rPr>
              <a:t> to payloa</a:t>
            </a:r>
            <a:r>
              <a:rPr lang="en-US" sz="1800">
                <a:solidFill>
                  <a:schemeClr val="dk1"/>
                </a:solidFill>
                <a:latin typeface="Times New Roman"/>
                <a:ea typeface="Times New Roman"/>
                <a:cs typeface="Times New Roman"/>
                <a:sym typeface="Times New Roman"/>
              </a:rPr>
              <a:t>d</a:t>
            </a:r>
            <a:r>
              <a:rPr i="0" lang="en-US" sz="1800" u="none" cap="none" strike="noStrike">
                <a:solidFill>
                  <a:schemeClr val="dk1"/>
                </a:solidFill>
                <a:latin typeface="Times New Roman"/>
                <a:ea typeface="Times New Roman"/>
                <a:cs typeface="Times New Roman"/>
                <a:sym typeface="Times New Roman"/>
              </a:rPr>
              <a:t>, communication dominates.</a:t>
            </a:r>
            <a:br>
              <a:rPr lang="en-US" sz="1800">
                <a:solidFill>
                  <a:schemeClr val="dk1"/>
                </a:solidFill>
                <a:latin typeface="Times New Roman"/>
                <a:ea typeface="Times New Roman"/>
                <a:cs typeface="Times New Roman"/>
                <a:sym typeface="Times New Roman"/>
              </a:rPr>
            </a:br>
            <a:r>
              <a:rPr i="0" lang="en-US" sz="1800" u="none" cap="none" strike="noStrike">
                <a:solidFill>
                  <a:schemeClr val="dk1"/>
                </a:solidFill>
                <a:latin typeface="Times New Roman"/>
                <a:ea typeface="Times New Roman"/>
                <a:cs typeface="Times New Roman"/>
                <a:sym typeface="Times New Roman"/>
              </a:rPr>
              <a:t>The lever is the </a:t>
            </a:r>
            <a:r>
              <a:rPr b="1" i="0" lang="en-US" sz="1800" u="none" cap="none" strike="noStrike">
                <a:solidFill>
                  <a:schemeClr val="dk1"/>
                </a:solidFill>
                <a:latin typeface="Times New Roman"/>
                <a:ea typeface="Times New Roman"/>
                <a:cs typeface="Times New Roman"/>
                <a:sym typeface="Times New Roman"/>
              </a:rPr>
              <a:t>payload size </a:t>
            </a:r>
            <a:r>
              <a:rPr b="1" i="1" lang="en-US" sz="1800" u="none" cap="none" strike="noStrike">
                <a:solidFill>
                  <a:schemeClr val="dk1"/>
                </a:solidFill>
                <a:latin typeface="Times New Roman"/>
                <a:ea typeface="Times New Roman"/>
                <a:cs typeface="Times New Roman"/>
                <a:sym typeface="Times New Roman"/>
              </a:rPr>
              <a:t>S</a:t>
            </a:r>
            <a:r>
              <a:rPr b="1" baseline="-25000" i="0" lang="en-US" sz="1800" u="none" cap="none" strike="noStrike">
                <a:solidFill>
                  <a:schemeClr val="dk1"/>
                </a:solidFill>
                <a:latin typeface="Times New Roman"/>
                <a:ea typeface="Times New Roman"/>
                <a:cs typeface="Times New Roman"/>
                <a:sym typeface="Times New Roman"/>
              </a:rPr>
              <a:t>tx</a:t>
            </a:r>
            <a:r>
              <a:rPr i="0" lang="en-US" sz="1800" u="none" cap="none" strike="noStrike">
                <a:solidFill>
                  <a:schemeClr val="dk1"/>
                </a:solidFill>
                <a:latin typeface="Times New Roman"/>
                <a:ea typeface="Times New Roman"/>
                <a:cs typeface="Times New Roman"/>
                <a:sym typeface="Times New Roman"/>
              </a:rPr>
              <a:t>: shrink it without losing task-relevant information.</a:t>
            </a:r>
            <a:endParaRPr i="0" sz="1800" u="none" cap="none" strike="noStrike">
              <a:solidFill>
                <a:schemeClr val="dk1"/>
              </a:solidFill>
              <a:latin typeface="Times New Roman"/>
              <a:ea typeface="Times New Roman"/>
              <a:cs typeface="Times New Roman"/>
              <a:sym typeface="Times New Roman"/>
            </a:endParaRPr>
          </a:p>
        </p:txBody>
      </p:sp>
      <p:sp>
        <p:nvSpPr>
          <p:cNvPr id="206" name="Google Shape;206;p10"/>
          <p:cNvSpPr/>
          <p:nvPr/>
        </p:nvSpPr>
        <p:spPr>
          <a:xfrm>
            <a:off x="0" y="0"/>
            <a:ext cx="304800" cy="68580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
          <p:cNvSpPr/>
          <p:nvPr/>
        </p:nvSpPr>
        <p:spPr>
          <a:xfrm>
            <a:off x="1117589" y="533353"/>
            <a:ext cx="762000" cy="507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
          <p:cNvSpPr txBox="1"/>
          <p:nvPr>
            <p:ph type="title"/>
          </p:nvPr>
        </p:nvSpPr>
        <p:spPr>
          <a:xfrm>
            <a:off x="811200" y="676000"/>
            <a:ext cx="10569600" cy="7863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3A5F"/>
              </a:buClr>
              <a:buSzPts val="3600"/>
              <a:buFont typeface="Georgia"/>
              <a:buNone/>
            </a:pPr>
            <a:r>
              <a:rPr lang="en-US">
                <a:latin typeface="Georgia"/>
                <a:ea typeface="Georgia"/>
                <a:cs typeface="Georgia"/>
                <a:sym typeface="Georgia"/>
              </a:rPr>
              <a:t>System Model</a:t>
            </a:r>
            <a:endParaRPr sz="3600">
              <a:latin typeface="Georgia"/>
              <a:ea typeface="Georgia"/>
              <a:cs typeface="Georgia"/>
              <a:sym typeface="Georgia"/>
            </a:endParaRPr>
          </a:p>
        </p:txBody>
      </p:sp>
      <p:sp>
        <p:nvSpPr>
          <p:cNvPr id="209" name="Google Shape;209;p10"/>
          <p:cNvSpPr/>
          <p:nvPr/>
        </p:nvSpPr>
        <p:spPr>
          <a:xfrm>
            <a:off x="304767" y="6299178"/>
            <a:ext cx="11887200" cy="5589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
          <p:cNvSpPr/>
          <p:nvPr/>
        </p:nvSpPr>
        <p:spPr>
          <a:xfrm>
            <a:off x="1117534" y="6471872"/>
            <a:ext cx="955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Introduction</a:t>
            </a:r>
            <a:endParaRPr b="0" i="0" sz="1200" u="none" cap="none" strike="noStrike">
              <a:solidFill>
                <a:schemeClr val="dk1"/>
              </a:solidFill>
              <a:latin typeface="Arial"/>
              <a:ea typeface="Arial"/>
              <a:cs typeface="Arial"/>
              <a:sym typeface="Arial"/>
            </a:endParaRPr>
          </a:p>
        </p:txBody>
      </p:sp>
      <p:sp>
        <p:nvSpPr>
          <p:cNvPr id="211" name="Google Shape;211;p10"/>
          <p:cNvSpPr/>
          <p:nvPr/>
        </p:nvSpPr>
        <p:spPr>
          <a:xfrm>
            <a:off x="2218531" y="6471872"/>
            <a:ext cx="975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Framework</a:t>
            </a:r>
            <a:endParaRPr b="0" i="0" sz="1200" u="none" cap="none" strike="noStrike">
              <a:solidFill>
                <a:schemeClr val="dk1"/>
              </a:solidFill>
              <a:latin typeface="Arial"/>
              <a:ea typeface="Arial"/>
              <a:cs typeface="Arial"/>
              <a:sym typeface="Arial"/>
            </a:endParaRPr>
          </a:p>
        </p:txBody>
      </p:sp>
      <p:sp>
        <p:nvSpPr>
          <p:cNvPr id="212" name="Google Shape;212;p10"/>
          <p:cNvSpPr/>
          <p:nvPr/>
        </p:nvSpPr>
        <p:spPr>
          <a:xfrm>
            <a:off x="3336286" y="6471872"/>
            <a:ext cx="660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Solution</a:t>
            </a:r>
            <a:endParaRPr b="0" i="0" sz="1200" u="none" cap="none" strike="noStrike">
              <a:solidFill>
                <a:schemeClr val="dk1"/>
              </a:solidFill>
              <a:latin typeface="Arial"/>
              <a:ea typeface="Arial"/>
              <a:cs typeface="Arial"/>
              <a:sym typeface="Arial"/>
            </a:endParaRPr>
          </a:p>
        </p:txBody>
      </p:sp>
      <p:sp>
        <p:nvSpPr>
          <p:cNvPr id="213" name="Google Shape;213;p10"/>
          <p:cNvSpPr/>
          <p:nvPr/>
        </p:nvSpPr>
        <p:spPr>
          <a:xfrm>
            <a:off x="4191717" y="6471872"/>
            <a:ext cx="8538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Evaluation</a:t>
            </a:r>
            <a:endParaRPr b="0" i="0" sz="1200" u="none" cap="none" strike="noStrike">
              <a:solidFill>
                <a:schemeClr val="dk1"/>
              </a:solidFill>
              <a:latin typeface="Arial"/>
              <a:ea typeface="Arial"/>
              <a:cs typeface="Arial"/>
              <a:sym typeface="Arial"/>
            </a:endParaRPr>
          </a:p>
        </p:txBody>
      </p:sp>
      <p:sp>
        <p:nvSpPr>
          <p:cNvPr id="214" name="Google Shape;214;p10"/>
          <p:cNvSpPr/>
          <p:nvPr/>
        </p:nvSpPr>
        <p:spPr>
          <a:xfrm>
            <a:off x="5208048" y="6471872"/>
            <a:ext cx="904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Conclusion</a:t>
            </a:r>
            <a:endParaRPr b="0" i="0" sz="1200" u="none" cap="none" strike="noStrike">
              <a:solidFill>
                <a:schemeClr val="dk1"/>
              </a:solidFill>
              <a:latin typeface="Arial"/>
              <a:ea typeface="Arial"/>
              <a:cs typeface="Arial"/>
              <a:sym typeface="Arial"/>
            </a:endParaRPr>
          </a:p>
        </p:txBody>
      </p:sp>
      <p:sp>
        <p:nvSpPr>
          <p:cNvPr id="215" name="Google Shape;215;p10"/>
          <p:cNvSpPr/>
          <p:nvPr/>
        </p:nvSpPr>
        <p:spPr>
          <a:xfrm>
            <a:off x="6266657" y="6471872"/>
            <a:ext cx="965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Future work</a:t>
            </a:r>
            <a:endParaRPr b="0" i="0" sz="1200" u="none" cap="none" strike="noStrike">
              <a:solidFill>
                <a:schemeClr val="dk1"/>
              </a:solidFill>
              <a:latin typeface="Arial"/>
              <a:ea typeface="Arial"/>
              <a:cs typeface="Arial"/>
              <a:sym typeface="Arial"/>
            </a:endParaRPr>
          </a:p>
        </p:txBody>
      </p:sp>
      <p:sp>
        <p:nvSpPr>
          <p:cNvPr id="216" name="Google Shape;216;p10"/>
          <p:cNvSpPr/>
          <p:nvPr/>
        </p:nvSpPr>
        <p:spPr>
          <a:xfrm>
            <a:off x="11209680" y="6471872"/>
            <a:ext cx="2202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lang="en-US" sz="1200">
                <a:solidFill>
                  <a:srgbClr val="FFFFFF"/>
                </a:solidFill>
              </a:rPr>
              <a:t>5</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sp>
        <p:nvSpPr>
          <p:cNvPr id="222" name="Google Shape;222;p11"/>
          <p:cNvSpPr/>
          <p:nvPr/>
        </p:nvSpPr>
        <p:spPr>
          <a:xfrm>
            <a:off x="0" y="0"/>
            <a:ext cx="304800" cy="68580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1"/>
          <p:cNvSpPr/>
          <p:nvPr/>
        </p:nvSpPr>
        <p:spPr>
          <a:xfrm>
            <a:off x="1117589" y="533357"/>
            <a:ext cx="762000" cy="507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1"/>
          <p:cNvSpPr txBox="1"/>
          <p:nvPr>
            <p:ph type="title"/>
          </p:nvPr>
        </p:nvSpPr>
        <p:spPr>
          <a:xfrm>
            <a:off x="1117589" y="762000"/>
            <a:ext cx="10569600" cy="959700"/>
          </a:xfrm>
          <a:prstGeom prst="rect">
            <a:avLst/>
          </a:prstGeom>
          <a:noFill/>
          <a:ln>
            <a:noFill/>
          </a:ln>
        </p:spPr>
        <p:txBody>
          <a:bodyPr anchorCtr="0" anchor="t" bIns="0" lIns="0" spcFirstLastPara="1" rIns="0" wrap="square" tIns="0">
            <a:normAutofit/>
          </a:bodyPr>
          <a:lstStyle/>
          <a:p>
            <a:pPr indent="0" lvl="0" marL="0" rtl="0" algn="l">
              <a:lnSpc>
                <a:spcPct val="109997"/>
              </a:lnSpc>
              <a:spcBef>
                <a:spcPts val="0"/>
              </a:spcBef>
              <a:spcAft>
                <a:spcPts val="0"/>
              </a:spcAft>
              <a:buClr>
                <a:srgbClr val="1F3A5F"/>
              </a:buClr>
              <a:buSzPts val="3341"/>
              <a:buFont typeface="Georgia"/>
              <a:buNone/>
            </a:pPr>
            <a:r>
              <a:rPr b="1" lang="en-US" sz="3241"/>
              <a:t>EMMI Framework</a:t>
            </a:r>
            <a:endParaRPr sz="3241"/>
          </a:p>
        </p:txBody>
      </p:sp>
      <p:pic>
        <p:nvPicPr>
          <p:cNvPr descr="EMMI pipeline. On the device: multimodal data (text, audio, image) go through modality encoders, cross-modal fusion, and task-agnostic or task-aware autoencoder compression. The compressed representation is transferred to the server, which decompresses it and feeds a multimodal LLM." id="225" name="Google Shape;225;p11"/>
          <p:cNvPicPr preferRelativeResize="0"/>
          <p:nvPr/>
        </p:nvPicPr>
        <p:blipFill rotWithShape="1">
          <a:blip r:embed="rId3">
            <a:alphaModFix/>
          </a:blip>
          <a:srcRect b="0" l="-4019" r="-4019" t="0"/>
          <a:stretch/>
        </p:blipFill>
        <p:spPr>
          <a:xfrm>
            <a:off x="511649" y="1434525"/>
            <a:ext cx="11826000" cy="3382251"/>
          </a:xfrm>
          <a:prstGeom prst="rect">
            <a:avLst/>
          </a:prstGeom>
          <a:noFill/>
          <a:ln>
            <a:noFill/>
          </a:ln>
        </p:spPr>
      </p:pic>
      <p:sp>
        <p:nvSpPr>
          <p:cNvPr id="226" name="Google Shape;226;p11"/>
          <p:cNvSpPr/>
          <p:nvPr/>
        </p:nvSpPr>
        <p:spPr>
          <a:xfrm>
            <a:off x="304767" y="6299178"/>
            <a:ext cx="11887200" cy="5589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a:off x="1117534" y="6471875"/>
            <a:ext cx="955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Introduction</a:t>
            </a:r>
            <a:endParaRPr b="0" i="0" sz="1200" u="none" cap="none" strike="noStrike">
              <a:solidFill>
                <a:schemeClr val="dk1"/>
              </a:solidFill>
              <a:latin typeface="Arial"/>
              <a:ea typeface="Arial"/>
              <a:cs typeface="Arial"/>
              <a:sym typeface="Arial"/>
            </a:endParaRPr>
          </a:p>
        </p:txBody>
      </p:sp>
      <p:sp>
        <p:nvSpPr>
          <p:cNvPr id="228" name="Google Shape;228;p11"/>
          <p:cNvSpPr/>
          <p:nvPr/>
        </p:nvSpPr>
        <p:spPr>
          <a:xfrm>
            <a:off x="2218531" y="6471875"/>
            <a:ext cx="975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Framework</a:t>
            </a:r>
            <a:endParaRPr b="0" i="0" sz="1200" u="none" cap="none" strike="noStrike">
              <a:solidFill>
                <a:schemeClr val="dk1"/>
              </a:solidFill>
              <a:latin typeface="Arial"/>
              <a:ea typeface="Arial"/>
              <a:cs typeface="Arial"/>
              <a:sym typeface="Arial"/>
            </a:endParaRPr>
          </a:p>
        </p:txBody>
      </p:sp>
      <p:sp>
        <p:nvSpPr>
          <p:cNvPr id="229" name="Google Shape;229;p11"/>
          <p:cNvSpPr/>
          <p:nvPr/>
        </p:nvSpPr>
        <p:spPr>
          <a:xfrm>
            <a:off x="3336286" y="6471875"/>
            <a:ext cx="660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Solution</a:t>
            </a:r>
            <a:endParaRPr b="0" i="0" sz="1200" u="none" cap="none" strike="noStrike">
              <a:solidFill>
                <a:schemeClr val="dk1"/>
              </a:solidFill>
              <a:latin typeface="Arial"/>
              <a:ea typeface="Arial"/>
              <a:cs typeface="Arial"/>
              <a:sym typeface="Arial"/>
            </a:endParaRPr>
          </a:p>
        </p:txBody>
      </p:sp>
      <p:sp>
        <p:nvSpPr>
          <p:cNvPr id="230" name="Google Shape;230;p11"/>
          <p:cNvSpPr/>
          <p:nvPr/>
        </p:nvSpPr>
        <p:spPr>
          <a:xfrm>
            <a:off x="4191717" y="6471875"/>
            <a:ext cx="8538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Evaluation</a:t>
            </a:r>
            <a:endParaRPr b="0" i="0" sz="1200" u="none" cap="none" strike="noStrike">
              <a:solidFill>
                <a:schemeClr val="dk1"/>
              </a:solidFill>
              <a:latin typeface="Arial"/>
              <a:ea typeface="Arial"/>
              <a:cs typeface="Arial"/>
              <a:sym typeface="Arial"/>
            </a:endParaRPr>
          </a:p>
        </p:txBody>
      </p:sp>
      <p:sp>
        <p:nvSpPr>
          <p:cNvPr id="231" name="Google Shape;231;p11"/>
          <p:cNvSpPr/>
          <p:nvPr/>
        </p:nvSpPr>
        <p:spPr>
          <a:xfrm>
            <a:off x="5208048" y="6471875"/>
            <a:ext cx="904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Conclusion</a:t>
            </a:r>
            <a:endParaRPr b="0" i="0" sz="1200" u="none" cap="none" strike="noStrike">
              <a:solidFill>
                <a:schemeClr val="dk1"/>
              </a:solidFill>
              <a:latin typeface="Arial"/>
              <a:ea typeface="Arial"/>
              <a:cs typeface="Arial"/>
              <a:sym typeface="Arial"/>
            </a:endParaRPr>
          </a:p>
        </p:txBody>
      </p:sp>
      <p:sp>
        <p:nvSpPr>
          <p:cNvPr id="232" name="Google Shape;232;p11"/>
          <p:cNvSpPr/>
          <p:nvPr/>
        </p:nvSpPr>
        <p:spPr>
          <a:xfrm>
            <a:off x="6266657" y="6471875"/>
            <a:ext cx="965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Future work</a:t>
            </a:r>
            <a:endParaRPr b="0" i="0" sz="1200" u="none" cap="none" strike="noStrike">
              <a:solidFill>
                <a:schemeClr val="dk1"/>
              </a:solidFill>
              <a:latin typeface="Arial"/>
              <a:ea typeface="Arial"/>
              <a:cs typeface="Arial"/>
              <a:sym typeface="Arial"/>
            </a:endParaRPr>
          </a:p>
        </p:txBody>
      </p:sp>
      <p:sp>
        <p:nvSpPr>
          <p:cNvPr id="233" name="Google Shape;233;p11"/>
          <p:cNvSpPr/>
          <p:nvPr/>
        </p:nvSpPr>
        <p:spPr>
          <a:xfrm>
            <a:off x="11209680" y="6471875"/>
            <a:ext cx="2202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lang="en-US" sz="1200">
                <a:solidFill>
                  <a:srgbClr val="FFFFFF"/>
                </a:solidFill>
              </a:rPr>
              <a:t>6</a:t>
            </a:r>
            <a:endParaRPr b="0" i="0" sz="1200" u="none" cap="none" strike="noStrike">
              <a:solidFill>
                <a:schemeClr val="dk1"/>
              </a:solidFill>
              <a:latin typeface="Arial"/>
              <a:ea typeface="Arial"/>
              <a:cs typeface="Arial"/>
              <a:sym typeface="Arial"/>
            </a:endParaRPr>
          </a:p>
        </p:txBody>
      </p:sp>
      <p:sp>
        <p:nvSpPr>
          <p:cNvPr id="234" name="Google Shape;234;p11"/>
          <p:cNvSpPr txBox="1"/>
          <p:nvPr/>
        </p:nvSpPr>
        <p:spPr>
          <a:xfrm>
            <a:off x="1307775" y="4499925"/>
            <a:ext cx="102807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sz="1900">
                <a:solidFill>
                  <a:srgbClr val="B45F06"/>
                </a:solidFill>
                <a:latin typeface="Times New Roman"/>
                <a:ea typeface="Times New Roman"/>
                <a:cs typeface="Times New Roman"/>
                <a:sym typeface="Times New Roman"/>
              </a:rPr>
              <a:t>Light edge:</a:t>
            </a:r>
            <a:r>
              <a:rPr lang="en-US" sz="1900">
                <a:latin typeface="Times New Roman"/>
                <a:ea typeface="Times New Roman"/>
                <a:cs typeface="Times New Roman"/>
                <a:sym typeface="Times New Roman"/>
              </a:rPr>
              <a:t> Edge runs only encoders eₘ, fusion A(·) and compressor gφ; the MLLM stays on the server</a:t>
            </a:r>
            <a:endParaRPr sz="1900">
              <a:latin typeface="Times New Roman"/>
              <a:ea typeface="Times New Roman"/>
              <a:cs typeface="Times New Roman"/>
              <a:sym typeface="Times New Roman"/>
            </a:endParaRPr>
          </a:p>
          <a:p>
            <a:pPr indent="0" lvl="0" marL="0" rtl="0" algn="l">
              <a:spcBef>
                <a:spcPts val="0"/>
              </a:spcBef>
              <a:spcAft>
                <a:spcPts val="0"/>
              </a:spcAft>
              <a:buNone/>
            </a:pPr>
            <a:r>
              <a:rPr b="1" i="1" lang="en-US" sz="1900">
                <a:solidFill>
                  <a:srgbClr val="6AA84F"/>
                </a:solidFill>
                <a:latin typeface="Times New Roman"/>
                <a:ea typeface="Times New Roman"/>
                <a:cs typeface="Times New Roman"/>
                <a:sym typeface="Times New Roman"/>
              </a:rPr>
              <a:t>Small payload:</a:t>
            </a:r>
            <a:r>
              <a:rPr lang="en-US" sz="1900">
                <a:latin typeface="Times New Roman"/>
                <a:ea typeface="Times New Roman"/>
                <a:cs typeface="Times New Roman"/>
                <a:sym typeface="Times New Roman"/>
              </a:rPr>
              <a:t> Only the latent z = gφ(f) crosses the link, with dim(z) ≪ dim(f) Link </a:t>
            </a:r>
            <a:endParaRPr sz="1900">
              <a:latin typeface="Times New Roman"/>
              <a:ea typeface="Times New Roman"/>
              <a:cs typeface="Times New Roman"/>
              <a:sym typeface="Times New Roman"/>
            </a:endParaRPr>
          </a:p>
          <a:p>
            <a:pPr indent="0" lvl="0" marL="0" rtl="0" algn="l">
              <a:spcBef>
                <a:spcPts val="0"/>
              </a:spcBef>
              <a:spcAft>
                <a:spcPts val="0"/>
              </a:spcAft>
              <a:buNone/>
            </a:pPr>
            <a:r>
              <a:rPr b="1" i="1" lang="en-US" sz="1900">
                <a:solidFill>
                  <a:srgbClr val="6AA84F"/>
                </a:solidFill>
                <a:latin typeface="Times New Roman"/>
                <a:ea typeface="Times New Roman"/>
                <a:cs typeface="Times New Roman"/>
                <a:sym typeface="Times New Roman"/>
              </a:rPr>
              <a:t>Fixed interface:</a:t>
            </a:r>
            <a:r>
              <a:rPr i="1" lang="en-US" sz="1900">
                <a:latin typeface="Times New Roman"/>
                <a:ea typeface="Times New Roman"/>
                <a:cs typeface="Times New Roman"/>
                <a:sym typeface="Times New Roman"/>
              </a:rPr>
              <a:t> </a:t>
            </a:r>
            <a:r>
              <a:rPr lang="en-US" sz="1900">
                <a:latin typeface="Times New Roman"/>
                <a:ea typeface="Times New Roman"/>
                <a:cs typeface="Times New Roman"/>
                <a:sym typeface="Times New Roman"/>
              </a:rPr>
              <a:t>Same-size z </a:t>
            </a:r>
            <a:r>
              <a:rPr lang="en-US" sz="1900">
                <a:latin typeface="Times New Roman"/>
                <a:ea typeface="Times New Roman"/>
                <a:cs typeface="Times New Roman"/>
                <a:sym typeface="Times New Roman"/>
              </a:rPr>
              <a:t>from</a:t>
            </a:r>
            <a:r>
              <a:rPr lang="en-US" sz="1900">
                <a:latin typeface="Times New Roman"/>
                <a:ea typeface="Times New Roman"/>
                <a:cs typeface="Times New Roman"/>
                <a:sym typeface="Times New Roman"/>
              </a:rPr>
              <a:t> every device</a:t>
            </a:r>
            <a:endParaRPr sz="1900">
              <a:latin typeface="Times New Roman"/>
              <a:ea typeface="Times New Roman"/>
              <a:cs typeface="Times New Roman"/>
              <a:sym typeface="Times New Roman"/>
            </a:endParaRPr>
          </a:p>
          <a:p>
            <a:pPr indent="0" lvl="0" marL="0" rtl="0" algn="l">
              <a:spcBef>
                <a:spcPts val="0"/>
              </a:spcBef>
              <a:spcAft>
                <a:spcPts val="0"/>
              </a:spcAft>
              <a:buNone/>
            </a:pPr>
            <a:r>
              <a:rPr b="1" i="1" lang="en-US" sz="1900">
                <a:solidFill>
                  <a:srgbClr val="B45F06"/>
                </a:solidFill>
                <a:latin typeface="Times New Roman"/>
                <a:ea typeface="Times New Roman"/>
                <a:cs typeface="Times New Roman"/>
                <a:sym typeface="Times New Roman"/>
              </a:rPr>
              <a:t>Raw Data Local:</a:t>
            </a:r>
            <a:r>
              <a:rPr i="1" lang="en-US" sz="1900">
                <a:solidFill>
                  <a:srgbClr val="B45F06"/>
                </a:solidFill>
                <a:latin typeface="Times New Roman"/>
                <a:ea typeface="Times New Roman"/>
                <a:cs typeface="Times New Roman"/>
                <a:sym typeface="Times New Roman"/>
              </a:rPr>
              <a:t> </a:t>
            </a:r>
            <a:r>
              <a:rPr lang="en-US" sz="1900">
                <a:latin typeface="Times New Roman"/>
                <a:ea typeface="Times New Roman"/>
                <a:cs typeface="Times New Roman"/>
                <a:sym typeface="Times New Roman"/>
              </a:rPr>
              <a:t>Observations x stay on the device; only z leaves it</a:t>
            </a:r>
            <a:endParaRPr sz="1900">
              <a:latin typeface="Times New Roman"/>
              <a:ea typeface="Times New Roman"/>
              <a:cs typeface="Times New Roman"/>
              <a:sym typeface="Times New Roman"/>
            </a:endParaRPr>
          </a:p>
        </p:txBody>
      </p:sp>
      <p:cxnSp>
        <p:nvCxnSpPr>
          <p:cNvPr id="235" name="Google Shape;235;p11"/>
          <p:cNvCxnSpPr/>
          <p:nvPr/>
        </p:nvCxnSpPr>
        <p:spPr>
          <a:xfrm>
            <a:off x="7593050" y="3539900"/>
            <a:ext cx="1194600" cy="10200"/>
          </a:xfrm>
          <a:prstGeom prst="straightConnector1">
            <a:avLst/>
          </a:prstGeom>
          <a:noFill/>
          <a:ln cap="flat" cmpd="sng" w="114300">
            <a:solidFill>
              <a:srgbClr val="6AA84F"/>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2"/>
          <p:cNvSpPr txBox="1"/>
          <p:nvPr>
            <p:ph type="title"/>
          </p:nvPr>
        </p:nvSpPr>
        <p:spPr>
          <a:xfrm>
            <a:off x="813816" y="896112"/>
            <a:ext cx="10561200" cy="64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200"/>
              <a:buFont typeface="Cambria"/>
              <a:buNone/>
            </a:pPr>
            <a:r>
              <a:rPr lang="en-US" sz="3200">
                <a:solidFill>
                  <a:schemeClr val="dk1"/>
                </a:solidFill>
                <a:latin typeface="Georgia"/>
                <a:ea typeface="Georgia"/>
                <a:cs typeface="Georgia"/>
                <a:sym typeface="Georgia"/>
              </a:rPr>
              <a:t>Fuse explicitly, then compress</a:t>
            </a:r>
            <a:endParaRPr sz="3200">
              <a:latin typeface="Georgia"/>
              <a:ea typeface="Georgia"/>
              <a:cs typeface="Georgia"/>
              <a:sym typeface="Georgia"/>
            </a:endParaRPr>
          </a:p>
        </p:txBody>
      </p:sp>
      <p:sp>
        <p:nvSpPr>
          <p:cNvPr id="242" name="Google Shape;242;p12"/>
          <p:cNvSpPr/>
          <p:nvPr/>
        </p:nvSpPr>
        <p:spPr>
          <a:xfrm>
            <a:off x="0" y="0"/>
            <a:ext cx="304800" cy="68580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2"/>
          <p:cNvSpPr/>
          <p:nvPr/>
        </p:nvSpPr>
        <p:spPr>
          <a:xfrm>
            <a:off x="304767" y="6299178"/>
            <a:ext cx="11887200" cy="5589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2"/>
          <p:cNvSpPr/>
          <p:nvPr/>
        </p:nvSpPr>
        <p:spPr>
          <a:xfrm>
            <a:off x="1117534" y="6471875"/>
            <a:ext cx="955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Introduction</a:t>
            </a:r>
            <a:endParaRPr b="0" i="0" sz="1200" u="none" cap="none" strike="noStrike">
              <a:solidFill>
                <a:schemeClr val="dk1"/>
              </a:solidFill>
              <a:latin typeface="Arial"/>
              <a:ea typeface="Arial"/>
              <a:cs typeface="Arial"/>
              <a:sym typeface="Arial"/>
            </a:endParaRPr>
          </a:p>
        </p:txBody>
      </p:sp>
      <p:sp>
        <p:nvSpPr>
          <p:cNvPr id="245" name="Google Shape;245;p12"/>
          <p:cNvSpPr/>
          <p:nvPr/>
        </p:nvSpPr>
        <p:spPr>
          <a:xfrm>
            <a:off x="2218531" y="6471875"/>
            <a:ext cx="975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Framework</a:t>
            </a:r>
            <a:endParaRPr b="0" i="0" sz="1200" u="none" cap="none" strike="noStrike">
              <a:solidFill>
                <a:schemeClr val="dk1"/>
              </a:solidFill>
              <a:latin typeface="Arial"/>
              <a:ea typeface="Arial"/>
              <a:cs typeface="Arial"/>
              <a:sym typeface="Arial"/>
            </a:endParaRPr>
          </a:p>
        </p:txBody>
      </p:sp>
      <p:sp>
        <p:nvSpPr>
          <p:cNvPr id="246" name="Google Shape;246;p12"/>
          <p:cNvSpPr/>
          <p:nvPr/>
        </p:nvSpPr>
        <p:spPr>
          <a:xfrm>
            <a:off x="3336286" y="6471875"/>
            <a:ext cx="660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Solution</a:t>
            </a:r>
            <a:endParaRPr b="0" i="0" sz="1200" u="none" cap="none" strike="noStrike">
              <a:solidFill>
                <a:schemeClr val="dk1"/>
              </a:solidFill>
              <a:latin typeface="Arial"/>
              <a:ea typeface="Arial"/>
              <a:cs typeface="Arial"/>
              <a:sym typeface="Arial"/>
            </a:endParaRPr>
          </a:p>
        </p:txBody>
      </p:sp>
      <p:sp>
        <p:nvSpPr>
          <p:cNvPr id="247" name="Google Shape;247;p12"/>
          <p:cNvSpPr/>
          <p:nvPr/>
        </p:nvSpPr>
        <p:spPr>
          <a:xfrm>
            <a:off x="4191717" y="6471875"/>
            <a:ext cx="8538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Evaluation</a:t>
            </a:r>
            <a:endParaRPr b="0" i="0" sz="1200" u="none" cap="none" strike="noStrike">
              <a:solidFill>
                <a:schemeClr val="dk1"/>
              </a:solidFill>
              <a:latin typeface="Arial"/>
              <a:ea typeface="Arial"/>
              <a:cs typeface="Arial"/>
              <a:sym typeface="Arial"/>
            </a:endParaRPr>
          </a:p>
        </p:txBody>
      </p:sp>
      <p:sp>
        <p:nvSpPr>
          <p:cNvPr id="248" name="Google Shape;248;p12"/>
          <p:cNvSpPr/>
          <p:nvPr/>
        </p:nvSpPr>
        <p:spPr>
          <a:xfrm>
            <a:off x="5208048" y="6471875"/>
            <a:ext cx="904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Conclusion</a:t>
            </a:r>
            <a:endParaRPr b="0" i="0" sz="1200" u="none" cap="none" strike="noStrike">
              <a:solidFill>
                <a:schemeClr val="dk1"/>
              </a:solidFill>
              <a:latin typeface="Arial"/>
              <a:ea typeface="Arial"/>
              <a:cs typeface="Arial"/>
              <a:sym typeface="Arial"/>
            </a:endParaRPr>
          </a:p>
        </p:txBody>
      </p:sp>
      <p:sp>
        <p:nvSpPr>
          <p:cNvPr id="249" name="Google Shape;249;p12"/>
          <p:cNvSpPr/>
          <p:nvPr/>
        </p:nvSpPr>
        <p:spPr>
          <a:xfrm>
            <a:off x="6266657" y="6471875"/>
            <a:ext cx="965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Future work</a:t>
            </a:r>
            <a:endParaRPr b="0" i="0" sz="1200" u="none" cap="none" strike="noStrike">
              <a:solidFill>
                <a:schemeClr val="dk1"/>
              </a:solidFill>
              <a:latin typeface="Arial"/>
              <a:ea typeface="Arial"/>
              <a:cs typeface="Arial"/>
              <a:sym typeface="Arial"/>
            </a:endParaRPr>
          </a:p>
        </p:txBody>
      </p:sp>
      <p:sp>
        <p:nvSpPr>
          <p:cNvPr id="250" name="Google Shape;250;p12"/>
          <p:cNvSpPr/>
          <p:nvPr/>
        </p:nvSpPr>
        <p:spPr>
          <a:xfrm>
            <a:off x="11209680" y="6471875"/>
            <a:ext cx="2202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lang="en-US" sz="1200">
                <a:solidFill>
                  <a:srgbClr val="FFFFFF"/>
                </a:solidFill>
              </a:rPr>
              <a:t>7</a:t>
            </a:r>
            <a:endParaRPr b="0" i="0" sz="1200" u="none" cap="none" strike="noStrike">
              <a:solidFill>
                <a:schemeClr val="dk1"/>
              </a:solidFill>
              <a:latin typeface="Arial"/>
              <a:ea typeface="Arial"/>
              <a:cs typeface="Arial"/>
              <a:sym typeface="Arial"/>
            </a:endParaRPr>
          </a:p>
        </p:txBody>
      </p:sp>
      <p:sp>
        <p:nvSpPr>
          <p:cNvPr id="251" name="Google Shape;251;p12"/>
          <p:cNvSpPr/>
          <p:nvPr/>
        </p:nvSpPr>
        <p:spPr>
          <a:xfrm>
            <a:off x="1117589" y="533357"/>
            <a:ext cx="762000" cy="507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2"/>
          <p:cNvSpPr/>
          <p:nvPr/>
        </p:nvSpPr>
        <p:spPr>
          <a:xfrm>
            <a:off x="671675" y="1604081"/>
            <a:ext cx="11153400" cy="1691700"/>
          </a:xfrm>
          <a:prstGeom prst="rect">
            <a:avLst/>
          </a:prstGeom>
          <a:noFill/>
          <a:ln cap="flat" cmpd="sng" w="19050">
            <a:solidFill>
              <a:schemeClr val="dk1"/>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 name="Google Shape;253;p12"/>
          <p:cNvSpPr/>
          <p:nvPr/>
        </p:nvSpPr>
        <p:spPr>
          <a:xfrm>
            <a:off x="680825" y="3404507"/>
            <a:ext cx="11135100" cy="2676600"/>
          </a:xfrm>
          <a:prstGeom prst="rect">
            <a:avLst/>
          </a:prstGeom>
          <a:noFill/>
          <a:ln cap="flat" cmpd="sng" w="19050">
            <a:solidFill>
              <a:schemeClr val="dk1"/>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 name="Google Shape;254;p12"/>
          <p:cNvSpPr txBox="1"/>
          <p:nvPr/>
        </p:nvSpPr>
        <p:spPr>
          <a:xfrm>
            <a:off x="961616" y="1770068"/>
            <a:ext cx="5120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800"/>
              <a:buFont typeface="Calibri"/>
              <a:buNone/>
            </a:pPr>
            <a:r>
              <a:rPr b="1" i="0" lang="en-US" sz="2400" u="none" cap="none" strike="noStrike">
                <a:solidFill>
                  <a:schemeClr val="lt1"/>
                </a:solidFill>
                <a:highlight>
                  <a:schemeClr val="dk1"/>
                </a:highlight>
                <a:latin typeface="Times New Roman"/>
                <a:ea typeface="Times New Roman"/>
                <a:cs typeface="Times New Roman"/>
                <a:sym typeface="Times New Roman"/>
              </a:rPr>
              <a:t>Cross-modal fusion</a:t>
            </a:r>
            <a:endParaRPr b="1" i="0" sz="2400" u="none" cap="none" strike="noStrike">
              <a:solidFill>
                <a:schemeClr val="lt1"/>
              </a:solidFill>
              <a:highlight>
                <a:schemeClr val="dk1"/>
              </a:highlight>
              <a:latin typeface="Times New Roman"/>
              <a:ea typeface="Times New Roman"/>
              <a:cs typeface="Times New Roman"/>
              <a:sym typeface="Times New Roman"/>
            </a:endParaRPr>
          </a:p>
        </p:txBody>
      </p:sp>
      <p:sp>
        <p:nvSpPr>
          <p:cNvPr id="255" name="Google Shape;255;p12"/>
          <p:cNvSpPr txBox="1"/>
          <p:nvPr/>
        </p:nvSpPr>
        <p:spPr>
          <a:xfrm>
            <a:off x="961616" y="2318708"/>
            <a:ext cx="5487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Cambria"/>
              <a:buNone/>
            </a:pPr>
            <a:r>
              <a:rPr b="0" i="1" lang="en-US" sz="2000" u="none" cap="none" strike="noStrike">
                <a:solidFill>
                  <a:schemeClr val="dk1"/>
                </a:solidFill>
                <a:latin typeface="Cambria"/>
                <a:ea typeface="Cambria"/>
                <a:cs typeface="Cambria"/>
                <a:sym typeface="Cambria"/>
              </a:rPr>
              <a:t>f</a:t>
            </a:r>
            <a:r>
              <a:rPr b="0" i="0" lang="en-US" sz="2000" u="none" cap="none" strike="noStrike">
                <a:solidFill>
                  <a:schemeClr val="dk1"/>
                </a:solidFill>
                <a:latin typeface="Cambria"/>
                <a:ea typeface="Cambria"/>
                <a:cs typeface="Cambria"/>
                <a:sym typeface="Cambria"/>
              </a:rPr>
              <a:t> =</a:t>
            </a:r>
            <a:endParaRPr b="0" i="0" sz="2000" u="none" cap="none" strike="noStrike">
              <a:solidFill>
                <a:schemeClr val="dk1"/>
              </a:solidFill>
              <a:latin typeface="Calibri"/>
              <a:ea typeface="Calibri"/>
              <a:cs typeface="Calibri"/>
              <a:sym typeface="Calibri"/>
            </a:endParaRPr>
          </a:p>
        </p:txBody>
      </p:sp>
      <p:sp>
        <p:nvSpPr>
          <p:cNvPr id="256" name="Google Shape;256;p12"/>
          <p:cNvSpPr/>
          <p:nvPr/>
        </p:nvSpPr>
        <p:spPr>
          <a:xfrm>
            <a:off x="1565120" y="2318708"/>
            <a:ext cx="1074300" cy="512100"/>
          </a:xfrm>
          <a:prstGeom prst="roundRect">
            <a:avLst>
              <a:gd fmla="val 10714" name="adj"/>
            </a:avLst>
          </a:prstGeom>
          <a:solidFill>
            <a:srgbClr val="8E2463"/>
          </a:solidFill>
          <a:ln cap="flat" cmpd="sng" w="12700">
            <a:solidFill>
              <a:srgbClr val="8E2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2"/>
          <p:cNvSpPr txBox="1"/>
          <p:nvPr/>
        </p:nvSpPr>
        <p:spPr>
          <a:xfrm>
            <a:off x="1565120" y="2318708"/>
            <a:ext cx="10743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6F2"/>
              </a:buClr>
              <a:buSzPts val="1500"/>
              <a:buFont typeface="Cambria"/>
              <a:buNone/>
            </a:pPr>
            <a:r>
              <a:rPr b="0" i="1" lang="en-US" sz="1500" u="none" cap="none" strike="noStrike">
                <a:solidFill>
                  <a:srgbClr val="F7F6F2"/>
                </a:solidFill>
                <a:latin typeface="Cambria"/>
                <a:ea typeface="Cambria"/>
                <a:cs typeface="Cambria"/>
                <a:sym typeface="Cambria"/>
              </a:rPr>
              <a:t>h</a:t>
            </a:r>
            <a:r>
              <a:rPr b="0" baseline="-25000" i="1" lang="en-US" sz="1500" u="none" cap="none" strike="noStrike">
                <a:solidFill>
                  <a:srgbClr val="F7F6F2"/>
                </a:solidFill>
                <a:latin typeface="Cambria"/>
                <a:ea typeface="Cambria"/>
                <a:cs typeface="Cambria"/>
                <a:sym typeface="Cambria"/>
              </a:rPr>
              <a:t>m</a:t>
            </a:r>
            <a:endParaRPr b="0" i="0" sz="1500" u="none" cap="none" strike="noStrike">
              <a:solidFill>
                <a:schemeClr val="dk1"/>
              </a:solidFill>
              <a:latin typeface="Calibri"/>
              <a:ea typeface="Calibri"/>
              <a:cs typeface="Calibri"/>
              <a:sym typeface="Calibri"/>
            </a:endParaRPr>
          </a:p>
        </p:txBody>
      </p:sp>
      <p:sp>
        <p:nvSpPr>
          <p:cNvPr id="258" name="Google Shape;258;p12"/>
          <p:cNvSpPr/>
          <p:nvPr/>
        </p:nvSpPr>
        <p:spPr>
          <a:xfrm>
            <a:off x="2712692" y="2318708"/>
            <a:ext cx="1074300" cy="512100"/>
          </a:xfrm>
          <a:prstGeom prst="roundRect">
            <a:avLst>
              <a:gd fmla="val 10714" name="adj"/>
            </a:avLst>
          </a:prstGeom>
          <a:solidFill>
            <a:srgbClr val="B83C7A"/>
          </a:solidFill>
          <a:ln cap="flat" cmpd="sng" w="12700">
            <a:solidFill>
              <a:srgbClr val="B83C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2"/>
          <p:cNvSpPr txBox="1"/>
          <p:nvPr/>
        </p:nvSpPr>
        <p:spPr>
          <a:xfrm>
            <a:off x="2712692" y="2318708"/>
            <a:ext cx="10743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6F2"/>
              </a:buClr>
              <a:buSzPts val="1500"/>
              <a:buFont typeface="Cambria"/>
              <a:buNone/>
            </a:pPr>
            <a:r>
              <a:rPr b="0" i="1" lang="en-US" sz="1500" u="none" cap="none" strike="noStrike">
                <a:solidFill>
                  <a:srgbClr val="F7F6F2"/>
                </a:solidFill>
                <a:latin typeface="Cambria"/>
                <a:ea typeface="Cambria"/>
                <a:cs typeface="Cambria"/>
                <a:sym typeface="Cambria"/>
              </a:rPr>
              <a:t>h</a:t>
            </a:r>
            <a:r>
              <a:rPr b="0" baseline="-25000" i="1" lang="en-US" sz="1500" u="none" cap="none" strike="noStrike">
                <a:solidFill>
                  <a:srgbClr val="F7F6F2"/>
                </a:solidFill>
                <a:latin typeface="Cambria"/>
                <a:ea typeface="Cambria"/>
                <a:cs typeface="Cambria"/>
                <a:sym typeface="Cambria"/>
              </a:rPr>
              <a:t>n</a:t>
            </a:r>
            <a:endParaRPr b="0" i="0" sz="1500" u="none" cap="none" strike="noStrike">
              <a:solidFill>
                <a:schemeClr val="dk1"/>
              </a:solidFill>
              <a:latin typeface="Calibri"/>
              <a:ea typeface="Calibri"/>
              <a:cs typeface="Calibri"/>
              <a:sym typeface="Calibri"/>
            </a:endParaRPr>
          </a:p>
        </p:txBody>
      </p:sp>
      <p:sp>
        <p:nvSpPr>
          <p:cNvPr id="260" name="Google Shape;260;p12"/>
          <p:cNvSpPr/>
          <p:nvPr/>
        </p:nvSpPr>
        <p:spPr>
          <a:xfrm>
            <a:off x="3860264" y="2318708"/>
            <a:ext cx="1074300" cy="512100"/>
          </a:xfrm>
          <a:prstGeom prst="roundRect">
            <a:avLst>
              <a:gd fmla="val 10714" name="adj"/>
            </a:avLst>
          </a:prstGeom>
          <a:solidFill>
            <a:srgbClr val="E9A6C7"/>
          </a:solidFill>
          <a:ln cap="flat" cmpd="sng" w="12700">
            <a:solidFill>
              <a:srgbClr val="E9A6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2"/>
          <p:cNvSpPr txBox="1"/>
          <p:nvPr/>
        </p:nvSpPr>
        <p:spPr>
          <a:xfrm>
            <a:off x="3860264" y="2318708"/>
            <a:ext cx="10743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213D"/>
              </a:buClr>
              <a:buSzPts val="1500"/>
              <a:buFont typeface="Cambria"/>
              <a:buNone/>
            </a:pPr>
            <a:r>
              <a:rPr b="0" i="0" lang="en-US" sz="1500" u="none" cap="none" strike="noStrike">
                <a:solidFill>
                  <a:srgbClr val="14213D"/>
                </a:solidFill>
                <a:latin typeface="Cambria"/>
                <a:ea typeface="Cambria"/>
                <a:cs typeface="Cambria"/>
                <a:sym typeface="Cambria"/>
              </a:rPr>
              <a:t>|</a:t>
            </a:r>
            <a:r>
              <a:rPr b="0" i="1" lang="en-US" sz="1500" u="none" cap="none" strike="noStrike">
                <a:solidFill>
                  <a:srgbClr val="14213D"/>
                </a:solidFill>
                <a:latin typeface="Cambria"/>
                <a:ea typeface="Cambria"/>
                <a:cs typeface="Cambria"/>
                <a:sym typeface="Cambria"/>
              </a:rPr>
              <a:t>h</a:t>
            </a:r>
            <a:r>
              <a:rPr b="0" baseline="-25000" i="1" lang="en-US" sz="1500" u="none" cap="none" strike="noStrike">
                <a:solidFill>
                  <a:srgbClr val="14213D"/>
                </a:solidFill>
                <a:latin typeface="Cambria"/>
                <a:ea typeface="Cambria"/>
                <a:cs typeface="Cambria"/>
                <a:sym typeface="Cambria"/>
              </a:rPr>
              <a:t>m</a:t>
            </a:r>
            <a:r>
              <a:rPr b="0" i="0" lang="en-US" sz="1500" u="none" cap="none" strike="noStrike">
                <a:solidFill>
                  <a:srgbClr val="14213D"/>
                </a:solidFill>
                <a:latin typeface="Cambria"/>
                <a:ea typeface="Cambria"/>
                <a:cs typeface="Cambria"/>
                <a:sym typeface="Cambria"/>
              </a:rPr>
              <a:t> − </a:t>
            </a:r>
            <a:r>
              <a:rPr b="0" i="1" lang="en-US" sz="1500" u="none" cap="none" strike="noStrike">
                <a:solidFill>
                  <a:srgbClr val="14213D"/>
                </a:solidFill>
                <a:latin typeface="Cambria"/>
                <a:ea typeface="Cambria"/>
                <a:cs typeface="Cambria"/>
                <a:sym typeface="Cambria"/>
              </a:rPr>
              <a:t>h</a:t>
            </a:r>
            <a:r>
              <a:rPr b="0" baseline="-25000" i="1" lang="en-US" sz="1500" u="none" cap="none" strike="noStrike">
                <a:solidFill>
                  <a:srgbClr val="14213D"/>
                </a:solidFill>
                <a:latin typeface="Cambria"/>
                <a:ea typeface="Cambria"/>
                <a:cs typeface="Cambria"/>
                <a:sym typeface="Cambria"/>
              </a:rPr>
              <a:t>n</a:t>
            </a:r>
            <a:r>
              <a:rPr b="0" i="0" lang="en-US" sz="1500" u="none" cap="none" strike="noStrike">
                <a:solidFill>
                  <a:srgbClr val="14213D"/>
                </a:solidFill>
                <a:latin typeface="Cambria"/>
                <a:ea typeface="Cambria"/>
                <a:cs typeface="Cambria"/>
                <a:sym typeface="Cambria"/>
              </a:rPr>
              <a:t>|</a:t>
            </a:r>
            <a:endParaRPr b="0" i="0" sz="1500" u="none" cap="none" strike="noStrike">
              <a:solidFill>
                <a:schemeClr val="dk1"/>
              </a:solidFill>
              <a:latin typeface="Calibri"/>
              <a:ea typeface="Calibri"/>
              <a:cs typeface="Calibri"/>
              <a:sym typeface="Calibri"/>
            </a:endParaRPr>
          </a:p>
        </p:txBody>
      </p:sp>
      <p:sp>
        <p:nvSpPr>
          <p:cNvPr id="262" name="Google Shape;262;p12"/>
          <p:cNvSpPr/>
          <p:nvPr/>
        </p:nvSpPr>
        <p:spPr>
          <a:xfrm>
            <a:off x="5007836" y="2318708"/>
            <a:ext cx="1074300" cy="512100"/>
          </a:xfrm>
          <a:prstGeom prst="roundRect">
            <a:avLst>
              <a:gd fmla="val 10714" name="adj"/>
            </a:avLst>
          </a:prstGeom>
          <a:solidFill>
            <a:srgbClr val="F7DCE9"/>
          </a:solidFill>
          <a:ln cap="flat" cmpd="sng" w="12700">
            <a:solidFill>
              <a:srgbClr val="F7DC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2"/>
          <p:cNvSpPr txBox="1"/>
          <p:nvPr/>
        </p:nvSpPr>
        <p:spPr>
          <a:xfrm>
            <a:off x="5007836" y="2318708"/>
            <a:ext cx="10743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213D"/>
              </a:buClr>
              <a:buSzPts val="1500"/>
              <a:buFont typeface="Cambria"/>
              <a:buNone/>
            </a:pPr>
            <a:r>
              <a:rPr b="0" i="1" lang="en-US" sz="1500" u="none" cap="none" strike="noStrike">
                <a:solidFill>
                  <a:srgbClr val="14213D"/>
                </a:solidFill>
                <a:latin typeface="Cambria"/>
                <a:ea typeface="Cambria"/>
                <a:cs typeface="Cambria"/>
                <a:sym typeface="Cambria"/>
              </a:rPr>
              <a:t>h</a:t>
            </a:r>
            <a:r>
              <a:rPr b="0" baseline="-25000" i="1" lang="en-US" sz="1500" u="none" cap="none" strike="noStrike">
                <a:solidFill>
                  <a:srgbClr val="14213D"/>
                </a:solidFill>
                <a:latin typeface="Cambria"/>
                <a:ea typeface="Cambria"/>
                <a:cs typeface="Cambria"/>
                <a:sym typeface="Cambria"/>
              </a:rPr>
              <a:t>m</a:t>
            </a:r>
            <a:r>
              <a:rPr b="0" i="0" lang="en-US" sz="1500" u="none" cap="none" strike="noStrike">
                <a:solidFill>
                  <a:srgbClr val="14213D"/>
                </a:solidFill>
                <a:latin typeface="Cambria"/>
                <a:ea typeface="Cambria"/>
                <a:cs typeface="Cambria"/>
                <a:sym typeface="Cambria"/>
              </a:rPr>
              <a:t> ⊙ </a:t>
            </a:r>
            <a:r>
              <a:rPr b="0" i="1" lang="en-US" sz="1500" u="none" cap="none" strike="noStrike">
                <a:solidFill>
                  <a:srgbClr val="14213D"/>
                </a:solidFill>
                <a:latin typeface="Cambria"/>
                <a:ea typeface="Cambria"/>
                <a:cs typeface="Cambria"/>
                <a:sym typeface="Cambria"/>
              </a:rPr>
              <a:t>h</a:t>
            </a:r>
            <a:r>
              <a:rPr b="0" baseline="-25000" i="1" lang="en-US" sz="1500" u="none" cap="none" strike="noStrike">
                <a:solidFill>
                  <a:srgbClr val="14213D"/>
                </a:solidFill>
                <a:latin typeface="Cambria"/>
                <a:ea typeface="Cambria"/>
                <a:cs typeface="Cambria"/>
                <a:sym typeface="Cambria"/>
              </a:rPr>
              <a:t>n</a:t>
            </a:r>
            <a:endParaRPr b="0" i="0" sz="1500" u="none" cap="none" strike="noStrike">
              <a:solidFill>
                <a:schemeClr val="dk1"/>
              </a:solidFill>
              <a:latin typeface="Calibri"/>
              <a:ea typeface="Calibri"/>
              <a:cs typeface="Calibri"/>
              <a:sym typeface="Calibri"/>
            </a:endParaRPr>
          </a:p>
        </p:txBody>
      </p:sp>
      <p:sp>
        <p:nvSpPr>
          <p:cNvPr id="264" name="Google Shape;264;p12"/>
          <p:cNvSpPr txBox="1"/>
          <p:nvPr/>
        </p:nvSpPr>
        <p:spPr>
          <a:xfrm>
            <a:off x="6414445" y="2738953"/>
            <a:ext cx="4517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1" i="0" lang="en-US" sz="1600" u="none" cap="none" strike="noStrike">
                <a:solidFill>
                  <a:schemeClr val="dk1"/>
                </a:solidFill>
                <a:latin typeface="Times New Roman"/>
                <a:ea typeface="Times New Roman"/>
                <a:cs typeface="Times New Roman"/>
                <a:sym typeface="Times New Roman"/>
              </a:rPr>
              <a:t>each block </a:t>
            </a:r>
            <a:r>
              <a:rPr b="1" i="1" lang="en-US" sz="1600" u="none" cap="none" strike="noStrike">
                <a:solidFill>
                  <a:schemeClr val="dk1"/>
                </a:solidFill>
                <a:latin typeface="Times New Roman"/>
                <a:ea typeface="Times New Roman"/>
                <a:cs typeface="Times New Roman"/>
                <a:sym typeface="Times New Roman"/>
              </a:rPr>
              <a:t>d</a:t>
            </a:r>
            <a:r>
              <a:rPr b="1" i="0" lang="en-US" sz="1600" u="none" cap="none" strike="noStrike">
                <a:solidFill>
                  <a:schemeClr val="dk1"/>
                </a:solidFill>
                <a:latin typeface="Times New Roman"/>
                <a:ea typeface="Times New Roman"/>
                <a:cs typeface="Times New Roman"/>
                <a:sym typeface="Times New Roman"/>
              </a:rPr>
              <a:t> dims, so </a:t>
            </a:r>
            <a:r>
              <a:rPr b="1" i="1" lang="en-US" sz="1600" u="none" cap="none" strike="noStrike">
                <a:solidFill>
                  <a:schemeClr val="dk1"/>
                </a:solidFill>
                <a:latin typeface="Times New Roman"/>
                <a:ea typeface="Times New Roman"/>
                <a:cs typeface="Times New Roman"/>
                <a:sym typeface="Times New Roman"/>
              </a:rPr>
              <a:t>f</a:t>
            </a:r>
            <a:r>
              <a:rPr b="1" i="0" lang="en-US" sz="1600" u="none" cap="none" strike="noStrike">
                <a:solidFill>
                  <a:schemeClr val="dk1"/>
                </a:solidFill>
                <a:latin typeface="Times New Roman"/>
                <a:ea typeface="Times New Roman"/>
                <a:cs typeface="Times New Roman"/>
                <a:sym typeface="Times New Roman"/>
              </a:rPr>
              <a:t> has 4</a:t>
            </a:r>
            <a:r>
              <a:rPr b="1" i="1" lang="en-US" sz="1600" u="none" cap="none" strike="noStrike">
                <a:solidFill>
                  <a:schemeClr val="dk1"/>
                </a:solidFill>
                <a:latin typeface="Times New Roman"/>
                <a:ea typeface="Times New Roman"/>
                <a:cs typeface="Times New Roman"/>
                <a:sym typeface="Times New Roman"/>
              </a:rPr>
              <a:t>d</a:t>
            </a:r>
            <a:endParaRPr b="1" i="0" sz="1600" u="none" cap="none" strike="noStrike">
              <a:solidFill>
                <a:schemeClr val="dk1"/>
              </a:solidFill>
              <a:latin typeface="Times New Roman"/>
              <a:ea typeface="Times New Roman"/>
              <a:cs typeface="Times New Roman"/>
              <a:sym typeface="Times New Roman"/>
            </a:endParaRPr>
          </a:p>
        </p:txBody>
      </p:sp>
      <p:sp>
        <p:nvSpPr>
          <p:cNvPr id="265" name="Google Shape;265;p12"/>
          <p:cNvSpPr txBox="1"/>
          <p:nvPr/>
        </p:nvSpPr>
        <p:spPr>
          <a:xfrm>
            <a:off x="6414441" y="1953325"/>
            <a:ext cx="51207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1" lang="en-US" sz="2000" u="none" cap="none" strike="noStrike">
                <a:solidFill>
                  <a:schemeClr val="accent3"/>
                </a:solidFill>
                <a:latin typeface="Times New Roman"/>
                <a:ea typeface="Times New Roman"/>
                <a:cs typeface="Times New Roman"/>
                <a:sym typeface="Times New Roman"/>
              </a:rPr>
              <a:t>Difference:</a:t>
            </a:r>
            <a:r>
              <a:rPr i="0" lang="en-US" sz="2000" u="none" cap="none" strike="noStrike">
                <a:solidFill>
                  <a:schemeClr val="accent3"/>
                </a:solidFill>
                <a:latin typeface="Times New Roman"/>
                <a:ea typeface="Times New Roman"/>
                <a:cs typeface="Times New Roman"/>
                <a:sym typeface="Times New Roman"/>
              </a:rPr>
              <a:t> </a:t>
            </a:r>
            <a:r>
              <a:rPr i="0" lang="en-US" sz="2000" u="none" cap="none" strike="noStrike">
                <a:solidFill>
                  <a:schemeClr val="accent3"/>
                </a:solidFill>
                <a:latin typeface="Times New Roman"/>
                <a:ea typeface="Times New Roman"/>
                <a:cs typeface="Times New Roman"/>
                <a:sym typeface="Times New Roman"/>
              </a:rPr>
              <a:t>where modalitie</a:t>
            </a:r>
            <a:r>
              <a:rPr i="0" lang="en-US" sz="2000" u="none" cap="none" strike="noStrike">
                <a:solidFill>
                  <a:schemeClr val="accent3"/>
                </a:solidFill>
                <a:latin typeface="Times New Roman"/>
                <a:ea typeface="Times New Roman"/>
                <a:cs typeface="Times New Roman"/>
                <a:sym typeface="Times New Roman"/>
              </a:rPr>
              <a:t>s </a:t>
            </a:r>
            <a:r>
              <a:rPr b="1" i="0" lang="en-US" sz="2000" u="none" cap="none" strike="noStrike">
                <a:solidFill>
                  <a:schemeClr val="accent3"/>
                </a:solidFill>
                <a:latin typeface="Times New Roman"/>
                <a:ea typeface="Times New Roman"/>
                <a:cs typeface="Times New Roman"/>
                <a:sym typeface="Times New Roman"/>
              </a:rPr>
              <a:t>disagree</a:t>
            </a:r>
            <a:r>
              <a:rPr i="0" lang="en-US" sz="2000" u="none" cap="none" strike="noStrike">
                <a:solidFill>
                  <a:schemeClr val="accent3"/>
                </a:solidFill>
                <a:latin typeface="Times New Roman"/>
                <a:ea typeface="Times New Roman"/>
                <a:cs typeface="Times New Roman"/>
                <a:sym typeface="Times New Roman"/>
              </a:rPr>
              <a:t>. </a:t>
            </a:r>
            <a:endParaRPr i="0" sz="2000" u="none" cap="none" strike="noStrike">
              <a:solidFill>
                <a:schemeClr val="accent3"/>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500"/>
              <a:buFont typeface="Calibri"/>
              <a:buNone/>
            </a:pPr>
            <a:r>
              <a:rPr b="1" i="1" lang="en-US" sz="2000" u="none" cap="none" strike="noStrike">
                <a:solidFill>
                  <a:schemeClr val="accent3"/>
                </a:solidFill>
                <a:latin typeface="Times New Roman"/>
                <a:ea typeface="Times New Roman"/>
                <a:cs typeface="Times New Roman"/>
                <a:sym typeface="Times New Roman"/>
              </a:rPr>
              <a:t>Product:</a:t>
            </a:r>
            <a:r>
              <a:rPr i="0" lang="en-US" sz="2000" u="none" cap="none" strike="noStrike">
                <a:solidFill>
                  <a:schemeClr val="accent3"/>
                </a:solidFill>
                <a:latin typeface="Times New Roman"/>
                <a:ea typeface="Times New Roman"/>
                <a:cs typeface="Times New Roman"/>
                <a:sym typeface="Times New Roman"/>
              </a:rPr>
              <a:t> where they </a:t>
            </a:r>
            <a:r>
              <a:rPr b="1" i="0" lang="en-US" sz="2000" u="none" cap="none" strike="noStrike">
                <a:solidFill>
                  <a:schemeClr val="accent3"/>
                </a:solidFill>
                <a:latin typeface="Times New Roman"/>
                <a:ea typeface="Times New Roman"/>
                <a:cs typeface="Times New Roman"/>
                <a:sym typeface="Times New Roman"/>
              </a:rPr>
              <a:t>agree</a:t>
            </a:r>
            <a:r>
              <a:rPr i="0" lang="en-US" sz="2000" u="none" cap="none" strike="noStrike">
                <a:solidFill>
                  <a:schemeClr val="accent3"/>
                </a:solidFill>
                <a:latin typeface="Times New Roman"/>
                <a:ea typeface="Times New Roman"/>
                <a:cs typeface="Times New Roman"/>
                <a:sym typeface="Times New Roman"/>
              </a:rPr>
              <a:t>.</a:t>
            </a:r>
            <a:endParaRPr i="0" sz="2000" u="none" cap="none" strike="noStrike">
              <a:solidFill>
                <a:schemeClr val="accent3"/>
              </a:solidFill>
              <a:latin typeface="Times New Roman"/>
              <a:ea typeface="Times New Roman"/>
              <a:cs typeface="Times New Roman"/>
              <a:sym typeface="Times New Roman"/>
            </a:endParaRPr>
          </a:p>
        </p:txBody>
      </p:sp>
      <p:sp>
        <p:nvSpPr>
          <p:cNvPr id="266" name="Google Shape;266;p12"/>
          <p:cNvSpPr txBox="1"/>
          <p:nvPr/>
        </p:nvSpPr>
        <p:spPr>
          <a:xfrm>
            <a:off x="961625" y="3557277"/>
            <a:ext cx="4899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2400" u="none" cap="none" strike="noStrike">
                <a:solidFill>
                  <a:schemeClr val="lt1"/>
                </a:solidFill>
                <a:highlight>
                  <a:schemeClr val="dk1"/>
                </a:highlight>
                <a:latin typeface="Times New Roman"/>
                <a:ea typeface="Times New Roman"/>
                <a:cs typeface="Times New Roman"/>
                <a:sym typeface="Times New Roman"/>
              </a:rPr>
              <a:t>Autoencoder (AE) compression</a:t>
            </a:r>
            <a:endParaRPr i="0" sz="2400" u="none" cap="none" strike="noStrike">
              <a:solidFill>
                <a:schemeClr val="lt1"/>
              </a:solidFill>
              <a:highlight>
                <a:schemeClr val="dk1"/>
              </a:highlight>
              <a:latin typeface="Times New Roman"/>
              <a:ea typeface="Times New Roman"/>
              <a:cs typeface="Times New Roman"/>
              <a:sym typeface="Times New Roman"/>
            </a:endParaRPr>
          </a:p>
        </p:txBody>
      </p:sp>
      <p:sp>
        <p:nvSpPr>
          <p:cNvPr id="267" name="Google Shape;267;p12"/>
          <p:cNvSpPr txBox="1"/>
          <p:nvPr/>
        </p:nvSpPr>
        <p:spPr>
          <a:xfrm>
            <a:off x="846717" y="4149048"/>
            <a:ext cx="48828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300"/>
              <a:buFont typeface="Calibri"/>
              <a:buNone/>
            </a:pPr>
            <a:r>
              <a:rPr i="0" lang="en-US" sz="2000" u="none" cap="none" strike="noStrike">
                <a:solidFill>
                  <a:schemeClr val="accent3"/>
                </a:solidFill>
                <a:latin typeface="Times New Roman"/>
                <a:ea typeface="Times New Roman"/>
                <a:cs typeface="Times New Roman"/>
                <a:sym typeface="Times New Roman"/>
              </a:rPr>
              <a:t>Trainable with </a:t>
            </a:r>
            <a:r>
              <a:rPr b="1" i="1" lang="en-US" sz="2000" u="none" cap="none" strike="noStrike">
                <a:solidFill>
                  <a:schemeClr val="accent3"/>
                </a:solidFill>
                <a:latin typeface="Times New Roman"/>
                <a:ea typeface="Times New Roman"/>
                <a:cs typeface="Times New Roman"/>
                <a:sym typeface="Times New Roman"/>
              </a:rPr>
              <a:t>alignment objectives</a:t>
            </a:r>
            <a:endParaRPr b="1" i="1" sz="2000" u="none" cap="none" strike="noStrike">
              <a:solidFill>
                <a:schemeClr val="accent3"/>
              </a:solidFill>
              <a:latin typeface="Times New Roman"/>
              <a:ea typeface="Times New Roman"/>
              <a:cs typeface="Times New Roman"/>
              <a:sym typeface="Times New Roman"/>
            </a:endParaRPr>
          </a:p>
        </p:txBody>
      </p:sp>
      <p:sp>
        <p:nvSpPr>
          <p:cNvPr id="268" name="Google Shape;268;p12"/>
          <p:cNvSpPr txBox="1"/>
          <p:nvPr/>
        </p:nvSpPr>
        <p:spPr>
          <a:xfrm>
            <a:off x="846717" y="4439099"/>
            <a:ext cx="48828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300"/>
              <a:buFont typeface="Calibri"/>
              <a:buNone/>
            </a:pPr>
            <a:r>
              <a:rPr i="0" lang="en-US" sz="2000" u="none" cap="none" strike="noStrike">
                <a:solidFill>
                  <a:schemeClr val="accent3"/>
                </a:solidFill>
                <a:latin typeface="Times New Roman"/>
                <a:ea typeface="Times New Roman"/>
                <a:cs typeface="Times New Roman"/>
                <a:sym typeface="Times New Roman"/>
              </a:rPr>
              <a:t>Decoder restores </a:t>
            </a:r>
            <a:r>
              <a:rPr i="1" lang="en-US" sz="2000" u="none" cap="none" strike="noStrike">
                <a:solidFill>
                  <a:schemeClr val="accent3"/>
                </a:solidFill>
                <a:latin typeface="Times New Roman"/>
                <a:ea typeface="Times New Roman"/>
                <a:cs typeface="Times New Roman"/>
                <a:sym typeface="Times New Roman"/>
              </a:rPr>
              <a:t>f</a:t>
            </a:r>
            <a:r>
              <a:rPr i="0" lang="en-US" sz="2000" u="none" cap="none" strike="noStrike">
                <a:solidFill>
                  <a:schemeClr val="accent3"/>
                </a:solidFill>
                <a:latin typeface="Times New Roman"/>
                <a:ea typeface="Times New Roman"/>
                <a:cs typeface="Times New Roman"/>
                <a:sym typeface="Times New Roman"/>
              </a:rPr>
              <a:t>, so the server is decoupled from the compressor</a:t>
            </a:r>
            <a:endParaRPr i="0" sz="2000" u="none" cap="none" strike="noStrike">
              <a:solidFill>
                <a:schemeClr val="accent3"/>
              </a:solidFill>
              <a:latin typeface="Times New Roman"/>
              <a:ea typeface="Times New Roman"/>
              <a:cs typeface="Times New Roman"/>
              <a:sym typeface="Times New Roman"/>
            </a:endParaRPr>
          </a:p>
        </p:txBody>
      </p:sp>
      <p:sp>
        <p:nvSpPr>
          <p:cNvPr id="269" name="Google Shape;269;p12"/>
          <p:cNvSpPr txBox="1"/>
          <p:nvPr/>
        </p:nvSpPr>
        <p:spPr>
          <a:xfrm>
            <a:off x="835177" y="5113599"/>
            <a:ext cx="7773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1" i="0" lang="en-US" sz="1700" u="none" cap="none" strike="noStrike">
                <a:solidFill>
                  <a:schemeClr val="accent5"/>
                </a:solidFill>
                <a:latin typeface="Times New Roman"/>
                <a:ea typeface="Times New Roman"/>
                <a:cs typeface="Times New Roman"/>
                <a:sym typeface="Times New Roman"/>
              </a:rPr>
              <a:t>AE loss</a:t>
            </a:r>
            <a:endParaRPr b="1" i="0" sz="1700" u="none" cap="none" strike="noStrike">
              <a:solidFill>
                <a:schemeClr val="dk1"/>
              </a:solidFill>
              <a:latin typeface="Times New Roman"/>
              <a:ea typeface="Times New Roman"/>
              <a:cs typeface="Times New Roman"/>
              <a:sym typeface="Times New Roman"/>
            </a:endParaRPr>
          </a:p>
        </p:txBody>
      </p:sp>
      <p:sp>
        <p:nvSpPr>
          <p:cNvPr id="270" name="Google Shape;270;p12"/>
          <p:cNvSpPr txBox="1"/>
          <p:nvPr/>
        </p:nvSpPr>
        <p:spPr>
          <a:xfrm>
            <a:off x="1712762" y="5113599"/>
            <a:ext cx="4242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Cambria"/>
              <a:buNone/>
            </a:pPr>
            <a:r>
              <a:rPr b="0" i="1" lang="en-US" sz="2000" u="none" cap="none" strike="noStrike">
                <a:solidFill>
                  <a:schemeClr val="dk1"/>
                </a:solidFill>
                <a:latin typeface="Cambria"/>
                <a:ea typeface="Cambria"/>
                <a:cs typeface="Cambria"/>
                <a:sym typeface="Cambria"/>
              </a:rPr>
              <a:t>ℒ</a:t>
            </a:r>
            <a:r>
              <a:rPr b="0" i="0" lang="en-US" sz="2000" u="none" cap="none" strike="noStrike">
                <a:solidFill>
                  <a:schemeClr val="dk1"/>
                </a:solidFill>
                <a:latin typeface="Cambria"/>
                <a:ea typeface="Cambria"/>
                <a:cs typeface="Cambria"/>
                <a:sym typeface="Cambria"/>
              </a:rPr>
              <a:t> = </a:t>
            </a:r>
            <a:r>
              <a:rPr b="0" i="1" lang="en-US" sz="2000" u="none" cap="none" strike="noStrike">
                <a:solidFill>
                  <a:schemeClr val="dk1"/>
                </a:solidFill>
                <a:latin typeface="Cambria"/>
                <a:ea typeface="Cambria"/>
                <a:cs typeface="Cambria"/>
                <a:sym typeface="Cambria"/>
              </a:rPr>
              <a:t>ℒ</a:t>
            </a:r>
            <a:r>
              <a:rPr b="0" baseline="-25000" i="0" lang="en-US" sz="2000" u="none" cap="none" strike="noStrike">
                <a:solidFill>
                  <a:schemeClr val="dk1"/>
                </a:solidFill>
                <a:latin typeface="Cambria"/>
                <a:ea typeface="Cambria"/>
                <a:cs typeface="Cambria"/>
                <a:sym typeface="Cambria"/>
              </a:rPr>
              <a:t>rec</a:t>
            </a:r>
            <a:r>
              <a:rPr b="0" i="0" lang="en-US" sz="2000" u="none" cap="none" strike="noStrike">
                <a:solidFill>
                  <a:schemeClr val="dk1"/>
                </a:solidFill>
                <a:latin typeface="Cambria"/>
                <a:ea typeface="Cambria"/>
                <a:cs typeface="Cambria"/>
                <a:sym typeface="Cambria"/>
              </a:rPr>
              <a:t>(</a:t>
            </a:r>
            <a:r>
              <a:rPr b="0" i="1" lang="en-US" sz="2000" u="none" cap="none" strike="noStrike">
                <a:solidFill>
                  <a:schemeClr val="dk1"/>
                </a:solidFill>
                <a:latin typeface="Cambria"/>
                <a:ea typeface="Cambria"/>
                <a:cs typeface="Cambria"/>
                <a:sym typeface="Cambria"/>
              </a:rPr>
              <a:t>d</a:t>
            </a:r>
            <a:r>
              <a:rPr b="0" baseline="-25000" i="1" lang="en-US" sz="2000" u="none" cap="none" strike="noStrike">
                <a:solidFill>
                  <a:schemeClr val="dk1"/>
                </a:solidFill>
                <a:latin typeface="Cambria"/>
                <a:ea typeface="Cambria"/>
                <a:cs typeface="Cambria"/>
                <a:sym typeface="Cambria"/>
              </a:rPr>
              <a:t>ψ</a:t>
            </a:r>
            <a:r>
              <a:rPr b="0" i="0" lang="en-US" sz="2000" u="none" cap="none" strike="noStrike">
                <a:solidFill>
                  <a:schemeClr val="dk1"/>
                </a:solidFill>
                <a:latin typeface="Cambria"/>
                <a:ea typeface="Cambria"/>
                <a:cs typeface="Cambria"/>
                <a:sym typeface="Cambria"/>
              </a:rPr>
              <a:t>(</a:t>
            </a:r>
            <a:r>
              <a:rPr b="0" i="1" lang="en-US" sz="2000" u="none" cap="none" strike="noStrike">
                <a:solidFill>
                  <a:schemeClr val="dk1"/>
                </a:solidFill>
                <a:latin typeface="Cambria"/>
                <a:ea typeface="Cambria"/>
                <a:cs typeface="Cambria"/>
                <a:sym typeface="Cambria"/>
              </a:rPr>
              <a:t>z</a:t>
            </a:r>
            <a:r>
              <a:rPr b="0" i="0" lang="en-US" sz="2000" u="none" cap="none" strike="noStrike">
                <a:solidFill>
                  <a:schemeClr val="dk1"/>
                </a:solidFill>
                <a:latin typeface="Cambria"/>
                <a:ea typeface="Cambria"/>
                <a:cs typeface="Cambria"/>
                <a:sym typeface="Cambria"/>
              </a:rPr>
              <a:t>), </a:t>
            </a:r>
            <a:r>
              <a:rPr b="0" i="1" lang="en-US" sz="2000" u="none" cap="none" strike="noStrike">
                <a:solidFill>
                  <a:schemeClr val="dk1"/>
                </a:solidFill>
                <a:latin typeface="Cambria"/>
                <a:ea typeface="Cambria"/>
                <a:cs typeface="Cambria"/>
                <a:sym typeface="Cambria"/>
              </a:rPr>
              <a:t>f</a:t>
            </a:r>
            <a:r>
              <a:rPr b="0" i="0" lang="en-US" sz="2000" u="none" cap="none" strike="noStrike">
                <a:solidFill>
                  <a:schemeClr val="dk1"/>
                </a:solidFill>
                <a:latin typeface="Cambria"/>
                <a:ea typeface="Cambria"/>
                <a:cs typeface="Cambria"/>
                <a:sym typeface="Cambria"/>
              </a:rPr>
              <a:t>) + </a:t>
            </a:r>
            <a:r>
              <a:rPr b="0" i="1" lang="en-US" sz="2000" u="none" cap="none" strike="noStrike">
                <a:solidFill>
                  <a:schemeClr val="dk1"/>
                </a:solidFill>
                <a:latin typeface="Cambria"/>
                <a:ea typeface="Cambria"/>
                <a:cs typeface="Cambria"/>
                <a:sym typeface="Cambria"/>
              </a:rPr>
              <a:t>λ</a:t>
            </a:r>
            <a:r>
              <a:rPr b="0" i="0" lang="en-US" sz="2000" u="none" cap="none" strike="noStrike">
                <a:solidFill>
                  <a:schemeClr val="dk1"/>
                </a:solidFill>
                <a:latin typeface="Cambria"/>
                <a:ea typeface="Cambria"/>
                <a:cs typeface="Cambria"/>
                <a:sym typeface="Cambria"/>
              </a:rPr>
              <a:t> </a:t>
            </a:r>
            <a:r>
              <a:rPr b="0" i="1" lang="en-US" sz="2000" u="none" cap="none" strike="noStrike">
                <a:solidFill>
                  <a:schemeClr val="dk1"/>
                </a:solidFill>
                <a:latin typeface="Cambria"/>
                <a:ea typeface="Cambria"/>
                <a:cs typeface="Cambria"/>
                <a:sym typeface="Cambria"/>
              </a:rPr>
              <a:t>ℒ</a:t>
            </a:r>
            <a:r>
              <a:rPr b="0" baseline="-25000" i="0" lang="en-US" sz="2000" u="none" cap="none" strike="noStrike">
                <a:solidFill>
                  <a:schemeClr val="dk1"/>
                </a:solidFill>
                <a:latin typeface="Cambria"/>
                <a:ea typeface="Cambria"/>
                <a:cs typeface="Cambria"/>
                <a:sym typeface="Cambria"/>
              </a:rPr>
              <a:t>align</a:t>
            </a:r>
            <a:endParaRPr b="0" i="0" sz="2000" u="none" cap="none" strike="noStrike">
              <a:solidFill>
                <a:schemeClr val="dk1"/>
              </a:solidFill>
              <a:latin typeface="Calibri"/>
              <a:ea typeface="Calibri"/>
              <a:cs typeface="Calibri"/>
              <a:sym typeface="Calibri"/>
            </a:endParaRPr>
          </a:p>
        </p:txBody>
      </p:sp>
      <p:sp>
        <p:nvSpPr>
          <p:cNvPr id="271" name="Google Shape;271;p12"/>
          <p:cNvSpPr/>
          <p:nvPr/>
        </p:nvSpPr>
        <p:spPr>
          <a:xfrm>
            <a:off x="5955650" y="3557275"/>
            <a:ext cx="5775300" cy="1104300"/>
          </a:xfrm>
          <a:prstGeom prst="roundRect">
            <a:avLst>
              <a:gd fmla="val 12500" name="adj"/>
            </a:avLst>
          </a:prstGeom>
          <a:solidFill>
            <a:srgbClr val="6FA8DC"/>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2"/>
          <p:cNvSpPr txBox="1"/>
          <p:nvPr/>
        </p:nvSpPr>
        <p:spPr>
          <a:xfrm>
            <a:off x="6818110" y="3558319"/>
            <a:ext cx="40362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2000" u="none" cap="none" strike="noStrike">
                <a:solidFill>
                  <a:schemeClr val="lt1"/>
                </a:solidFill>
                <a:latin typeface="Times New Roman"/>
                <a:ea typeface="Times New Roman"/>
                <a:cs typeface="Times New Roman"/>
                <a:sym typeface="Times New Roman"/>
              </a:rPr>
              <a:t>Task-</a:t>
            </a:r>
            <a:r>
              <a:rPr b="1" i="1" lang="en-US" sz="2000" u="none" cap="none" strike="noStrike">
                <a:solidFill>
                  <a:schemeClr val="lt1"/>
                </a:solidFill>
                <a:latin typeface="Times New Roman"/>
                <a:ea typeface="Times New Roman"/>
                <a:cs typeface="Times New Roman"/>
                <a:sym typeface="Times New Roman"/>
              </a:rPr>
              <a:t>agnostic</a:t>
            </a:r>
            <a:r>
              <a:rPr b="1" i="0" lang="en-US" sz="2000" u="none" cap="none" strike="noStrike">
                <a:solidFill>
                  <a:schemeClr val="lt1"/>
                </a:solidFill>
                <a:latin typeface="Times New Roman"/>
                <a:ea typeface="Times New Roman"/>
                <a:cs typeface="Times New Roman"/>
                <a:sym typeface="Times New Roman"/>
              </a:rPr>
              <a:t> </a:t>
            </a:r>
            <a:r>
              <a:rPr lang="en-US"/>
              <a:t>contrastive alignment objective</a:t>
            </a:r>
            <a:endParaRPr i="0" sz="2000" u="none" cap="none" strike="noStrike">
              <a:solidFill>
                <a:schemeClr val="dk1"/>
              </a:solidFill>
              <a:latin typeface="Times New Roman"/>
              <a:ea typeface="Times New Roman"/>
              <a:cs typeface="Times New Roman"/>
              <a:sym typeface="Times New Roman"/>
            </a:endParaRPr>
          </a:p>
        </p:txBody>
      </p:sp>
      <p:sp>
        <p:nvSpPr>
          <p:cNvPr id="273" name="Google Shape;273;p12"/>
          <p:cNvSpPr/>
          <p:nvPr/>
        </p:nvSpPr>
        <p:spPr>
          <a:xfrm>
            <a:off x="5955650" y="4842100"/>
            <a:ext cx="5775300" cy="1104300"/>
          </a:xfrm>
          <a:prstGeom prst="roundRect">
            <a:avLst>
              <a:gd fmla="val 12500" name="adj"/>
            </a:avLst>
          </a:prstGeom>
          <a:solidFill>
            <a:srgbClr val="6FA8DC"/>
          </a:solidFill>
          <a:ln cap="flat" cmpd="sng" w="9525">
            <a:solidFill>
              <a:srgbClr val="DCD9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2"/>
          <p:cNvSpPr txBox="1"/>
          <p:nvPr/>
        </p:nvSpPr>
        <p:spPr>
          <a:xfrm>
            <a:off x="6758250" y="4913565"/>
            <a:ext cx="4036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2000" u="none" cap="none" strike="noStrike">
                <a:solidFill>
                  <a:schemeClr val="lt1"/>
                </a:solidFill>
                <a:latin typeface="Times New Roman"/>
                <a:ea typeface="Times New Roman"/>
                <a:cs typeface="Times New Roman"/>
                <a:sym typeface="Times New Roman"/>
              </a:rPr>
              <a:t>Task-</a:t>
            </a:r>
            <a:r>
              <a:rPr b="1" i="1" lang="en-US" sz="2000" u="none" cap="none" strike="noStrike">
                <a:solidFill>
                  <a:schemeClr val="lt1"/>
                </a:solidFill>
                <a:latin typeface="Times New Roman"/>
                <a:ea typeface="Times New Roman"/>
                <a:cs typeface="Times New Roman"/>
                <a:sym typeface="Times New Roman"/>
              </a:rPr>
              <a:t>aware</a:t>
            </a:r>
            <a:r>
              <a:rPr b="1" i="0" lang="en-US" sz="2000" u="none" cap="none" strike="noStrike">
                <a:solidFill>
                  <a:schemeClr val="lt1"/>
                </a:solidFill>
                <a:latin typeface="Times New Roman"/>
                <a:ea typeface="Times New Roman"/>
                <a:cs typeface="Times New Roman"/>
                <a:sym typeface="Times New Roman"/>
              </a:rPr>
              <a:t> </a:t>
            </a:r>
            <a:r>
              <a:rPr i="0" lang="en-US" u="none" cap="none" strike="noStrike">
                <a:solidFill>
                  <a:schemeClr val="accent3"/>
                </a:solidFill>
              </a:rPr>
              <a:t>supervised contrastive learning</a:t>
            </a:r>
            <a:endParaRPr i="0" u="none" cap="none" strike="noStrike">
              <a:solidFill>
                <a:schemeClr val="accent3"/>
              </a:solidFill>
            </a:endParaRPr>
          </a:p>
        </p:txBody>
      </p:sp>
      <p:sp>
        <p:nvSpPr>
          <p:cNvPr id="275" name="Google Shape;275;p12"/>
          <p:cNvSpPr/>
          <p:nvPr/>
        </p:nvSpPr>
        <p:spPr>
          <a:xfrm rot="-5400000">
            <a:off x="2724925" y="4992500"/>
            <a:ext cx="187500" cy="1252800"/>
          </a:xfrm>
          <a:prstGeom prst="leftBrace">
            <a:avLst>
              <a:gd fmla="val 50000" name="adj1"/>
              <a:gd fmla="val 4850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6" name="Google Shape;276;p12"/>
          <p:cNvSpPr/>
          <p:nvPr/>
        </p:nvSpPr>
        <p:spPr>
          <a:xfrm rot="-5400000">
            <a:off x="4003825" y="5206275"/>
            <a:ext cx="153600" cy="797700"/>
          </a:xfrm>
          <a:prstGeom prst="leftBrace">
            <a:avLst>
              <a:gd fmla="val 50000" name="adj1"/>
              <a:gd fmla="val 47374"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7" name="Google Shape;277;p12"/>
          <p:cNvSpPr txBox="1"/>
          <p:nvPr/>
        </p:nvSpPr>
        <p:spPr>
          <a:xfrm>
            <a:off x="1914775" y="5563420"/>
            <a:ext cx="18078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US">
                <a:solidFill>
                  <a:srgbClr val="A64D79"/>
                </a:solidFill>
                <a:latin typeface="Georgia"/>
                <a:ea typeface="Georgia"/>
                <a:cs typeface="Georgia"/>
                <a:sym typeface="Georgia"/>
              </a:rPr>
              <a:t>Reconstruction loss</a:t>
            </a:r>
            <a:endParaRPr b="1" i="1" sz="800">
              <a:solidFill>
                <a:srgbClr val="A64D79"/>
              </a:solidFill>
              <a:latin typeface="Georgia"/>
              <a:ea typeface="Georgia"/>
              <a:cs typeface="Georgia"/>
              <a:sym typeface="Georgia"/>
            </a:endParaRPr>
          </a:p>
        </p:txBody>
      </p:sp>
      <p:sp>
        <p:nvSpPr>
          <p:cNvPr id="278" name="Google Shape;278;p12"/>
          <p:cNvSpPr txBox="1"/>
          <p:nvPr/>
        </p:nvSpPr>
        <p:spPr>
          <a:xfrm>
            <a:off x="3425727" y="5531518"/>
            <a:ext cx="14328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US">
                <a:solidFill>
                  <a:srgbClr val="A64D79"/>
                </a:solidFill>
                <a:latin typeface="Georgia"/>
                <a:ea typeface="Georgia"/>
                <a:cs typeface="Georgia"/>
                <a:sym typeface="Georgia"/>
              </a:rPr>
              <a:t>Alignment loss</a:t>
            </a:r>
            <a:endParaRPr b="1" i="1" sz="800">
              <a:solidFill>
                <a:srgbClr val="A64D79"/>
              </a:solidFill>
              <a:latin typeface="Georgia"/>
              <a:ea typeface="Georgia"/>
              <a:cs typeface="Georgia"/>
              <a:sym typeface="Georgia"/>
            </a:endParaRPr>
          </a:p>
        </p:txBody>
      </p:sp>
      <p:pic>
        <p:nvPicPr>
          <p:cNvPr descr="Loss equals reconstruction error plus lambda times InfoNCE between z and the modality embeddings" id="279" name="Google Shape;279;p12"/>
          <p:cNvPicPr preferRelativeResize="0"/>
          <p:nvPr/>
        </p:nvPicPr>
        <p:blipFill rotWithShape="1">
          <a:blip r:embed="rId3">
            <a:alphaModFix/>
          </a:blip>
          <a:srcRect b="-130" l="1206" r="-29477" t="-130"/>
          <a:stretch/>
        </p:blipFill>
        <p:spPr>
          <a:xfrm>
            <a:off x="6195543" y="3912071"/>
            <a:ext cx="7102352" cy="476250"/>
          </a:xfrm>
          <a:prstGeom prst="rect">
            <a:avLst/>
          </a:prstGeom>
          <a:noFill/>
          <a:ln>
            <a:noFill/>
          </a:ln>
        </p:spPr>
      </p:pic>
      <p:pic>
        <p:nvPicPr>
          <p:cNvPr descr="Loss equals reconstruction error plus lambda times supervised contrastive loss on z and label y" id="280" name="Google Shape;280;p12"/>
          <p:cNvPicPr preferRelativeResize="0"/>
          <p:nvPr/>
        </p:nvPicPr>
        <p:blipFill rotWithShape="1">
          <a:blip r:embed="rId4">
            <a:alphaModFix/>
          </a:blip>
          <a:srcRect b="0" l="-110" r="-120" t="0"/>
          <a:stretch/>
        </p:blipFill>
        <p:spPr>
          <a:xfrm>
            <a:off x="6542751" y="5185203"/>
            <a:ext cx="4864088" cy="476250"/>
          </a:xfrm>
          <a:prstGeom prst="rect">
            <a:avLst/>
          </a:prstGeom>
          <a:noFill/>
          <a:ln>
            <a:noFill/>
          </a:ln>
        </p:spPr>
      </p:pic>
      <p:sp>
        <p:nvSpPr>
          <p:cNvPr id="281" name="Google Shape;281;p12"/>
          <p:cNvSpPr txBox="1"/>
          <p:nvPr/>
        </p:nvSpPr>
        <p:spPr>
          <a:xfrm>
            <a:off x="6055925" y="4320623"/>
            <a:ext cx="5626200" cy="3540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lang="en-US" sz="1100">
                <a:solidFill>
                  <a:schemeClr val="lt1"/>
                </a:solidFill>
              </a:rPr>
              <a:t>each sample is its own class: </a:t>
            </a:r>
            <a:r>
              <a:rPr i="1" lang="en-US" sz="1100">
                <a:solidFill>
                  <a:schemeClr val="lt1"/>
                </a:solidFill>
              </a:rPr>
              <a:t>z</a:t>
            </a:r>
            <a:r>
              <a:rPr lang="en-US" sz="1100">
                <a:solidFill>
                  <a:schemeClr val="lt1"/>
                </a:solidFill>
              </a:rPr>
              <a:t> stays close to its own image and caption embeddings</a:t>
            </a:r>
            <a:endParaRPr>
              <a:solidFill>
                <a:schemeClr val="lt1"/>
              </a:solidFill>
            </a:endParaRPr>
          </a:p>
        </p:txBody>
      </p:sp>
      <p:sp>
        <p:nvSpPr>
          <p:cNvPr id="282" name="Google Shape;282;p12"/>
          <p:cNvSpPr txBox="1"/>
          <p:nvPr/>
        </p:nvSpPr>
        <p:spPr>
          <a:xfrm>
            <a:off x="6758256" y="5566484"/>
            <a:ext cx="5179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chemeClr val="lt1"/>
                </a:solidFill>
              </a:rPr>
              <a:t>each label is a class: </a:t>
            </a:r>
            <a:r>
              <a:rPr i="1" lang="en-US" sz="1100">
                <a:solidFill>
                  <a:schemeClr val="lt1"/>
                </a:solidFill>
              </a:rPr>
              <a:t>z</a:t>
            </a:r>
            <a:r>
              <a:rPr lang="en-US" sz="1100">
                <a:solidFill>
                  <a:schemeClr val="lt1"/>
                </a:solidFill>
              </a:rPr>
              <a:t>’s with the same label stay close</a:t>
            </a:r>
            <a:endParaRPr>
              <a:solidFill>
                <a:schemeClr val="lt1"/>
              </a:solidFill>
            </a:endParaRPr>
          </a:p>
        </p:txBody>
      </p:sp>
      <p:cxnSp>
        <p:nvCxnSpPr>
          <p:cNvPr id="283" name="Google Shape;283;p12"/>
          <p:cNvCxnSpPr>
            <a:endCxn id="271" idx="1"/>
          </p:cNvCxnSpPr>
          <p:nvPr/>
        </p:nvCxnSpPr>
        <p:spPr>
          <a:xfrm flipH="1" rot="10800000">
            <a:off x="4686950" y="4109425"/>
            <a:ext cx="1268700" cy="1611000"/>
          </a:xfrm>
          <a:prstGeom prst="straightConnector1">
            <a:avLst/>
          </a:prstGeom>
          <a:noFill/>
          <a:ln cap="flat" cmpd="sng" w="28575">
            <a:solidFill>
              <a:srgbClr val="B83C7A"/>
            </a:solidFill>
            <a:prstDash val="solid"/>
            <a:round/>
            <a:headEnd len="med" w="med" type="none"/>
            <a:tailEnd len="med" w="med" type="triangle"/>
          </a:ln>
        </p:spPr>
      </p:cxnSp>
      <p:cxnSp>
        <p:nvCxnSpPr>
          <p:cNvPr id="284" name="Google Shape;284;p12"/>
          <p:cNvCxnSpPr>
            <a:endCxn id="273" idx="1"/>
          </p:cNvCxnSpPr>
          <p:nvPr/>
        </p:nvCxnSpPr>
        <p:spPr>
          <a:xfrm flipH="1" rot="10800000">
            <a:off x="4686950" y="5394250"/>
            <a:ext cx="1268700" cy="315900"/>
          </a:xfrm>
          <a:prstGeom prst="straightConnector1">
            <a:avLst/>
          </a:prstGeom>
          <a:noFill/>
          <a:ln cap="flat" cmpd="sng" w="28575">
            <a:solidFill>
              <a:srgbClr val="A64D79"/>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3"/>
          <p:cNvSpPr txBox="1"/>
          <p:nvPr>
            <p:ph idx="1" type="body"/>
          </p:nvPr>
        </p:nvSpPr>
        <p:spPr>
          <a:xfrm>
            <a:off x="813816" y="677928"/>
            <a:ext cx="10561200" cy="29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1200"/>
              <a:buNone/>
            </a:pPr>
            <a:r>
              <a:rPr b="1" lang="en-US" sz="1500">
                <a:solidFill>
                  <a:srgbClr val="A64D79"/>
                </a:solidFill>
                <a:latin typeface="Calibri"/>
                <a:ea typeface="Calibri"/>
                <a:cs typeface="Calibri"/>
                <a:sym typeface="Calibri"/>
              </a:rPr>
              <a:t>REPRESENTATION-CENTRIC DESIGN</a:t>
            </a:r>
            <a:endParaRPr sz="1500">
              <a:solidFill>
                <a:srgbClr val="A64D79"/>
              </a:solidFill>
            </a:endParaRPr>
          </a:p>
        </p:txBody>
      </p:sp>
      <p:sp>
        <p:nvSpPr>
          <p:cNvPr id="291" name="Google Shape;291;p13"/>
          <p:cNvSpPr txBox="1"/>
          <p:nvPr>
            <p:ph type="title"/>
          </p:nvPr>
        </p:nvSpPr>
        <p:spPr>
          <a:xfrm>
            <a:off x="813816" y="896112"/>
            <a:ext cx="10561200" cy="64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000"/>
              <a:buFont typeface="Cambria"/>
              <a:buNone/>
            </a:pPr>
            <a:r>
              <a:rPr lang="en-US">
                <a:solidFill>
                  <a:schemeClr val="dk1"/>
                </a:solidFill>
                <a:latin typeface="Georgia"/>
                <a:ea typeface="Georgia"/>
                <a:cs typeface="Georgia"/>
                <a:sym typeface="Georgia"/>
              </a:rPr>
              <a:t>Two system-level benefits</a:t>
            </a:r>
            <a:endParaRPr>
              <a:latin typeface="Georgia"/>
              <a:ea typeface="Georgia"/>
              <a:cs typeface="Georgia"/>
              <a:sym typeface="Georgia"/>
            </a:endParaRPr>
          </a:p>
        </p:txBody>
      </p:sp>
      <p:sp>
        <p:nvSpPr>
          <p:cNvPr id="292" name="Google Shape;292;p13"/>
          <p:cNvSpPr/>
          <p:nvPr/>
        </p:nvSpPr>
        <p:spPr>
          <a:xfrm>
            <a:off x="813826" y="1828800"/>
            <a:ext cx="4457700" cy="3612000"/>
          </a:xfrm>
          <a:prstGeom prst="roundRect">
            <a:avLst>
              <a:gd fmla="val 2532" name="adj"/>
            </a:avLst>
          </a:prstGeom>
          <a:solidFill>
            <a:srgbClr val="FFFFFE"/>
          </a:solidFill>
          <a:ln cap="flat" cmpd="sng" w="9525">
            <a:solidFill>
              <a:srgbClr val="DCD9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3"/>
          <p:cNvSpPr/>
          <p:nvPr/>
        </p:nvSpPr>
        <p:spPr>
          <a:xfrm>
            <a:off x="1088136" y="2103120"/>
            <a:ext cx="384000" cy="3840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3"/>
          <p:cNvSpPr txBox="1"/>
          <p:nvPr/>
        </p:nvSpPr>
        <p:spPr>
          <a:xfrm>
            <a:off x="1088136" y="2103120"/>
            <a:ext cx="3840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500"/>
              <a:buFont typeface="Calibri"/>
              <a:buNone/>
            </a:pPr>
            <a:r>
              <a:rPr b="1" i="0" lang="en-US" sz="1500" u="none" cap="none" strike="noStrike">
                <a:solidFill>
                  <a:schemeClr val="lt1"/>
                </a:solidFill>
                <a:latin typeface="Calibri"/>
                <a:ea typeface="Calibri"/>
                <a:cs typeface="Calibri"/>
                <a:sym typeface="Calibri"/>
              </a:rPr>
              <a:t>1</a:t>
            </a:r>
            <a:endParaRPr b="0" i="0" sz="1500" u="none" cap="none" strike="noStrike">
              <a:solidFill>
                <a:schemeClr val="dk1"/>
              </a:solidFill>
              <a:latin typeface="Calibri"/>
              <a:ea typeface="Calibri"/>
              <a:cs typeface="Calibri"/>
              <a:sym typeface="Calibri"/>
            </a:endParaRPr>
          </a:p>
        </p:txBody>
      </p:sp>
      <p:sp>
        <p:nvSpPr>
          <p:cNvPr id="295" name="Google Shape;295;p13"/>
          <p:cNvSpPr txBox="1"/>
          <p:nvPr/>
        </p:nvSpPr>
        <p:spPr>
          <a:xfrm>
            <a:off x="1591056" y="2084832"/>
            <a:ext cx="32004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sz="2000" u="none" cap="none" strike="noStrike">
                <a:solidFill>
                  <a:schemeClr val="dk1"/>
                </a:solidFill>
                <a:latin typeface="Times New Roman"/>
                <a:ea typeface="Times New Roman"/>
                <a:cs typeface="Times New Roman"/>
                <a:sym typeface="Times New Roman"/>
              </a:rPr>
              <a:t>Raw data stays on the device</a:t>
            </a:r>
            <a:endParaRPr i="0" sz="2000" u="none" cap="none" strike="noStrike">
              <a:solidFill>
                <a:schemeClr val="dk1"/>
              </a:solidFill>
              <a:latin typeface="Times New Roman"/>
              <a:ea typeface="Times New Roman"/>
              <a:cs typeface="Times New Roman"/>
              <a:sym typeface="Times New Roman"/>
            </a:endParaRPr>
          </a:p>
        </p:txBody>
      </p:sp>
      <p:sp>
        <p:nvSpPr>
          <p:cNvPr id="296" name="Google Shape;296;p13"/>
          <p:cNvSpPr/>
          <p:nvPr/>
        </p:nvSpPr>
        <p:spPr>
          <a:xfrm>
            <a:off x="1088136" y="2788920"/>
            <a:ext cx="1600200" cy="548700"/>
          </a:xfrm>
          <a:prstGeom prst="roundRect">
            <a:avLst>
              <a:gd fmla="val 13333" name="adj"/>
            </a:avLst>
          </a:prstGeom>
          <a:solidFill>
            <a:srgbClr val="FFFFFE"/>
          </a:solidFill>
          <a:ln cap="flat" cmpd="sng" w="15875">
            <a:solidFill>
              <a:srgbClr val="8FB0D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7" name="Google Shape;297;p13"/>
          <p:cNvPicPr preferRelativeResize="0"/>
          <p:nvPr/>
        </p:nvPicPr>
        <p:blipFill rotWithShape="1">
          <a:blip r:embed="rId3">
            <a:alphaModFix/>
          </a:blip>
          <a:srcRect b="0" l="0" r="0" t="0"/>
          <a:stretch/>
        </p:blipFill>
        <p:spPr>
          <a:xfrm>
            <a:off x="1197864" y="2944368"/>
            <a:ext cx="237744" cy="237744"/>
          </a:xfrm>
          <a:prstGeom prst="rect">
            <a:avLst/>
          </a:prstGeom>
          <a:noFill/>
          <a:ln>
            <a:noFill/>
          </a:ln>
        </p:spPr>
      </p:pic>
      <p:sp>
        <p:nvSpPr>
          <p:cNvPr id="298" name="Google Shape;298;p13"/>
          <p:cNvSpPr txBox="1"/>
          <p:nvPr/>
        </p:nvSpPr>
        <p:spPr>
          <a:xfrm>
            <a:off x="1499616" y="2788920"/>
            <a:ext cx="11430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1" i="0" lang="en-US" sz="1300" u="none" cap="none" strike="noStrike">
                <a:solidFill>
                  <a:schemeClr val="dk1"/>
                </a:solidFill>
                <a:latin typeface="Calibri"/>
                <a:ea typeface="Calibri"/>
                <a:cs typeface="Calibri"/>
                <a:sym typeface="Calibri"/>
              </a:rPr>
              <a:t>raw sensor data</a:t>
            </a:r>
            <a:endParaRPr b="1" i="0" sz="1300" u="none" cap="none" strike="noStrike">
              <a:solidFill>
                <a:schemeClr val="dk1"/>
              </a:solidFill>
              <a:latin typeface="Calibri"/>
              <a:ea typeface="Calibri"/>
              <a:cs typeface="Calibri"/>
              <a:sym typeface="Calibri"/>
            </a:endParaRPr>
          </a:p>
        </p:txBody>
      </p:sp>
      <p:sp>
        <p:nvSpPr>
          <p:cNvPr id="299" name="Google Shape;299;p13"/>
          <p:cNvSpPr txBox="1"/>
          <p:nvPr/>
        </p:nvSpPr>
        <p:spPr>
          <a:xfrm>
            <a:off x="2734056" y="2715768"/>
            <a:ext cx="8229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4"/>
              </a:buClr>
              <a:buSzPts val="1200"/>
              <a:buFont typeface="Calibri"/>
              <a:buNone/>
            </a:pPr>
            <a:r>
              <a:rPr b="1" i="0" lang="en-US" sz="1700" u="none" cap="none" strike="noStrike">
                <a:solidFill>
                  <a:schemeClr val="accent3"/>
                </a:solidFill>
                <a:latin typeface="Calibri"/>
                <a:ea typeface="Calibri"/>
                <a:cs typeface="Calibri"/>
                <a:sym typeface="Calibri"/>
              </a:rPr>
              <a:t>only </a:t>
            </a:r>
            <a:r>
              <a:rPr b="1" i="1" lang="en-US" sz="1700" u="none" cap="none" strike="noStrike">
                <a:solidFill>
                  <a:schemeClr val="accent3"/>
                </a:solidFill>
                <a:latin typeface="Calibri"/>
                <a:ea typeface="Calibri"/>
                <a:cs typeface="Calibri"/>
                <a:sym typeface="Calibri"/>
              </a:rPr>
              <a:t>z</a:t>
            </a:r>
            <a:endParaRPr b="0" i="0" sz="1700" u="none" cap="none" strike="noStrike">
              <a:solidFill>
                <a:schemeClr val="accent3"/>
              </a:solidFill>
              <a:latin typeface="Calibri"/>
              <a:ea typeface="Calibri"/>
              <a:cs typeface="Calibri"/>
              <a:sym typeface="Calibri"/>
            </a:endParaRPr>
          </a:p>
        </p:txBody>
      </p:sp>
      <p:cxnSp>
        <p:nvCxnSpPr>
          <p:cNvPr id="300" name="Google Shape;300;p13"/>
          <p:cNvCxnSpPr/>
          <p:nvPr/>
        </p:nvCxnSpPr>
        <p:spPr>
          <a:xfrm>
            <a:off x="2779776" y="3063240"/>
            <a:ext cx="731400" cy="0"/>
          </a:xfrm>
          <a:prstGeom prst="straightConnector1">
            <a:avLst/>
          </a:prstGeom>
          <a:noFill/>
          <a:ln cap="flat" cmpd="sng" w="50800">
            <a:solidFill>
              <a:srgbClr val="E07A2E"/>
            </a:solidFill>
            <a:prstDash val="solid"/>
            <a:round/>
            <a:headEnd len="sm" w="sm" type="none"/>
            <a:tailEnd len="med" w="med" type="triangle"/>
          </a:ln>
        </p:spPr>
      </p:cxnSp>
      <p:sp>
        <p:nvSpPr>
          <p:cNvPr id="301" name="Google Shape;301;p13"/>
          <p:cNvSpPr/>
          <p:nvPr/>
        </p:nvSpPr>
        <p:spPr>
          <a:xfrm>
            <a:off x="3602736" y="2788920"/>
            <a:ext cx="1097400" cy="548700"/>
          </a:xfrm>
          <a:prstGeom prst="roundRect">
            <a:avLst>
              <a:gd fmla="val 13333" name="adj"/>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3"/>
          <p:cNvSpPr txBox="1"/>
          <p:nvPr/>
        </p:nvSpPr>
        <p:spPr>
          <a:xfrm>
            <a:off x="3602736" y="2788920"/>
            <a:ext cx="10974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6F2"/>
              </a:buClr>
              <a:buSzPts val="1250"/>
              <a:buFont typeface="Calibri"/>
              <a:buNone/>
            </a:pPr>
            <a:r>
              <a:rPr b="1" i="0" lang="en-US" sz="1850" u="none" cap="none" strike="noStrike">
                <a:solidFill>
                  <a:srgbClr val="F7F6F2"/>
                </a:solidFill>
                <a:latin typeface="Calibri"/>
                <a:ea typeface="Calibri"/>
                <a:cs typeface="Calibri"/>
                <a:sym typeface="Calibri"/>
              </a:rPr>
              <a:t>server</a:t>
            </a:r>
            <a:endParaRPr b="0" i="0" sz="1850" u="none" cap="none" strike="noStrike">
              <a:solidFill>
                <a:schemeClr val="dk1"/>
              </a:solidFill>
              <a:latin typeface="Calibri"/>
              <a:ea typeface="Calibri"/>
              <a:cs typeface="Calibri"/>
              <a:sym typeface="Calibri"/>
            </a:endParaRPr>
          </a:p>
        </p:txBody>
      </p:sp>
      <p:sp>
        <p:nvSpPr>
          <p:cNvPr id="303" name="Google Shape;303;p13"/>
          <p:cNvSpPr txBox="1"/>
          <p:nvPr/>
        </p:nvSpPr>
        <p:spPr>
          <a:xfrm>
            <a:off x="867875" y="3846775"/>
            <a:ext cx="4340100" cy="1344900"/>
          </a:xfrm>
          <a:prstGeom prst="rect">
            <a:avLst/>
          </a:prstGeom>
          <a:noFill/>
          <a:ln>
            <a:noFill/>
          </a:ln>
        </p:spPr>
        <p:txBody>
          <a:bodyPr anchorCtr="0" anchor="t" bIns="0" lIns="0" spcFirstLastPara="1" rIns="0" wrap="square" tIns="0">
            <a:noAutofit/>
          </a:bodyPr>
          <a:lstStyle/>
          <a:p>
            <a:pPr indent="-342900" lvl="0" marL="457200" marR="0" rtl="0" algn="l">
              <a:spcBef>
                <a:spcPts val="0"/>
              </a:spcBef>
              <a:spcAft>
                <a:spcPts val="0"/>
              </a:spcAft>
              <a:buClr>
                <a:schemeClr val="accent3"/>
              </a:buClr>
              <a:buSzPts val="1800"/>
              <a:buFont typeface="Times New Roman"/>
              <a:buChar char="●"/>
            </a:pPr>
            <a:r>
              <a:rPr i="0" lang="en-US" sz="1800" u="none" cap="none" strike="noStrike">
                <a:solidFill>
                  <a:schemeClr val="accent3"/>
                </a:solidFill>
                <a:latin typeface="Times New Roman"/>
                <a:ea typeface="Times New Roman"/>
                <a:cs typeface="Times New Roman"/>
                <a:sym typeface="Times New Roman"/>
              </a:rPr>
              <a:t>Only compact multimodal representations cross the edge–server link</a:t>
            </a:r>
            <a:endParaRPr i="0" sz="1800" u="none" cap="none" strike="noStrike">
              <a:solidFill>
                <a:schemeClr val="accent3"/>
              </a:solidFill>
              <a:latin typeface="Times New Roman"/>
              <a:ea typeface="Times New Roman"/>
              <a:cs typeface="Times New Roman"/>
              <a:sym typeface="Times New Roman"/>
            </a:endParaRPr>
          </a:p>
          <a:p>
            <a:pPr indent="-342900" lvl="0" marL="457200" rtl="0" algn="l">
              <a:spcBef>
                <a:spcPts val="0"/>
              </a:spcBef>
              <a:spcAft>
                <a:spcPts val="0"/>
              </a:spcAft>
              <a:buClr>
                <a:schemeClr val="accent3"/>
              </a:buClr>
              <a:buSzPts val="1800"/>
              <a:buFont typeface="Times New Roman"/>
              <a:buChar char="●"/>
            </a:pPr>
            <a:r>
              <a:rPr lang="en-US" sz="1850">
                <a:solidFill>
                  <a:schemeClr val="accent3"/>
                </a:solidFill>
                <a:latin typeface="Times New Roman"/>
                <a:ea typeface="Times New Roman"/>
                <a:cs typeface="Times New Roman"/>
                <a:sym typeface="Times New Roman"/>
              </a:rPr>
              <a:t>Reduces exposure of raw sensor observations, while preserving the information server-side reasoning needs</a:t>
            </a:r>
            <a:endParaRPr sz="1800">
              <a:solidFill>
                <a:schemeClr val="accent3"/>
              </a:solidFill>
              <a:latin typeface="Times New Roman"/>
              <a:ea typeface="Times New Roman"/>
              <a:cs typeface="Times New Roman"/>
              <a:sym typeface="Times New Roman"/>
            </a:endParaRPr>
          </a:p>
        </p:txBody>
      </p:sp>
      <p:sp>
        <p:nvSpPr>
          <p:cNvPr id="304" name="Google Shape;304;p13"/>
          <p:cNvSpPr/>
          <p:nvPr/>
        </p:nvSpPr>
        <p:spPr>
          <a:xfrm>
            <a:off x="5509457" y="1828800"/>
            <a:ext cx="6080700" cy="3612000"/>
          </a:xfrm>
          <a:prstGeom prst="roundRect">
            <a:avLst>
              <a:gd fmla="val 2532" name="adj"/>
            </a:avLst>
          </a:prstGeom>
          <a:solidFill>
            <a:srgbClr val="FFFFFE"/>
          </a:solidFill>
          <a:ln cap="flat" cmpd="sng" w="9525">
            <a:solidFill>
              <a:srgbClr val="DCD9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3"/>
          <p:cNvSpPr/>
          <p:nvPr/>
        </p:nvSpPr>
        <p:spPr>
          <a:xfrm>
            <a:off x="5783777" y="2103120"/>
            <a:ext cx="384000" cy="3840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3"/>
          <p:cNvSpPr txBox="1"/>
          <p:nvPr/>
        </p:nvSpPr>
        <p:spPr>
          <a:xfrm>
            <a:off x="5783777" y="2103120"/>
            <a:ext cx="3840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500"/>
              <a:buFont typeface="Calibri"/>
              <a:buNone/>
            </a:pPr>
            <a:r>
              <a:rPr b="1" i="0" lang="en-US" sz="1500" u="none" cap="none" strike="noStrike">
                <a:solidFill>
                  <a:schemeClr val="lt1"/>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307" name="Google Shape;307;p13"/>
          <p:cNvSpPr txBox="1"/>
          <p:nvPr/>
        </p:nvSpPr>
        <p:spPr>
          <a:xfrm>
            <a:off x="6286697" y="2084832"/>
            <a:ext cx="50748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sz="2000" u="none" cap="none" strike="noStrike">
                <a:solidFill>
                  <a:schemeClr val="dk1"/>
                </a:solidFill>
                <a:latin typeface="Times New Roman"/>
                <a:ea typeface="Times New Roman"/>
                <a:cs typeface="Times New Roman"/>
                <a:sym typeface="Times New Roman"/>
              </a:rPr>
              <a:t>Compression decoupled from reasoning</a:t>
            </a:r>
            <a:endParaRPr i="0" sz="2000" u="none" cap="none" strike="noStrike">
              <a:solidFill>
                <a:schemeClr val="dk1"/>
              </a:solidFill>
              <a:latin typeface="Times New Roman"/>
              <a:ea typeface="Times New Roman"/>
              <a:cs typeface="Times New Roman"/>
              <a:sym typeface="Times New Roman"/>
            </a:endParaRPr>
          </a:p>
        </p:txBody>
      </p:sp>
      <p:sp>
        <p:nvSpPr>
          <p:cNvPr id="308" name="Google Shape;308;p13"/>
          <p:cNvSpPr/>
          <p:nvPr/>
        </p:nvSpPr>
        <p:spPr>
          <a:xfrm>
            <a:off x="5783777" y="2743200"/>
            <a:ext cx="1463100" cy="640200"/>
          </a:xfrm>
          <a:prstGeom prst="roundRect">
            <a:avLst>
              <a:gd fmla="val 11429" name="adj"/>
            </a:avLst>
          </a:prstGeom>
          <a:solidFill>
            <a:srgbClr val="2F5D9A"/>
          </a:solidFill>
          <a:ln cap="flat" cmpd="sng" w="12700">
            <a:solidFill>
              <a:srgbClr val="2F5D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3"/>
          <p:cNvSpPr txBox="1"/>
          <p:nvPr/>
        </p:nvSpPr>
        <p:spPr>
          <a:xfrm>
            <a:off x="5783777" y="2743200"/>
            <a:ext cx="14631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6F2"/>
              </a:buClr>
              <a:buSzPts val="1250"/>
              <a:buFont typeface="Calibri"/>
              <a:buNone/>
            </a:pPr>
            <a:r>
              <a:rPr b="1" i="0" lang="en-US" sz="1500" u="none" cap="none" strike="noStrike">
                <a:solidFill>
                  <a:srgbClr val="F7F6F2"/>
                </a:solidFill>
                <a:latin typeface="Calibri"/>
                <a:ea typeface="Calibri"/>
                <a:cs typeface="Calibri"/>
                <a:sym typeface="Calibri"/>
              </a:rPr>
              <a:t>Compressor</a:t>
            </a:r>
            <a:endParaRPr b="0" i="0" sz="15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CE6F4"/>
              </a:buClr>
              <a:buSzPts val="1100"/>
              <a:buFont typeface="Calibri"/>
              <a:buNone/>
            </a:pPr>
            <a:r>
              <a:rPr b="0" i="0" lang="en-US" sz="1500" u="none" cap="none" strike="noStrike">
                <a:solidFill>
                  <a:srgbClr val="DCE6F4"/>
                </a:solidFill>
                <a:latin typeface="Calibri"/>
                <a:ea typeface="Calibri"/>
                <a:cs typeface="Calibri"/>
                <a:sym typeface="Calibri"/>
              </a:rPr>
              <a:t>any method / ratio</a:t>
            </a:r>
            <a:endParaRPr b="0" i="0" sz="1500" u="none" cap="none" strike="noStrike">
              <a:solidFill>
                <a:schemeClr val="dk1"/>
              </a:solidFill>
              <a:latin typeface="Calibri"/>
              <a:ea typeface="Calibri"/>
              <a:cs typeface="Calibri"/>
              <a:sym typeface="Calibri"/>
            </a:endParaRPr>
          </a:p>
        </p:txBody>
      </p:sp>
      <p:cxnSp>
        <p:nvCxnSpPr>
          <p:cNvPr id="310" name="Google Shape;310;p13"/>
          <p:cNvCxnSpPr/>
          <p:nvPr/>
        </p:nvCxnSpPr>
        <p:spPr>
          <a:xfrm>
            <a:off x="7292537" y="3063240"/>
            <a:ext cx="274200" cy="0"/>
          </a:xfrm>
          <a:prstGeom prst="straightConnector1">
            <a:avLst/>
          </a:prstGeom>
          <a:noFill/>
          <a:ln cap="flat" cmpd="sng" w="38100">
            <a:solidFill>
              <a:srgbClr val="E07A2E"/>
            </a:solidFill>
            <a:prstDash val="solid"/>
            <a:round/>
            <a:headEnd len="sm" w="sm" type="none"/>
            <a:tailEnd len="med" w="med" type="triangle"/>
          </a:ln>
        </p:spPr>
      </p:cxnSp>
      <p:sp>
        <p:nvSpPr>
          <p:cNvPr id="311" name="Google Shape;311;p13"/>
          <p:cNvSpPr txBox="1"/>
          <p:nvPr/>
        </p:nvSpPr>
        <p:spPr>
          <a:xfrm>
            <a:off x="7612577" y="2743200"/>
            <a:ext cx="2742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4"/>
              </a:buClr>
              <a:buSzPts val="1800"/>
              <a:buFont typeface="Cambria"/>
              <a:buNone/>
            </a:pPr>
            <a:r>
              <a:rPr b="1" i="1" lang="en-US" sz="2000" u="none" cap="none" strike="noStrike">
                <a:solidFill>
                  <a:schemeClr val="accent3"/>
                </a:solidFill>
                <a:latin typeface="Cambria"/>
                <a:ea typeface="Cambria"/>
                <a:cs typeface="Cambria"/>
                <a:sym typeface="Cambria"/>
              </a:rPr>
              <a:t>z</a:t>
            </a:r>
            <a:endParaRPr b="0" i="0" sz="2000" u="none" cap="none" strike="noStrike">
              <a:solidFill>
                <a:schemeClr val="accent3"/>
              </a:solidFill>
              <a:latin typeface="Calibri"/>
              <a:ea typeface="Calibri"/>
              <a:cs typeface="Calibri"/>
              <a:sym typeface="Calibri"/>
            </a:endParaRPr>
          </a:p>
        </p:txBody>
      </p:sp>
      <p:cxnSp>
        <p:nvCxnSpPr>
          <p:cNvPr id="312" name="Google Shape;312;p13"/>
          <p:cNvCxnSpPr/>
          <p:nvPr/>
        </p:nvCxnSpPr>
        <p:spPr>
          <a:xfrm>
            <a:off x="7932617" y="3063240"/>
            <a:ext cx="274200" cy="0"/>
          </a:xfrm>
          <a:prstGeom prst="straightConnector1">
            <a:avLst/>
          </a:prstGeom>
          <a:noFill/>
          <a:ln cap="flat" cmpd="sng" w="38100">
            <a:solidFill>
              <a:srgbClr val="E07A2E"/>
            </a:solidFill>
            <a:prstDash val="solid"/>
            <a:round/>
            <a:headEnd len="sm" w="sm" type="none"/>
            <a:tailEnd len="med" w="med" type="triangle"/>
          </a:ln>
        </p:spPr>
      </p:cxnSp>
      <p:sp>
        <p:nvSpPr>
          <p:cNvPr id="313" name="Google Shape;313;p13"/>
          <p:cNvSpPr/>
          <p:nvPr/>
        </p:nvSpPr>
        <p:spPr>
          <a:xfrm>
            <a:off x="8252657" y="2743200"/>
            <a:ext cx="1326000" cy="640200"/>
          </a:xfrm>
          <a:prstGeom prst="roundRect">
            <a:avLst>
              <a:gd fmla="val 11429" name="adj"/>
            </a:avLst>
          </a:prstGeom>
          <a:solidFill>
            <a:srgbClr val="4E9A6B"/>
          </a:solidFill>
          <a:ln cap="flat" cmpd="sng" w="12700">
            <a:solidFill>
              <a:srgbClr val="4E9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3"/>
          <p:cNvSpPr txBox="1"/>
          <p:nvPr/>
        </p:nvSpPr>
        <p:spPr>
          <a:xfrm>
            <a:off x="8252657" y="2743200"/>
            <a:ext cx="13260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6F2"/>
              </a:buClr>
              <a:buSzPts val="1250"/>
              <a:buFont typeface="Calibri"/>
              <a:buNone/>
            </a:pPr>
            <a:r>
              <a:rPr b="1" i="0" lang="en-US" sz="1700" u="none" cap="none" strike="noStrike">
                <a:solidFill>
                  <a:srgbClr val="F7F6F2"/>
                </a:solidFill>
                <a:latin typeface="Calibri"/>
                <a:ea typeface="Calibri"/>
                <a:cs typeface="Calibri"/>
                <a:sym typeface="Calibri"/>
              </a:rPr>
              <a:t>Decoder</a:t>
            </a:r>
            <a:endParaRPr b="0" i="0" sz="1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1F0E6"/>
              </a:buClr>
              <a:buSzPts val="1100"/>
              <a:buFont typeface="Calibri"/>
              <a:buNone/>
            </a:pPr>
            <a:r>
              <a:rPr b="0" i="0" lang="en-US" sz="1700" u="none" cap="none" strike="noStrike">
                <a:solidFill>
                  <a:srgbClr val="E1F0E6"/>
                </a:solidFill>
                <a:latin typeface="Calibri"/>
                <a:ea typeface="Calibri"/>
                <a:cs typeface="Calibri"/>
                <a:sym typeface="Calibri"/>
              </a:rPr>
              <a:t>to fused space</a:t>
            </a:r>
            <a:endParaRPr b="0" i="0" sz="1700" u="none" cap="none" strike="noStrike">
              <a:solidFill>
                <a:schemeClr val="dk1"/>
              </a:solidFill>
              <a:latin typeface="Calibri"/>
              <a:ea typeface="Calibri"/>
              <a:cs typeface="Calibri"/>
              <a:sym typeface="Calibri"/>
            </a:endParaRPr>
          </a:p>
        </p:txBody>
      </p:sp>
      <p:cxnSp>
        <p:nvCxnSpPr>
          <p:cNvPr id="315" name="Google Shape;315;p13"/>
          <p:cNvCxnSpPr/>
          <p:nvPr/>
        </p:nvCxnSpPr>
        <p:spPr>
          <a:xfrm>
            <a:off x="9624257" y="3063240"/>
            <a:ext cx="274200" cy="0"/>
          </a:xfrm>
          <a:prstGeom prst="straightConnector1">
            <a:avLst/>
          </a:prstGeom>
          <a:noFill/>
          <a:ln cap="flat" cmpd="sng" w="38100">
            <a:solidFill>
              <a:srgbClr val="8A96AD"/>
            </a:solidFill>
            <a:prstDash val="solid"/>
            <a:round/>
            <a:headEnd len="sm" w="sm" type="none"/>
            <a:tailEnd len="med" w="med" type="triangle"/>
          </a:ln>
        </p:spPr>
      </p:cxnSp>
      <p:sp>
        <p:nvSpPr>
          <p:cNvPr id="316" name="Google Shape;316;p13"/>
          <p:cNvSpPr/>
          <p:nvPr/>
        </p:nvSpPr>
        <p:spPr>
          <a:xfrm>
            <a:off x="9944297" y="2743200"/>
            <a:ext cx="1188600" cy="640200"/>
          </a:xfrm>
          <a:prstGeom prst="roundRect">
            <a:avLst>
              <a:gd fmla="val 11429" name="adj"/>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3"/>
          <p:cNvSpPr txBox="1"/>
          <p:nvPr/>
        </p:nvSpPr>
        <p:spPr>
          <a:xfrm>
            <a:off x="9944297" y="2743200"/>
            <a:ext cx="11886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6F2"/>
              </a:buClr>
              <a:buSzPts val="1250"/>
              <a:buFont typeface="Calibri"/>
              <a:buNone/>
            </a:pPr>
            <a:r>
              <a:rPr b="1" i="0" lang="en-US" sz="1700" u="none" cap="none" strike="noStrike">
                <a:solidFill>
                  <a:srgbClr val="F7F6F2"/>
                </a:solidFill>
                <a:latin typeface="Calibri"/>
                <a:ea typeface="Calibri"/>
                <a:cs typeface="Calibri"/>
                <a:sym typeface="Calibri"/>
              </a:rPr>
              <a:t>MLLM</a:t>
            </a:r>
            <a:endParaRPr b="0" i="0" sz="1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5DBE6"/>
              </a:buClr>
              <a:buSzPts val="1100"/>
              <a:buFont typeface="Calibri"/>
              <a:buNone/>
            </a:pPr>
            <a:r>
              <a:rPr b="0" i="0" lang="en-US" sz="1700" u="none" cap="none" strike="noStrike">
                <a:solidFill>
                  <a:srgbClr val="D5DBE6"/>
                </a:solidFill>
                <a:latin typeface="Calibri"/>
                <a:ea typeface="Calibri"/>
                <a:cs typeface="Calibri"/>
                <a:sym typeface="Calibri"/>
              </a:rPr>
              <a:t>unchanged</a:t>
            </a:r>
            <a:endParaRPr b="0" i="0" sz="1700" u="none" cap="none" strike="noStrike">
              <a:solidFill>
                <a:schemeClr val="dk1"/>
              </a:solidFill>
              <a:latin typeface="Calibri"/>
              <a:ea typeface="Calibri"/>
              <a:cs typeface="Calibri"/>
              <a:sym typeface="Calibri"/>
            </a:endParaRPr>
          </a:p>
        </p:txBody>
      </p:sp>
      <p:sp>
        <p:nvSpPr>
          <p:cNvPr id="318" name="Google Shape;318;p13"/>
          <p:cNvSpPr txBox="1"/>
          <p:nvPr/>
        </p:nvSpPr>
        <p:spPr>
          <a:xfrm>
            <a:off x="5626700" y="3846712"/>
            <a:ext cx="5858400" cy="1344900"/>
          </a:xfrm>
          <a:prstGeom prst="rect">
            <a:avLst/>
          </a:prstGeom>
          <a:noFill/>
          <a:ln>
            <a:noFill/>
          </a:ln>
        </p:spPr>
        <p:txBody>
          <a:bodyPr anchorCtr="0" anchor="t" bIns="0" lIns="0" spcFirstLastPara="1" rIns="0" wrap="square" tIns="0">
            <a:noAutofit/>
          </a:bodyPr>
          <a:lstStyle/>
          <a:p>
            <a:pPr indent="-342900" lvl="0" marL="457200" marR="0" rtl="0" algn="l">
              <a:spcBef>
                <a:spcPts val="0"/>
              </a:spcBef>
              <a:spcAft>
                <a:spcPts val="0"/>
              </a:spcAft>
              <a:buClr>
                <a:schemeClr val="accent3"/>
              </a:buClr>
              <a:buSzPts val="1800"/>
              <a:buFont typeface="Times New Roman"/>
              <a:buChar char="●"/>
            </a:pPr>
            <a:r>
              <a:rPr i="0" lang="en-US" sz="1800" u="none" cap="none" strike="noStrike">
                <a:solidFill>
                  <a:schemeClr val="accent3"/>
                </a:solidFill>
                <a:latin typeface="Times New Roman"/>
                <a:ea typeface="Times New Roman"/>
                <a:cs typeface="Times New Roman"/>
                <a:sym typeface="Times New Roman"/>
              </a:rPr>
              <a:t>Change the compression technique or ratio </a:t>
            </a:r>
            <a:r>
              <a:rPr b="1" i="0" lang="en-US" sz="1800" u="none" cap="none" strike="noStrike">
                <a:solidFill>
                  <a:schemeClr val="accent3"/>
                </a:solidFill>
                <a:latin typeface="Times New Roman"/>
                <a:ea typeface="Times New Roman"/>
                <a:cs typeface="Times New Roman"/>
                <a:sym typeface="Times New Roman"/>
              </a:rPr>
              <a:t>without</a:t>
            </a:r>
            <a:r>
              <a:rPr b="1" lang="en-US" sz="1800">
                <a:solidFill>
                  <a:schemeClr val="accent3"/>
                </a:solidFill>
                <a:latin typeface="Times New Roman"/>
                <a:ea typeface="Times New Roman"/>
                <a:cs typeface="Times New Roman"/>
                <a:sym typeface="Times New Roman"/>
              </a:rPr>
              <a:t> </a:t>
            </a:r>
            <a:r>
              <a:rPr b="1" i="0" lang="en-US" sz="1800" u="none" cap="none" strike="noStrike">
                <a:solidFill>
                  <a:schemeClr val="accent3"/>
                </a:solidFill>
                <a:latin typeface="Times New Roman"/>
                <a:ea typeface="Times New Roman"/>
                <a:cs typeface="Times New Roman"/>
                <a:sym typeface="Times New Roman"/>
              </a:rPr>
              <a:t>retraining the </a:t>
            </a:r>
            <a:r>
              <a:rPr b="1" lang="en-US" sz="1800">
                <a:solidFill>
                  <a:schemeClr val="accent3"/>
                </a:solidFill>
                <a:latin typeface="Times New Roman"/>
                <a:ea typeface="Times New Roman"/>
                <a:cs typeface="Times New Roman"/>
                <a:sym typeface="Times New Roman"/>
              </a:rPr>
              <a:t>MLLM</a:t>
            </a:r>
            <a:endParaRPr b="1" i="0" sz="1800" u="none" cap="none" strike="noStrike">
              <a:solidFill>
                <a:schemeClr val="accent3"/>
              </a:solidFill>
              <a:latin typeface="Times New Roman"/>
              <a:ea typeface="Times New Roman"/>
              <a:cs typeface="Times New Roman"/>
              <a:sym typeface="Times New Roman"/>
            </a:endParaRPr>
          </a:p>
          <a:p>
            <a:pPr indent="-342900" lvl="0" marL="457200" rtl="0" algn="l">
              <a:spcBef>
                <a:spcPts val="0"/>
              </a:spcBef>
              <a:spcAft>
                <a:spcPts val="0"/>
              </a:spcAft>
              <a:buClr>
                <a:schemeClr val="accent3"/>
              </a:buClr>
              <a:buSzPts val="1800"/>
              <a:buFont typeface="Times New Roman"/>
              <a:buChar char="●"/>
            </a:pPr>
            <a:r>
              <a:rPr lang="en-US" sz="1800">
                <a:solidFill>
                  <a:schemeClr val="accent3"/>
                </a:solidFill>
                <a:latin typeface="Times New Roman"/>
                <a:ea typeface="Times New Roman"/>
                <a:cs typeface="Times New Roman"/>
                <a:sym typeface="Times New Roman"/>
              </a:rPr>
              <a:t>Reconstructed representations </a:t>
            </a:r>
            <a:r>
              <a:rPr b="1" lang="en-US" sz="1800">
                <a:solidFill>
                  <a:schemeClr val="accent3"/>
                </a:solidFill>
                <a:latin typeface="Times New Roman"/>
                <a:ea typeface="Times New Roman"/>
                <a:cs typeface="Times New Roman"/>
                <a:sym typeface="Times New Roman"/>
              </a:rPr>
              <a:t>can be batched</a:t>
            </a:r>
            <a:r>
              <a:rPr lang="en-US" sz="1800">
                <a:solidFill>
                  <a:schemeClr val="accent3"/>
                </a:solidFill>
                <a:latin typeface="Times New Roman"/>
                <a:ea typeface="Times New Roman"/>
                <a:cs typeface="Times New Roman"/>
                <a:sym typeface="Times New Roman"/>
              </a:rPr>
              <a:t> for parallel MLLM inference, amortizing cost across requests</a:t>
            </a:r>
            <a:endParaRPr b="1" sz="1800">
              <a:solidFill>
                <a:schemeClr val="accent3"/>
              </a:solidFill>
              <a:latin typeface="Times New Roman"/>
              <a:ea typeface="Times New Roman"/>
              <a:cs typeface="Times New Roman"/>
              <a:sym typeface="Times New Roman"/>
            </a:endParaRPr>
          </a:p>
        </p:txBody>
      </p:sp>
      <p:sp>
        <p:nvSpPr>
          <p:cNvPr id="319" name="Google Shape;319;p13"/>
          <p:cNvSpPr/>
          <p:nvPr/>
        </p:nvSpPr>
        <p:spPr>
          <a:xfrm>
            <a:off x="0" y="0"/>
            <a:ext cx="304800" cy="68580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3"/>
          <p:cNvSpPr/>
          <p:nvPr/>
        </p:nvSpPr>
        <p:spPr>
          <a:xfrm>
            <a:off x="304767" y="6299178"/>
            <a:ext cx="11887200" cy="5589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3"/>
          <p:cNvSpPr/>
          <p:nvPr/>
        </p:nvSpPr>
        <p:spPr>
          <a:xfrm>
            <a:off x="1117534" y="6471875"/>
            <a:ext cx="955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Introduction</a:t>
            </a:r>
            <a:endParaRPr b="0" i="0" sz="1200" u="none" cap="none" strike="noStrike">
              <a:solidFill>
                <a:schemeClr val="dk1"/>
              </a:solidFill>
              <a:latin typeface="Arial"/>
              <a:ea typeface="Arial"/>
              <a:cs typeface="Arial"/>
              <a:sym typeface="Arial"/>
            </a:endParaRPr>
          </a:p>
        </p:txBody>
      </p:sp>
      <p:sp>
        <p:nvSpPr>
          <p:cNvPr id="322" name="Google Shape;322;p13"/>
          <p:cNvSpPr/>
          <p:nvPr/>
        </p:nvSpPr>
        <p:spPr>
          <a:xfrm>
            <a:off x="2218531" y="6471875"/>
            <a:ext cx="975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Framework</a:t>
            </a:r>
            <a:endParaRPr b="0" i="0" sz="1200" u="none" cap="none" strike="noStrike">
              <a:solidFill>
                <a:schemeClr val="dk1"/>
              </a:solidFill>
              <a:latin typeface="Arial"/>
              <a:ea typeface="Arial"/>
              <a:cs typeface="Arial"/>
              <a:sym typeface="Arial"/>
            </a:endParaRPr>
          </a:p>
        </p:txBody>
      </p:sp>
      <p:sp>
        <p:nvSpPr>
          <p:cNvPr id="323" name="Google Shape;323;p13"/>
          <p:cNvSpPr/>
          <p:nvPr/>
        </p:nvSpPr>
        <p:spPr>
          <a:xfrm>
            <a:off x="3336286" y="6471875"/>
            <a:ext cx="660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Solution</a:t>
            </a:r>
            <a:endParaRPr b="0" i="0" sz="1200" u="none" cap="none" strike="noStrike">
              <a:solidFill>
                <a:schemeClr val="dk1"/>
              </a:solidFill>
              <a:latin typeface="Arial"/>
              <a:ea typeface="Arial"/>
              <a:cs typeface="Arial"/>
              <a:sym typeface="Arial"/>
            </a:endParaRPr>
          </a:p>
        </p:txBody>
      </p:sp>
      <p:sp>
        <p:nvSpPr>
          <p:cNvPr id="324" name="Google Shape;324;p13"/>
          <p:cNvSpPr/>
          <p:nvPr/>
        </p:nvSpPr>
        <p:spPr>
          <a:xfrm>
            <a:off x="4191717" y="6471875"/>
            <a:ext cx="8538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Evaluation</a:t>
            </a:r>
            <a:endParaRPr b="0" i="0" sz="1200" u="none" cap="none" strike="noStrike">
              <a:solidFill>
                <a:schemeClr val="dk1"/>
              </a:solidFill>
              <a:latin typeface="Arial"/>
              <a:ea typeface="Arial"/>
              <a:cs typeface="Arial"/>
              <a:sym typeface="Arial"/>
            </a:endParaRPr>
          </a:p>
        </p:txBody>
      </p:sp>
      <p:sp>
        <p:nvSpPr>
          <p:cNvPr id="325" name="Google Shape;325;p13"/>
          <p:cNvSpPr/>
          <p:nvPr/>
        </p:nvSpPr>
        <p:spPr>
          <a:xfrm>
            <a:off x="5208048" y="6471875"/>
            <a:ext cx="904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Conclusion</a:t>
            </a:r>
            <a:endParaRPr b="0" i="0" sz="1200" u="none" cap="none" strike="noStrike">
              <a:solidFill>
                <a:schemeClr val="dk1"/>
              </a:solidFill>
              <a:latin typeface="Arial"/>
              <a:ea typeface="Arial"/>
              <a:cs typeface="Arial"/>
              <a:sym typeface="Arial"/>
            </a:endParaRPr>
          </a:p>
        </p:txBody>
      </p:sp>
      <p:sp>
        <p:nvSpPr>
          <p:cNvPr id="326" name="Google Shape;326;p13"/>
          <p:cNvSpPr/>
          <p:nvPr/>
        </p:nvSpPr>
        <p:spPr>
          <a:xfrm>
            <a:off x="6266657" y="6471875"/>
            <a:ext cx="965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Future work</a:t>
            </a:r>
            <a:endParaRPr b="0" i="0" sz="1200" u="none" cap="none" strike="noStrike">
              <a:solidFill>
                <a:schemeClr val="dk1"/>
              </a:solidFill>
              <a:latin typeface="Arial"/>
              <a:ea typeface="Arial"/>
              <a:cs typeface="Arial"/>
              <a:sym typeface="Arial"/>
            </a:endParaRPr>
          </a:p>
        </p:txBody>
      </p:sp>
      <p:sp>
        <p:nvSpPr>
          <p:cNvPr id="327" name="Google Shape;327;p13"/>
          <p:cNvSpPr/>
          <p:nvPr/>
        </p:nvSpPr>
        <p:spPr>
          <a:xfrm>
            <a:off x="11209680" y="6471875"/>
            <a:ext cx="2202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lang="en-US" sz="1200">
                <a:solidFill>
                  <a:srgbClr val="FFFFFF"/>
                </a:solidFill>
              </a:rPr>
              <a:t>8</a:t>
            </a:r>
            <a:endParaRPr b="0" i="0" sz="1200" u="none" cap="none" strike="noStrike">
              <a:solidFill>
                <a:schemeClr val="dk1"/>
              </a:solidFill>
              <a:latin typeface="Arial"/>
              <a:ea typeface="Arial"/>
              <a:cs typeface="Arial"/>
              <a:sym typeface="Arial"/>
            </a:endParaRPr>
          </a:p>
        </p:txBody>
      </p:sp>
      <p:sp>
        <p:nvSpPr>
          <p:cNvPr id="328" name="Google Shape;328;p13"/>
          <p:cNvSpPr/>
          <p:nvPr/>
        </p:nvSpPr>
        <p:spPr>
          <a:xfrm>
            <a:off x="1117589" y="533357"/>
            <a:ext cx="762000" cy="507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14"/>
          <p:cNvSpPr txBox="1"/>
          <p:nvPr>
            <p:ph idx="1" type="body"/>
          </p:nvPr>
        </p:nvSpPr>
        <p:spPr>
          <a:xfrm>
            <a:off x="813816" y="566928"/>
            <a:ext cx="10561200" cy="29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1200"/>
              <a:buNone/>
            </a:pPr>
            <a:r>
              <a:rPr b="1" lang="en-US" sz="1500">
                <a:solidFill>
                  <a:srgbClr val="A64D79"/>
                </a:solidFill>
                <a:latin typeface="Calibri"/>
                <a:ea typeface="Calibri"/>
                <a:cs typeface="Calibri"/>
                <a:sym typeface="Calibri"/>
              </a:rPr>
              <a:t>EVALUATION</a:t>
            </a:r>
            <a:endParaRPr sz="1500">
              <a:solidFill>
                <a:srgbClr val="A64D79"/>
              </a:solidFill>
            </a:endParaRPr>
          </a:p>
        </p:txBody>
      </p:sp>
      <p:sp>
        <p:nvSpPr>
          <p:cNvPr id="335" name="Google Shape;335;p14"/>
          <p:cNvSpPr txBox="1"/>
          <p:nvPr>
            <p:ph type="title"/>
          </p:nvPr>
        </p:nvSpPr>
        <p:spPr>
          <a:xfrm>
            <a:off x="813816" y="896112"/>
            <a:ext cx="10561200" cy="64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200"/>
              <a:buFont typeface="Cambria"/>
              <a:buNone/>
            </a:pPr>
            <a:r>
              <a:rPr lang="en-US" sz="3200">
                <a:solidFill>
                  <a:schemeClr val="dk1"/>
                </a:solidFill>
                <a:latin typeface="Georgia"/>
                <a:ea typeface="Georgia"/>
                <a:cs typeface="Georgia"/>
                <a:sym typeface="Georgia"/>
              </a:rPr>
              <a:t>Experimental setup</a:t>
            </a:r>
            <a:endParaRPr sz="3200">
              <a:latin typeface="Georgia"/>
              <a:ea typeface="Georgia"/>
              <a:cs typeface="Georgia"/>
              <a:sym typeface="Georgia"/>
            </a:endParaRPr>
          </a:p>
        </p:txBody>
      </p:sp>
      <p:sp>
        <p:nvSpPr>
          <p:cNvPr id="336" name="Google Shape;336;p14"/>
          <p:cNvSpPr/>
          <p:nvPr/>
        </p:nvSpPr>
        <p:spPr>
          <a:xfrm>
            <a:off x="812800" y="1498600"/>
            <a:ext cx="5207100" cy="2895600"/>
          </a:xfrm>
          <a:prstGeom prst="roundRect">
            <a:avLst>
              <a:gd fmla="val 3474" name="adj"/>
            </a:avLst>
          </a:prstGeom>
          <a:solidFill>
            <a:srgbClr val="FFFFFE"/>
          </a:solidFill>
          <a:ln cap="flat" cmpd="sng" w="9525">
            <a:solidFill>
              <a:srgbClr val="DCD9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7" name="Google Shape;337;p14"/>
          <p:cNvPicPr preferRelativeResize="0"/>
          <p:nvPr/>
        </p:nvPicPr>
        <p:blipFill rotWithShape="1">
          <a:blip r:embed="rId3">
            <a:alphaModFix/>
          </a:blip>
          <a:srcRect b="0" l="0" r="0" t="0"/>
          <a:stretch/>
        </p:blipFill>
        <p:spPr>
          <a:xfrm>
            <a:off x="1016000" y="1670050"/>
            <a:ext cx="215900" cy="215900"/>
          </a:xfrm>
          <a:prstGeom prst="rect">
            <a:avLst/>
          </a:prstGeom>
          <a:noFill/>
          <a:ln>
            <a:noFill/>
          </a:ln>
        </p:spPr>
      </p:pic>
      <p:sp>
        <p:nvSpPr>
          <p:cNvPr id="338" name="Google Shape;338;p14"/>
          <p:cNvSpPr txBox="1"/>
          <p:nvPr/>
        </p:nvSpPr>
        <p:spPr>
          <a:xfrm>
            <a:off x="1320800" y="1638300"/>
            <a:ext cx="4508400" cy="29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700"/>
              <a:buFont typeface="Calibri"/>
              <a:buNone/>
            </a:pPr>
            <a:r>
              <a:rPr b="1" i="0" lang="en-US" sz="1700" u="none" cap="none" strike="noStrike">
                <a:solidFill>
                  <a:srgbClr val="14213D"/>
                </a:solidFill>
                <a:latin typeface="Georgia"/>
                <a:ea typeface="Georgia"/>
                <a:cs typeface="Georgia"/>
                <a:sym typeface="Georgia"/>
              </a:rPr>
              <a:t>Dataset and models</a:t>
            </a:r>
            <a:endParaRPr i="0" sz="1700" u="none" cap="none" strike="noStrike">
              <a:solidFill>
                <a:schemeClr val="dk1"/>
              </a:solidFill>
              <a:latin typeface="Georgia"/>
              <a:ea typeface="Georgia"/>
              <a:cs typeface="Georgia"/>
              <a:sym typeface="Georgia"/>
            </a:endParaRPr>
          </a:p>
        </p:txBody>
      </p:sp>
      <p:sp>
        <p:nvSpPr>
          <p:cNvPr id="339" name="Google Shape;339;p14"/>
          <p:cNvSpPr txBox="1"/>
          <p:nvPr/>
        </p:nvSpPr>
        <p:spPr>
          <a:xfrm>
            <a:off x="1016000" y="2044700"/>
            <a:ext cx="1333500" cy="17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5D9A"/>
              </a:buClr>
              <a:buSzPts val="1050"/>
              <a:buFont typeface="Calibri"/>
              <a:buNone/>
            </a:pPr>
            <a:r>
              <a:rPr b="1" i="0" lang="en-US" sz="1050" u="none" cap="none" strike="noStrike">
                <a:solidFill>
                  <a:srgbClr val="2F5D9A"/>
                </a:solidFill>
                <a:latin typeface="Calibri"/>
                <a:ea typeface="Calibri"/>
                <a:cs typeface="Calibri"/>
                <a:sym typeface="Calibri"/>
              </a:rPr>
              <a:t>DATASET</a:t>
            </a:r>
            <a:endParaRPr b="0" i="0" sz="1050" u="none" cap="none" strike="noStrike">
              <a:solidFill>
                <a:schemeClr val="dk1"/>
              </a:solidFill>
              <a:latin typeface="Calibri"/>
              <a:ea typeface="Calibri"/>
              <a:cs typeface="Calibri"/>
              <a:sym typeface="Calibri"/>
            </a:endParaRPr>
          </a:p>
        </p:txBody>
      </p:sp>
      <p:sp>
        <p:nvSpPr>
          <p:cNvPr id="340" name="Google Shape;340;p14"/>
          <p:cNvSpPr txBox="1"/>
          <p:nvPr/>
        </p:nvSpPr>
        <p:spPr>
          <a:xfrm>
            <a:off x="2413000" y="2019300"/>
            <a:ext cx="34035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MS-COCO Captions</a:t>
            </a:r>
            <a:endParaRPr b="0" i="0" sz="1500" u="none" cap="none" strike="noStrike">
              <a:solidFill>
                <a:schemeClr val="dk1"/>
              </a:solidFill>
              <a:latin typeface="Calibri"/>
              <a:ea typeface="Calibri"/>
              <a:cs typeface="Calibri"/>
              <a:sym typeface="Calibri"/>
            </a:endParaRPr>
          </a:p>
        </p:txBody>
      </p:sp>
      <p:sp>
        <p:nvSpPr>
          <p:cNvPr id="341" name="Google Shape;341;p14"/>
          <p:cNvSpPr txBox="1"/>
          <p:nvPr/>
        </p:nvSpPr>
        <p:spPr>
          <a:xfrm>
            <a:off x="2413000" y="2260600"/>
            <a:ext cx="3403500" cy="20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475"/>
              </a:buClr>
              <a:buSzPts val="1200"/>
              <a:buFont typeface="Calibri"/>
              <a:buNone/>
            </a:pPr>
            <a:r>
              <a:rPr b="0" i="0" lang="en-US" sz="1200" u="none" cap="none" strike="noStrike">
                <a:solidFill>
                  <a:srgbClr val="5A6475"/>
                </a:solidFill>
                <a:latin typeface="Calibri"/>
                <a:ea typeface="Calibri"/>
                <a:cs typeface="Calibri"/>
                <a:sym typeface="Calibri"/>
              </a:rPr>
              <a:t>image + caption → match?  ·  72K / 5K / 5K</a:t>
            </a:r>
            <a:endParaRPr b="0" i="0" sz="1200" u="none" cap="none" strike="noStrike">
              <a:solidFill>
                <a:schemeClr val="dk1"/>
              </a:solidFill>
              <a:latin typeface="Calibri"/>
              <a:ea typeface="Calibri"/>
              <a:cs typeface="Calibri"/>
              <a:sym typeface="Calibri"/>
            </a:endParaRPr>
          </a:p>
        </p:txBody>
      </p:sp>
      <p:sp>
        <p:nvSpPr>
          <p:cNvPr id="342" name="Google Shape;342;p14"/>
          <p:cNvSpPr txBox="1"/>
          <p:nvPr/>
        </p:nvSpPr>
        <p:spPr>
          <a:xfrm>
            <a:off x="1016000" y="2590800"/>
            <a:ext cx="1333500" cy="17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5D9A"/>
              </a:buClr>
              <a:buSzPts val="1050"/>
              <a:buFont typeface="Calibri"/>
              <a:buNone/>
            </a:pPr>
            <a:r>
              <a:rPr b="1" i="0" lang="en-US" sz="1050" u="none" cap="none" strike="noStrike">
                <a:solidFill>
                  <a:srgbClr val="2F5D9A"/>
                </a:solidFill>
                <a:latin typeface="Calibri"/>
                <a:ea typeface="Calibri"/>
                <a:cs typeface="Calibri"/>
                <a:sym typeface="Calibri"/>
              </a:rPr>
              <a:t>EDGE ENCODERS</a:t>
            </a:r>
            <a:endParaRPr b="0" i="0" sz="1050" u="none" cap="none" strike="noStrike">
              <a:solidFill>
                <a:schemeClr val="dk1"/>
              </a:solidFill>
              <a:latin typeface="Calibri"/>
              <a:ea typeface="Calibri"/>
              <a:cs typeface="Calibri"/>
              <a:sym typeface="Calibri"/>
            </a:endParaRPr>
          </a:p>
        </p:txBody>
      </p:sp>
      <p:sp>
        <p:nvSpPr>
          <p:cNvPr id="343" name="Google Shape;343;p14"/>
          <p:cNvSpPr txBox="1"/>
          <p:nvPr/>
        </p:nvSpPr>
        <p:spPr>
          <a:xfrm>
            <a:off x="2413000" y="2565400"/>
            <a:ext cx="3403500" cy="50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CLIP ViT-B/32 (87M)</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MobileCLIP2-S0 (11.4M)</a:t>
            </a:r>
            <a:endParaRPr b="0" i="0" sz="1500" u="none" cap="none" strike="noStrike">
              <a:solidFill>
                <a:schemeClr val="dk1"/>
              </a:solidFill>
              <a:latin typeface="Calibri"/>
              <a:ea typeface="Calibri"/>
              <a:cs typeface="Calibri"/>
              <a:sym typeface="Calibri"/>
            </a:endParaRPr>
          </a:p>
        </p:txBody>
      </p:sp>
      <p:sp>
        <p:nvSpPr>
          <p:cNvPr id="344" name="Google Shape;344;p14"/>
          <p:cNvSpPr txBox="1"/>
          <p:nvPr/>
        </p:nvSpPr>
        <p:spPr>
          <a:xfrm>
            <a:off x="1016000" y="3187700"/>
            <a:ext cx="1333500" cy="17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5D9A"/>
              </a:buClr>
              <a:buSzPts val="1050"/>
              <a:buFont typeface="Calibri"/>
              <a:buNone/>
            </a:pPr>
            <a:r>
              <a:rPr b="1" i="0" lang="en-US" sz="1050" u="none" cap="none" strike="noStrike">
                <a:solidFill>
                  <a:srgbClr val="2F5D9A"/>
                </a:solidFill>
                <a:latin typeface="Calibri"/>
                <a:ea typeface="Calibri"/>
                <a:cs typeface="Calibri"/>
                <a:sym typeface="Calibri"/>
              </a:rPr>
              <a:t>SERVER MLLM</a:t>
            </a:r>
            <a:endParaRPr b="0" i="0" sz="1050" u="none" cap="none" strike="noStrike">
              <a:solidFill>
                <a:schemeClr val="dk1"/>
              </a:solidFill>
              <a:latin typeface="Calibri"/>
              <a:ea typeface="Calibri"/>
              <a:cs typeface="Calibri"/>
              <a:sym typeface="Calibri"/>
            </a:endParaRPr>
          </a:p>
        </p:txBody>
      </p:sp>
      <p:sp>
        <p:nvSpPr>
          <p:cNvPr id="345" name="Google Shape;345;p14"/>
          <p:cNvSpPr txBox="1"/>
          <p:nvPr/>
        </p:nvSpPr>
        <p:spPr>
          <a:xfrm>
            <a:off x="2413000" y="3162300"/>
            <a:ext cx="34035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LLaVA-1.5-7B, frozen</a:t>
            </a:r>
            <a:endParaRPr b="0" i="0" sz="1500" u="none" cap="none" strike="noStrike">
              <a:solidFill>
                <a:schemeClr val="dk1"/>
              </a:solidFill>
              <a:latin typeface="Calibri"/>
              <a:ea typeface="Calibri"/>
              <a:cs typeface="Calibri"/>
              <a:sym typeface="Calibri"/>
            </a:endParaRPr>
          </a:p>
        </p:txBody>
      </p:sp>
      <p:sp>
        <p:nvSpPr>
          <p:cNvPr id="346" name="Google Shape;346;p14"/>
          <p:cNvSpPr txBox="1"/>
          <p:nvPr/>
        </p:nvSpPr>
        <p:spPr>
          <a:xfrm>
            <a:off x="1016000" y="3530600"/>
            <a:ext cx="1333500" cy="17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5D9A"/>
              </a:buClr>
              <a:buSzPts val="1050"/>
              <a:buFont typeface="Calibri"/>
              <a:buNone/>
            </a:pPr>
            <a:r>
              <a:rPr b="1" i="0" lang="en-US" sz="1050" u="none" cap="none" strike="noStrike">
                <a:solidFill>
                  <a:srgbClr val="2F5D9A"/>
                </a:solidFill>
                <a:latin typeface="Calibri"/>
                <a:ea typeface="Calibri"/>
                <a:cs typeface="Calibri"/>
                <a:sym typeface="Calibri"/>
              </a:rPr>
              <a:t>SERVER HEAD</a:t>
            </a:r>
            <a:endParaRPr b="0" i="0" sz="1050" u="none" cap="none" strike="noStrike">
              <a:solidFill>
                <a:schemeClr val="dk1"/>
              </a:solidFill>
              <a:latin typeface="Calibri"/>
              <a:ea typeface="Calibri"/>
              <a:cs typeface="Calibri"/>
              <a:sym typeface="Calibri"/>
            </a:endParaRPr>
          </a:p>
        </p:txBody>
      </p:sp>
      <p:sp>
        <p:nvSpPr>
          <p:cNvPr id="347" name="Google Shape;347;p14"/>
          <p:cNvSpPr txBox="1"/>
          <p:nvPr/>
        </p:nvSpPr>
        <p:spPr>
          <a:xfrm>
            <a:off x="2413000" y="3505200"/>
            <a:ext cx="34035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2-layer MLP → 8 soft tokens</a:t>
            </a:r>
            <a:endParaRPr b="0" i="0" sz="1500" u="none" cap="none" strike="noStrike">
              <a:solidFill>
                <a:schemeClr val="dk1"/>
              </a:solidFill>
              <a:latin typeface="Calibri"/>
              <a:ea typeface="Calibri"/>
              <a:cs typeface="Calibri"/>
              <a:sym typeface="Calibri"/>
            </a:endParaRPr>
          </a:p>
        </p:txBody>
      </p:sp>
      <p:sp>
        <p:nvSpPr>
          <p:cNvPr id="348" name="Google Shape;348;p14"/>
          <p:cNvSpPr txBox="1"/>
          <p:nvPr/>
        </p:nvSpPr>
        <p:spPr>
          <a:xfrm>
            <a:off x="2413000" y="3746500"/>
            <a:ext cx="3403500" cy="20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475"/>
              </a:buClr>
              <a:buSzPts val="1200"/>
              <a:buFont typeface="Calibri"/>
              <a:buNone/>
            </a:pPr>
            <a:r>
              <a:rPr b="0" i="0" lang="en-US" sz="1200" u="none" cap="none" strike="noStrike">
                <a:solidFill>
                  <a:srgbClr val="5A6475"/>
                </a:solidFill>
                <a:latin typeface="Calibri"/>
                <a:ea typeface="Calibri"/>
                <a:cs typeface="Calibri"/>
                <a:sym typeface="Calibri"/>
              </a:rPr>
              <a:t>+ binary classification head</a:t>
            </a:r>
            <a:endParaRPr b="0" i="0" sz="1200" u="none" cap="none" strike="noStrike">
              <a:solidFill>
                <a:schemeClr val="dk1"/>
              </a:solidFill>
              <a:latin typeface="Calibri"/>
              <a:ea typeface="Calibri"/>
              <a:cs typeface="Calibri"/>
              <a:sym typeface="Calibri"/>
            </a:endParaRPr>
          </a:p>
        </p:txBody>
      </p:sp>
      <p:sp>
        <p:nvSpPr>
          <p:cNvPr id="349" name="Google Shape;349;p14"/>
          <p:cNvSpPr/>
          <p:nvPr/>
        </p:nvSpPr>
        <p:spPr>
          <a:xfrm>
            <a:off x="6172200" y="1498600"/>
            <a:ext cx="5207100" cy="2895600"/>
          </a:xfrm>
          <a:prstGeom prst="roundRect">
            <a:avLst>
              <a:gd fmla="val 3474" name="adj"/>
            </a:avLst>
          </a:prstGeom>
          <a:solidFill>
            <a:srgbClr val="14213D"/>
          </a:solidFill>
          <a:ln cap="flat" cmpd="sng" w="9525">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0" name="Google Shape;350;p14"/>
          <p:cNvPicPr preferRelativeResize="0"/>
          <p:nvPr/>
        </p:nvPicPr>
        <p:blipFill rotWithShape="1">
          <a:blip r:embed="rId4">
            <a:alphaModFix/>
          </a:blip>
          <a:srcRect b="0" l="0" r="0" t="0"/>
          <a:stretch/>
        </p:blipFill>
        <p:spPr>
          <a:xfrm>
            <a:off x="6375400" y="1670050"/>
            <a:ext cx="215900" cy="215900"/>
          </a:xfrm>
          <a:prstGeom prst="rect">
            <a:avLst/>
          </a:prstGeom>
          <a:noFill/>
          <a:ln>
            <a:noFill/>
          </a:ln>
        </p:spPr>
      </p:pic>
      <p:sp>
        <p:nvSpPr>
          <p:cNvPr id="351" name="Google Shape;351;p14"/>
          <p:cNvSpPr txBox="1"/>
          <p:nvPr/>
        </p:nvSpPr>
        <p:spPr>
          <a:xfrm>
            <a:off x="6680200" y="1638300"/>
            <a:ext cx="4508400" cy="29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6F2"/>
              </a:buClr>
              <a:buSzPts val="1700"/>
              <a:buFont typeface="Calibri"/>
              <a:buNone/>
            </a:pPr>
            <a:r>
              <a:rPr b="1" i="0" lang="en-US" sz="1700" u="none" cap="none" strike="noStrike">
                <a:solidFill>
                  <a:srgbClr val="F7F6F2"/>
                </a:solidFill>
                <a:latin typeface="Times New Roman"/>
                <a:ea typeface="Times New Roman"/>
                <a:cs typeface="Times New Roman"/>
                <a:sym typeface="Times New Roman"/>
              </a:rPr>
              <a:t>Compression (EMMI)</a:t>
            </a:r>
            <a:endParaRPr i="0" sz="1700" u="none" cap="none" strike="noStrike">
              <a:solidFill>
                <a:schemeClr val="dk1"/>
              </a:solidFill>
              <a:latin typeface="Times New Roman"/>
              <a:ea typeface="Times New Roman"/>
              <a:cs typeface="Times New Roman"/>
              <a:sym typeface="Times New Roman"/>
            </a:endParaRPr>
          </a:p>
        </p:txBody>
      </p:sp>
      <p:sp>
        <p:nvSpPr>
          <p:cNvPr id="352" name="Google Shape;352;p14"/>
          <p:cNvSpPr txBox="1"/>
          <p:nvPr/>
        </p:nvSpPr>
        <p:spPr>
          <a:xfrm>
            <a:off x="6375400" y="2044700"/>
            <a:ext cx="1333500" cy="17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955E"/>
              </a:buClr>
              <a:buSzPts val="1050"/>
              <a:buFont typeface="Calibri"/>
              <a:buNone/>
            </a:pPr>
            <a:r>
              <a:rPr b="1" i="0" lang="en-US" sz="1050" u="none" cap="none" strike="noStrike">
                <a:solidFill>
                  <a:srgbClr val="E8955E"/>
                </a:solidFill>
                <a:latin typeface="Calibri"/>
                <a:ea typeface="Calibri"/>
                <a:cs typeface="Calibri"/>
                <a:sym typeface="Calibri"/>
              </a:rPr>
              <a:t>PAYLOAD</a:t>
            </a:r>
            <a:endParaRPr b="0" i="0" sz="1050" u="none" cap="none" strike="noStrike">
              <a:solidFill>
                <a:schemeClr val="dk1"/>
              </a:solidFill>
              <a:latin typeface="Calibri"/>
              <a:ea typeface="Calibri"/>
              <a:cs typeface="Calibri"/>
              <a:sym typeface="Calibri"/>
            </a:endParaRPr>
          </a:p>
        </p:txBody>
      </p:sp>
      <p:sp>
        <p:nvSpPr>
          <p:cNvPr id="353" name="Google Shape;353;p14"/>
          <p:cNvSpPr txBox="1"/>
          <p:nvPr/>
        </p:nvSpPr>
        <p:spPr>
          <a:xfrm>
            <a:off x="7772400" y="2019300"/>
            <a:ext cx="34035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7F6F2"/>
              </a:buClr>
              <a:buSzPts val="1500"/>
              <a:buFont typeface="Calibri"/>
              <a:buNone/>
            </a:pPr>
            <a:r>
              <a:rPr b="1" i="0" lang="en-US" sz="1500" u="none" cap="none" strike="noStrike">
                <a:solidFill>
                  <a:srgbClr val="F7F6F2"/>
                </a:solidFill>
                <a:latin typeface="Calibri"/>
                <a:ea typeface="Calibri"/>
                <a:cs typeface="Calibri"/>
                <a:sym typeface="Calibri"/>
              </a:rPr>
              <a:t>8,192 B → 256 B</a:t>
            </a:r>
            <a:endParaRPr b="0" i="0" sz="1500" u="none" cap="none" strike="noStrike">
              <a:solidFill>
                <a:schemeClr val="dk1"/>
              </a:solidFill>
              <a:latin typeface="Calibri"/>
              <a:ea typeface="Calibri"/>
              <a:cs typeface="Calibri"/>
              <a:sym typeface="Calibri"/>
            </a:endParaRPr>
          </a:p>
        </p:txBody>
      </p:sp>
      <p:sp>
        <p:nvSpPr>
          <p:cNvPr id="354" name="Google Shape;354;p14"/>
          <p:cNvSpPr txBox="1"/>
          <p:nvPr/>
        </p:nvSpPr>
        <p:spPr>
          <a:xfrm>
            <a:off x="7772400" y="2260600"/>
            <a:ext cx="3403500" cy="20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1DF"/>
              </a:buClr>
              <a:buSzPts val="1200"/>
              <a:buFont typeface="Calibri"/>
              <a:buNone/>
            </a:pPr>
            <a:r>
              <a:rPr b="0" i="0" lang="en-US" sz="1200" u="none" cap="none" strike="noStrike">
                <a:solidFill>
                  <a:srgbClr val="C9D1DF"/>
                </a:solidFill>
                <a:latin typeface="Calibri"/>
                <a:ea typeface="Calibri"/>
                <a:cs typeface="Calibri"/>
                <a:sym typeface="Calibri"/>
              </a:rPr>
              <a:t>2,048-d → 64-d  ·  32× smaller</a:t>
            </a:r>
            <a:endParaRPr b="0" i="0" sz="1200" u="none" cap="none" strike="noStrike">
              <a:solidFill>
                <a:schemeClr val="dk1"/>
              </a:solidFill>
              <a:latin typeface="Calibri"/>
              <a:ea typeface="Calibri"/>
              <a:cs typeface="Calibri"/>
              <a:sym typeface="Calibri"/>
            </a:endParaRPr>
          </a:p>
        </p:txBody>
      </p:sp>
      <p:sp>
        <p:nvSpPr>
          <p:cNvPr id="355" name="Google Shape;355;p14"/>
          <p:cNvSpPr txBox="1"/>
          <p:nvPr/>
        </p:nvSpPr>
        <p:spPr>
          <a:xfrm>
            <a:off x="6375400" y="2590800"/>
            <a:ext cx="1333500" cy="17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955E"/>
              </a:buClr>
              <a:buSzPts val="1050"/>
              <a:buFont typeface="Calibri"/>
              <a:buNone/>
            </a:pPr>
            <a:r>
              <a:rPr b="1" i="0" lang="en-US" sz="1050" u="none" cap="none" strike="noStrike">
                <a:solidFill>
                  <a:srgbClr val="E8955E"/>
                </a:solidFill>
                <a:latin typeface="Calibri"/>
                <a:ea typeface="Calibri"/>
                <a:cs typeface="Calibri"/>
                <a:sym typeface="Calibri"/>
              </a:rPr>
              <a:t>METHODS</a:t>
            </a:r>
            <a:endParaRPr b="0" i="0" sz="1050" u="none" cap="none" strike="noStrike">
              <a:solidFill>
                <a:schemeClr val="dk1"/>
              </a:solidFill>
              <a:latin typeface="Calibri"/>
              <a:ea typeface="Calibri"/>
              <a:cs typeface="Calibri"/>
              <a:sym typeface="Calibri"/>
            </a:endParaRPr>
          </a:p>
        </p:txBody>
      </p:sp>
      <p:sp>
        <p:nvSpPr>
          <p:cNvPr id="356" name="Google Shape;356;p14"/>
          <p:cNvSpPr txBox="1"/>
          <p:nvPr/>
        </p:nvSpPr>
        <p:spPr>
          <a:xfrm>
            <a:off x="7772400" y="2565400"/>
            <a:ext cx="3403500" cy="50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7F6F2"/>
              </a:buClr>
              <a:buSzPts val="1500"/>
              <a:buFont typeface="Calibri"/>
              <a:buNone/>
            </a:pPr>
            <a:r>
              <a:rPr b="1" i="0" lang="en-US" sz="1500" u="none" cap="none" strike="noStrike">
                <a:solidFill>
                  <a:srgbClr val="F7F6F2"/>
                </a:solidFill>
                <a:latin typeface="Calibri"/>
                <a:ea typeface="Calibri"/>
                <a:cs typeface="Calibri"/>
                <a:sym typeface="Calibri"/>
              </a:rPr>
              <a:t>TaskAgnosticAE (InfoNCE)</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7F6F2"/>
              </a:buClr>
              <a:buSzPts val="1500"/>
              <a:buFont typeface="Calibri"/>
              <a:buNone/>
            </a:pPr>
            <a:r>
              <a:rPr b="1" i="0" lang="en-US" sz="1500" u="none" cap="none" strike="noStrike">
                <a:solidFill>
                  <a:srgbClr val="F7F6F2"/>
                </a:solidFill>
                <a:latin typeface="Calibri"/>
                <a:ea typeface="Calibri"/>
                <a:cs typeface="Calibri"/>
                <a:sym typeface="Calibri"/>
              </a:rPr>
              <a:t>TaskAwareAE (SupCon)</a:t>
            </a:r>
            <a:endParaRPr b="0" i="0" sz="1500" u="none" cap="none" strike="noStrike">
              <a:solidFill>
                <a:schemeClr val="dk1"/>
              </a:solidFill>
              <a:latin typeface="Calibri"/>
              <a:ea typeface="Calibri"/>
              <a:cs typeface="Calibri"/>
              <a:sym typeface="Calibri"/>
            </a:endParaRPr>
          </a:p>
        </p:txBody>
      </p:sp>
      <p:cxnSp>
        <p:nvCxnSpPr>
          <p:cNvPr id="357" name="Google Shape;357;p14"/>
          <p:cNvCxnSpPr/>
          <p:nvPr/>
        </p:nvCxnSpPr>
        <p:spPr>
          <a:xfrm>
            <a:off x="6375400" y="3136900"/>
            <a:ext cx="4800600" cy="0"/>
          </a:xfrm>
          <a:prstGeom prst="straightConnector1">
            <a:avLst/>
          </a:prstGeom>
          <a:noFill/>
          <a:ln cap="flat" cmpd="sng" w="9525">
            <a:solidFill>
              <a:srgbClr val="33405C"/>
            </a:solidFill>
            <a:prstDash val="solid"/>
            <a:round/>
            <a:headEnd len="sm" w="sm" type="none"/>
            <a:tailEnd len="sm" w="sm" type="none"/>
          </a:ln>
        </p:spPr>
      </p:cxnSp>
      <p:sp>
        <p:nvSpPr>
          <p:cNvPr id="358" name="Google Shape;358;p14"/>
          <p:cNvSpPr txBox="1"/>
          <p:nvPr/>
        </p:nvSpPr>
        <p:spPr>
          <a:xfrm>
            <a:off x="6375400" y="3213100"/>
            <a:ext cx="3810000" cy="17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955E"/>
              </a:buClr>
              <a:buSzPts val="1050"/>
              <a:buFont typeface="Calibri"/>
              <a:buNone/>
            </a:pPr>
            <a:r>
              <a:rPr b="1" i="0" lang="en-US" sz="1050" u="none" cap="none" strike="noStrike">
                <a:solidFill>
                  <a:srgbClr val="E8955E"/>
                </a:solidFill>
                <a:latin typeface="Calibri"/>
                <a:ea typeface="Calibri"/>
                <a:cs typeface="Calibri"/>
                <a:sym typeface="Calibri"/>
              </a:rPr>
              <a:t>TRAINING, DECOUPLED IN TWO STAGES</a:t>
            </a:r>
            <a:endParaRPr b="0" i="0" sz="1050" u="none" cap="none" strike="noStrike">
              <a:solidFill>
                <a:schemeClr val="dk1"/>
              </a:solidFill>
              <a:latin typeface="Calibri"/>
              <a:ea typeface="Calibri"/>
              <a:cs typeface="Calibri"/>
              <a:sym typeface="Calibri"/>
            </a:endParaRPr>
          </a:p>
        </p:txBody>
      </p:sp>
      <p:sp>
        <p:nvSpPr>
          <p:cNvPr id="359" name="Google Shape;359;p14"/>
          <p:cNvSpPr txBox="1"/>
          <p:nvPr/>
        </p:nvSpPr>
        <p:spPr>
          <a:xfrm>
            <a:off x="6375400" y="3492500"/>
            <a:ext cx="825600" cy="17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955E"/>
              </a:buClr>
              <a:buSzPts val="1050"/>
              <a:buFont typeface="Calibri"/>
              <a:buNone/>
            </a:pPr>
            <a:r>
              <a:rPr b="1" i="0" lang="en-US" sz="1050" u="none" cap="none" strike="noStrike">
                <a:solidFill>
                  <a:srgbClr val="E8955E"/>
                </a:solidFill>
                <a:latin typeface="Calibri"/>
                <a:ea typeface="Calibri"/>
                <a:cs typeface="Calibri"/>
                <a:sym typeface="Calibri"/>
              </a:rPr>
              <a:t>STAGE 1</a:t>
            </a:r>
            <a:endParaRPr b="0" i="0" sz="1050" u="none" cap="none" strike="noStrike">
              <a:solidFill>
                <a:schemeClr val="dk1"/>
              </a:solidFill>
              <a:latin typeface="Calibri"/>
              <a:ea typeface="Calibri"/>
              <a:cs typeface="Calibri"/>
              <a:sym typeface="Calibri"/>
            </a:endParaRPr>
          </a:p>
        </p:txBody>
      </p:sp>
      <p:sp>
        <p:nvSpPr>
          <p:cNvPr id="360" name="Google Shape;360;p14"/>
          <p:cNvSpPr/>
          <p:nvPr/>
        </p:nvSpPr>
        <p:spPr>
          <a:xfrm>
            <a:off x="7327900" y="3454400"/>
            <a:ext cx="825600" cy="241200"/>
          </a:xfrm>
          <a:prstGeom prst="roundRect">
            <a:avLst>
              <a:gd fmla="val 18947" name="adj"/>
            </a:avLst>
          </a:prstGeom>
          <a:solidFill>
            <a:srgbClr val="33405C"/>
          </a:solidFill>
          <a:ln cap="flat" cmpd="sng" w="9525">
            <a:solidFill>
              <a:srgbClr val="8A96AD"/>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4"/>
          <p:cNvSpPr txBox="1"/>
          <p:nvPr/>
        </p:nvSpPr>
        <p:spPr>
          <a:xfrm>
            <a:off x="7327900" y="3454400"/>
            <a:ext cx="825600" cy="241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D1DF"/>
              </a:buClr>
              <a:buSzPts val="1150"/>
              <a:buFont typeface="Calibri"/>
              <a:buNone/>
            </a:pPr>
            <a:r>
              <a:rPr b="1" i="0" lang="en-US" sz="1150" u="none" cap="none" strike="noStrike">
                <a:solidFill>
                  <a:srgbClr val="C9D1DF"/>
                </a:solidFill>
                <a:latin typeface="Calibri"/>
                <a:ea typeface="Calibri"/>
                <a:cs typeface="Calibri"/>
                <a:sym typeface="Calibri"/>
              </a:rPr>
              <a:t>Encoders</a:t>
            </a:r>
            <a:endParaRPr b="0" i="0" sz="1150" u="none" cap="none" strike="noStrike">
              <a:solidFill>
                <a:schemeClr val="dk1"/>
              </a:solidFill>
              <a:latin typeface="Calibri"/>
              <a:ea typeface="Calibri"/>
              <a:cs typeface="Calibri"/>
              <a:sym typeface="Calibri"/>
            </a:endParaRPr>
          </a:p>
        </p:txBody>
      </p:sp>
      <p:cxnSp>
        <p:nvCxnSpPr>
          <p:cNvPr id="362" name="Google Shape;362;p14"/>
          <p:cNvCxnSpPr/>
          <p:nvPr/>
        </p:nvCxnSpPr>
        <p:spPr>
          <a:xfrm>
            <a:off x="8204200" y="3575050"/>
            <a:ext cx="165000" cy="0"/>
          </a:xfrm>
          <a:prstGeom prst="straightConnector1">
            <a:avLst/>
          </a:prstGeom>
          <a:noFill/>
          <a:ln cap="flat" cmpd="sng" w="15875">
            <a:solidFill>
              <a:srgbClr val="8A96AD"/>
            </a:solidFill>
            <a:prstDash val="solid"/>
            <a:round/>
            <a:headEnd len="sm" w="sm" type="none"/>
            <a:tailEnd len="med" w="med" type="triangle"/>
          </a:ln>
        </p:spPr>
      </p:cxnSp>
      <p:sp>
        <p:nvSpPr>
          <p:cNvPr id="363" name="Google Shape;363;p14"/>
          <p:cNvSpPr/>
          <p:nvPr/>
        </p:nvSpPr>
        <p:spPr>
          <a:xfrm>
            <a:off x="8420100" y="3454400"/>
            <a:ext cx="406500" cy="241200"/>
          </a:xfrm>
          <a:prstGeom prst="roundRect">
            <a:avLst>
              <a:gd fmla="val 18947" name="adj"/>
            </a:avLst>
          </a:prstGeom>
          <a:solidFill>
            <a:srgbClr val="E07A2E"/>
          </a:solidFill>
          <a:ln cap="flat" cmpd="sng" w="12700">
            <a:solidFill>
              <a:srgbClr val="E07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4"/>
          <p:cNvSpPr txBox="1"/>
          <p:nvPr/>
        </p:nvSpPr>
        <p:spPr>
          <a:xfrm>
            <a:off x="8420100" y="3454400"/>
            <a:ext cx="406500" cy="241200"/>
          </a:xfrm>
          <a:prstGeom prst="rect">
            <a:avLst/>
          </a:prstGeom>
          <a:solidFill>
            <a:srgbClr val="A64D79"/>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E"/>
              </a:buClr>
              <a:buSzPts val="1150"/>
              <a:buFont typeface="Calibri"/>
              <a:buNone/>
            </a:pPr>
            <a:r>
              <a:rPr b="1" i="0" lang="en-US" sz="1150" u="none" cap="none" strike="noStrike">
                <a:solidFill>
                  <a:srgbClr val="FFFFFE"/>
                </a:solidFill>
                <a:latin typeface="Calibri"/>
                <a:ea typeface="Calibri"/>
                <a:cs typeface="Calibri"/>
                <a:sym typeface="Calibri"/>
              </a:rPr>
              <a:t>AE</a:t>
            </a:r>
            <a:endParaRPr b="0" i="0" sz="1150" u="none" cap="none" strike="noStrike">
              <a:solidFill>
                <a:schemeClr val="dk1"/>
              </a:solidFill>
              <a:latin typeface="Calibri"/>
              <a:ea typeface="Calibri"/>
              <a:cs typeface="Calibri"/>
              <a:sym typeface="Calibri"/>
            </a:endParaRPr>
          </a:p>
        </p:txBody>
      </p:sp>
      <p:sp>
        <p:nvSpPr>
          <p:cNvPr id="365" name="Google Shape;365;p14"/>
          <p:cNvSpPr txBox="1"/>
          <p:nvPr/>
        </p:nvSpPr>
        <p:spPr>
          <a:xfrm>
            <a:off x="8915400" y="3454400"/>
            <a:ext cx="1905000" cy="24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1DF"/>
              </a:buClr>
              <a:buSzPts val="1150"/>
              <a:buFont typeface="Calibri"/>
              <a:buNone/>
            </a:pPr>
            <a:r>
              <a:rPr b="0" i="0" lang="en-US" sz="1150" u="none" cap="none" strike="noStrike">
                <a:solidFill>
                  <a:srgbClr val="C9D1DF"/>
                </a:solidFill>
                <a:latin typeface="Calibri"/>
                <a:ea typeface="Calibri"/>
                <a:cs typeface="Calibri"/>
                <a:sym typeface="Calibri"/>
              </a:rPr>
              <a:t>recon + alignment loss</a:t>
            </a:r>
            <a:endParaRPr b="0" i="0" sz="1150" u="none" cap="none" strike="noStrike">
              <a:solidFill>
                <a:schemeClr val="dk1"/>
              </a:solidFill>
              <a:latin typeface="Calibri"/>
              <a:ea typeface="Calibri"/>
              <a:cs typeface="Calibri"/>
              <a:sym typeface="Calibri"/>
            </a:endParaRPr>
          </a:p>
        </p:txBody>
      </p:sp>
      <p:sp>
        <p:nvSpPr>
          <p:cNvPr id="366" name="Google Shape;366;p14"/>
          <p:cNvSpPr txBox="1"/>
          <p:nvPr/>
        </p:nvSpPr>
        <p:spPr>
          <a:xfrm>
            <a:off x="6375400" y="3810000"/>
            <a:ext cx="825600" cy="17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955E"/>
              </a:buClr>
              <a:buSzPts val="1050"/>
              <a:buFont typeface="Calibri"/>
              <a:buNone/>
            </a:pPr>
            <a:r>
              <a:rPr b="1" i="0" lang="en-US" sz="1050" u="none" cap="none" strike="noStrike">
                <a:solidFill>
                  <a:srgbClr val="E8955E"/>
                </a:solidFill>
                <a:latin typeface="Calibri"/>
                <a:ea typeface="Calibri"/>
                <a:cs typeface="Calibri"/>
                <a:sym typeface="Calibri"/>
              </a:rPr>
              <a:t>STAGE 2</a:t>
            </a:r>
            <a:endParaRPr b="0" i="0" sz="1050" u="none" cap="none" strike="noStrike">
              <a:solidFill>
                <a:schemeClr val="dk1"/>
              </a:solidFill>
              <a:latin typeface="Calibri"/>
              <a:ea typeface="Calibri"/>
              <a:cs typeface="Calibri"/>
              <a:sym typeface="Calibri"/>
            </a:endParaRPr>
          </a:p>
        </p:txBody>
      </p:sp>
      <p:sp>
        <p:nvSpPr>
          <p:cNvPr id="367" name="Google Shape;367;p14"/>
          <p:cNvSpPr/>
          <p:nvPr/>
        </p:nvSpPr>
        <p:spPr>
          <a:xfrm>
            <a:off x="7327900" y="3771900"/>
            <a:ext cx="406500" cy="241200"/>
          </a:xfrm>
          <a:prstGeom prst="roundRect">
            <a:avLst>
              <a:gd fmla="val 18947" name="adj"/>
            </a:avLst>
          </a:prstGeom>
          <a:solidFill>
            <a:srgbClr val="33405C"/>
          </a:solidFill>
          <a:ln cap="flat" cmpd="sng" w="9525">
            <a:solidFill>
              <a:srgbClr val="8A96AD"/>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4"/>
          <p:cNvSpPr txBox="1"/>
          <p:nvPr/>
        </p:nvSpPr>
        <p:spPr>
          <a:xfrm>
            <a:off x="7327900" y="3771900"/>
            <a:ext cx="406500" cy="241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D1DF"/>
              </a:buClr>
              <a:buSzPts val="1150"/>
              <a:buFont typeface="Calibri"/>
              <a:buNone/>
            </a:pPr>
            <a:r>
              <a:rPr b="1" i="0" lang="en-US" sz="1150" u="none" cap="none" strike="noStrike">
                <a:solidFill>
                  <a:srgbClr val="C9D1DF"/>
                </a:solidFill>
                <a:latin typeface="Calibri"/>
                <a:ea typeface="Calibri"/>
                <a:cs typeface="Calibri"/>
                <a:sym typeface="Calibri"/>
              </a:rPr>
              <a:t>AE</a:t>
            </a:r>
            <a:endParaRPr b="0" i="0" sz="1150" u="none" cap="none" strike="noStrike">
              <a:solidFill>
                <a:schemeClr val="dk1"/>
              </a:solidFill>
              <a:latin typeface="Calibri"/>
              <a:ea typeface="Calibri"/>
              <a:cs typeface="Calibri"/>
              <a:sym typeface="Calibri"/>
            </a:endParaRPr>
          </a:p>
        </p:txBody>
      </p:sp>
      <p:cxnSp>
        <p:nvCxnSpPr>
          <p:cNvPr id="369" name="Google Shape;369;p14"/>
          <p:cNvCxnSpPr/>
          <p:nvPr/>
        </p:nvCxnSpPr>
        <p:spPr>
          <a:xfrm>
            <a:off x="7785100" y="3892550"/>
            <a:ext cx="165000" cy="0"/>
          </a:xfrm>
          <a:prstGeom prst="straightConnector1">
            <a:avLst/>
          </a:prstGeom>
          <a:noFill/>
          <a:ln cap="flat" cmpd="sng" w="15875">
            <a:solidFill>
              <a:srgbClr val="8A96AD"/>
            </a:solidFill>
            <a:prstDash val="solid"/>
            <a:round/>
            <a:headEnd len="sm" w="sm" type="none"/>
            <a:tailEnd len="med" w="med" type="triangle"/>
          </a:ln>
        </p:spPr>
      </p:cxnSp>
      <p:sp>
        <p:nvSpPr>
          <p:cNvPr id="370" name="Google Shape;370;p14"/>
          <p:cNvSpPr txBox="1"/>
          <p:nvPr/>
        </p:nvSpPr>
        <p:spPr>
          <a:xfrm>
            <a:off x="7988300" y="3771900"/>
            <a:ext cx="825600" cy="241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955E"/>
              </a:buClr>
              <a:buSzPts val="1400"/>
              <a:buFont typeface="Cambria"/>
              <a:buNone/>
            </a:pPr>
            <a:r>
              <a:rPr b="1" i="1" lang="en-US" sz="1400" u="none" cap="none" strike="noStrike">
                <a:solidFill>
                  <a:srgbClr val="E8955E"/>
                </a:solidFill>
                <a:latin typeface="Cambria"/>
                <a:ea typeface="Cambria"/>
                <a:cs typeface="Cambria"/>
                <a:sym typeface="Cambria"/>
              </a:rPr>
              <a:t>cached z</a:t>
            </a:r>
            <a:endParaRPr b="0" i="0" sz="1400" u="none" cap="none" strike="noStrike">
              <a:solidFill>
                <a:schemeClr val="dk1"/>
              </a:solidFill>
              <a:latin typeface="Calibri"/>
              <a:ea typeface="Calibri"/>
              <a:cs typeface="Calibri"/>
              <a:sym typeface="Calibri"/>
            </a:endParaRPr>
          </a:p>
        </p:txBody>
      </p:sp>
      <p:cxnSp>
        <p:nvCxnSpPr>
          <p:cNvPr id="371" name="Google Shape;371;p14"/>
          <p:cNvCxnSpPr/>
          <p:nvPr/>
        </p:nvCxnSpPr>
        <p:spPr>
          <a:xfrm>
            <a:off x="8851900" y="3892550"/>
            <a:ext cx="165000" cy="0"/>
          </a:xfrm>
          <a:prstGeom prst="straightConnector1">
            <a:avLst/>
          </a:prstGeom>
          <a:noFill/>
          <a:ln cap="flat" cmpd="sng" w="15875">
            <a:solidFill>
              <a:srgbClr val="8A96AD"/>
            </a:solidFill>
            <a:prstDash val="solid"/>
            <a:round/>
            <a:headEnd len="sm" w="sm" type="none"/>
            <a:tailEnd len="med" w="med" type="triangle"/>
          </a:ln>
        </p:spPr>
      </p:cxnSp>
      <p:sp>
        <p:nvSpPr>
          <p:cNvPr id="372" name="Google Shape;372;p14"/>
          <p:cNvSpPr/>
          <p:nvPr/>
        </p:nvSpPr>
        <p:spPr>
          <a:xfrm>
            <a:off x="9067800" y="3771900"/>
            <a:ext cx="952500" cy="241200"/>
          </a:xfrm>
          <a:prstGeom prst="roundRect">
            <a:avLst>
              <a:gd fmla="val 18947" name="adj"/>
            </a:avLst>
          </a:prstGeom>
          <a:solidFill>
            <a:srgbClr val="E07A2E"/>
          </a:solidFill>
          <a:ln cap="flat" cmpd="sng" w="12700">
            <a:solidFill>
              <a:srgbClr val="E07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4"/>
          <p:cNvSpPr txBox="1"/>
          <p:nvPr/>
        </p:nvSpPr>
        <p:spPr>
          <a:xfrm>
            <a:off x="9067800" y="3771900"/>
            <a:ext cx="952500" cy="241200"/>
          </a:xfrm>
          <a:prstGeom prst="rect">
            <a:avLst/>
          </a:prstGeom>
          <a:solidFill>
            <a:srgbClr val="8E2463"/>
          </a:solidFill>
          <a:ln cap="flat" cmpd="sng" w="9525">
            <a:solidFill>
              <a:srgbClr val="A64D7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E"/>
              </a:buClr>
              <a:buSzPts val="1150"/>
              <a:buFont typeface="Calibri"/>
              <a:buNone/>
            </a:pPr>
            <a:r>
              <a:rPr b="1" i="0" lang="en-US" sz="1150" u="none" cap="none" strike="noStrike">
                <a:solidFill>
                  <a:srgbClr val="FFFFFE"/>
                </a:solidFill>
                <a:latin typeface="Calibri"/>
                <a:ea typeface="Calibri"/>
                <a:cs typeface="Calibri"/>
                <a:sym typeface="Calibri"/>
              </a:rPr>
              <a:t>MLP + head</a:t>
            </a:r>
            <a:endParaRPr b="0" i="0" sz="1150" u="none" cap="none" strike="noStrike">
              <a:solidFill>
                <a:schemeClr val="dk1"/>
              </a:solidFill>
              <a:latin typeface="Calibri"/>
              <a:ea typeface="Calibri"/>
              <a:cs typeface="Calibri"/>
              <a:sym typeface="Calibri"/>
            </a:endParaRPr>
          </a:p>
        </p:txBody>
      </p:sp>
      <p:cxnSp>
        <p:nvCxnSpPr>
          <p:cNvPr id="374" name="Google Shape;374;p14"/>
          <p:cNvCxnSpPr/>
          <p:nvPr/>
        </p:nvCxnSpPr>
        <p:spPr>
          <a:xfrm>
            <a:off x="10071100" y="3892550"/>
            <a:ext cx="165000" cy="0"/>
          </a:xfrm>
          <a:prstGeom prst="straightConnector1">
            <a:avLst/>
          </a:prstGeom>
          <a:noFill/>
          <a:ln cap="flat" cmpd="sng" w="15875">
            <a:solidFill>
              <a:srgbClr val="8A96AD"/>
            </a:solidFill>
            <a:prstDash val="solid"/>
            <a:round/>
            <a:headEnd len="sm" w="sm" type="none"/>
            <a:tailEnd len="med" w="med" type="triangle"/>
          </a:ln>
        </p:spPr>
      </p:cxnSp>
      <p:sp>
        <p:nvSpPr>
          <p:cNvPr id="375" name="Google Shape;375;p14"/>
          <p:cNvSpPr/>
          <p:nvPr/>
        </p:nvSpPr>
        <p:spPr>
          <a:xfrm>
            <a:off x="10287000" y="3771900"/>
            <a:ext cx="635100" cy="241200"/>
          </a:xfrm>
          <a:prstGeom prst="roundRect">
            <a:avLst>
              <a:gd fmla="val 18947" name="adj"/>
            </a:avLst>
          </a:prstGeom>
          <a:solidFill>
            <a:srgbClr val="33405C"/>
          </a:solidFill>
          <a:ln cap="flat" cmpd="sng" w="9525">
            <a:solidFill>
              <a:srgbClr val="8A96AD"/>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4"/>
          <p:cNvSpPr txBox="1"/>
          <p:nvPr/>
        </p:nvSpPr>
        <p:spPr>
          <a:xfrm>
            <a:off x="10287000" y="3771900"/>
            <a:ext cx="635100" cy="241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D1DF"/>
              </a:buClr>
              <a:buSzPts val="1150"/>
              <a:buFont typeface="Calibri"/>
              <a:buNone/>
            </a:pPr>
            <a:r>
              <a:rPr b="1" i="0" lang="en-US" sz="1150" u="none" cap="none" strike="noStrike">
                <a:solidFill>
                  <a:srgbClr val="C9D1DF"/>
                </a:solidFill>
                <a:latin typeface="Calibri"/>
                <a:ea typeface="Calibri"/>
                <a:cs typeface="Calibri"/>
                <a:sym typeface="Calibri"/>
              </a:rPr>
              <a:t>LLaVA</a:t>
            </a:r>
            <a:endParaRPr b="0" i="0" sz="1150" u="none" cap="none" strike="noStrike">
              <a:solidFill>
                <a:schemeClr val="dk1"/>
              </a:solidFill>
              <a:latin typeface="Calibri"/>
              <a:ea typeface="Calibri"/>
              <a:cs typeface="Calibri"/>
              <a:sym typeface="Calibri"/>
            </a:endParaRPr>
          </a:p>
        </p:txBody>
      </p:sp>
      <p:sp>
        <p:nvSpPr>
          <p:cNvPr id="377" name="Google Shape;377;p14"/>
          <p:cNvSpPr/>
          <p:nvPr/>
        </p:nvSpPr>
        <p:spPr>
          <a:xfrm>
            <a:off x="7327900" y="4127500"/>
            <a:ext cx="114300" cy="114300"/>
          </a:xfrm>
          <a:prstGeom prst="roundRect">
            <a:avLst>
              <a:gd fmla="val 16000" name="adj"/>
            </a:avLst>
          </a:prstGeom>
          <a:solidFill>
            <a:srgbClr val="E07A2E"/>
          </a:solidFill>
          <a:ln cap="flat" cmpd="sng" w="12700">
            <a:solidFill>
              <a:srgbClr val="E07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4"/>
          <p:cNvSpPr txBox="1"/>
          <p:nvPr/>
        </p:nvSpPr>
        <p:spPr>
          <a:xfrm>
            <a:off x="7505700" y="4102100"/>
            <a:ext cx="635100" cy="16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1DF"/>
              </a:buClr>
              <a:buSzPts val="1050"/>
              <a:buFont typeface="Calibri"/>
              <a:buNone/>
            </a:pPr>
            <a:r>
              <a:rPr b="0" i="0" lang="en-US" sz="1050" u="none" cap="none" strike="noStrike">
                <a:solidFill>
                  <a:srgbClr val="C9D1DF"/>
                </a:solidFill>
                <a:latin typeface="Calibri"/>
                <a:ea typeface="Calibri"/>
                <a:cs typeface="Calibri"/>
                <a:sym typeface="Calibri"/>
              </a:rPr>
              <a:t>trained</a:t>
            </a:r>
            <a:endParaRPr b="0" i="0" sz="1050" u="none" cap="none" strike="noStrike">
              <a:solidFill>
                <a:schemeClr val="dk1"/>
              </a:solidFill>
              <a:latin typeface="Calibri"/>
              <a:ea typeface="Calibri"/>
              <a:cs typeface="Calibri"/>
              <a:sym typeface="Calibri"/>
            </a:endParaRPr>
          </a:p>
        </p:txBody>
      </p:sp>
      <p:sp>
        <p:nvSpPr>
          <p:cNvPr id="379" name="Google Shape;379;p14"/>
          <p:cNvSpPr/>
          <p:nvPr/>
        </p:nvSpPr>
        <p:spPr>
          <a:xfrm>
            <a:off x="8153400" y="4127500"/>
            <a:ext cx="114300" cy="114300"/>
          </a:xfrm>
          <a:prstGeom prst="roundRect">
            <a:avLst>
              <a:gd fmla="val 16000" name="adj"/>
            </a:avLst>
          </a:prstGeom>
          <a:solidFill>
            <a:srgbClr val="33405C"/>
          </a:solidFill>
          <a:ln cap="flat" cmpd="sng" w="9525">
            <a:solidFill>
              <a:srgbClr val="8A96AD"/>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4"/>
          <p:cNvSpPr txBox="1"/>
          <p:nvPr/>
        </p:nvSpPr>
        <p:spPr>
          <a:xfrm>
            <a:off x="8331200" y="4102100"/>
            <a:ext cx="635100" cy="16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1DF"/>
              </a:buClr>
              <a:buSzPts val="1050"/>
              <a:buFont typeface="Calibri"/>
              <a:buNone/>
            </a:pPr>
            <a:r>
              <a:rPr b="0" i="0" lang="en-US" sz="1050" u="none" cap="none" strike="noStrike">
                <a:solidFill>
                  <a:srgbClr val="C9D1DF"/>
                </a:solidFill>
                <a:latin typeface="Calibri"/>
                <a:ea typeface="Calibri"/>
                <a:cs typeface="Calibri"/>
                <a:sym typeface="Calibri"/>
              </a:rPr>
              <a:t>frozen</a:t>
            </a:r>
            <a:endParaRPr b="0" i="0" sz="1050" u="none" cap="none" strike="noStrike">
              <a:solidFill>
                <a:schemeClr val="dk1"/>
              </a:solidFill>
              <a:latin typeface="Calibri"/>
              <a:ea typeface="Calibri"/>
              <a:cs typeface="Calibri"/>
              <a:sym typeface="Calibri"/>
            </a:endParaRPr>
          </a:p>
        </p:txBody>
      </p:sp>
      <p:sp>
        <p:nvSpPr>
          <p:cNvPr id="381" name="Google Shape;381;p14"/>
          <p:cNvSpPr/>
          <p:nvPr/>
        </p:nvSpPr>
        <p:spPr>
          <a:xfrm>
            <a:off x="812800" y="4533900"/>
            <a:ext cx="5207100" cy="1664100"/>
          </a:xfrm>
          <a:prstGeom prst="roundRect">
            <a:avLst>
              <a:gd fmla="val 5577" name="adj"/>
            </a:avLst>
          </a:prstGeom>
          <a:solidFill>
            <a:srgbClr val="FFFFFE"/>
          </a:solidFill>
          <a:ln cap="flat" cmpd="sng" w="9525">
            <a:solidFill>
              <a:srgbClr val="DCD9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2" name="Google Shape;382;p14"/>
          <p:cNvPicPr preferRelativeResize="0"/>
          <p:nvPr/>
        </p:nvPicPr>
        <p:blipFill rotWithShape="1">
          <a:blip r:embed="rId5">
            <a:alphaModFix/>
          </a:blip>
          <a:srcRect b="0" l="0" r="0" t="0"/>
          <a:stretch/>
        </p:blipFill>
        <p:spPr>
          <a:xfrm>
            <a:off x="1016000" y="4705350"/>
            <a:ext cx="215900" cy="215900"/>
          </a:xfrm>
          <a:prstGeom prst="rect">
            <a:avLst/>
          </a:prstGeom>
          <a:noFill/>
          <a:ln>
            <a:noFill/>
          </a:ln>
        </p:spPr>
      </p:pic>
      <p:sp>
        <p:nvSpPr>
          <p:cNvPr id="383" name="Google Shape;383;p14"/>
          <p:cNvSpPr txBox="1"/>
          <p:nvPr/>
        </p:nvSpPr>
        <p:spPr>
          <a:xfrm>
            <a:off x="1320800" y="4673600"/>
            <a:ext cx="4508400" cy="29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700"/>
              <a:buFont typeface="Calibri"/>
              <a:buNone/>
            </a:pPr>
            <a:r>
              <a:rPr b="1" i="0" lang="en-US" sz="1700" u="none" cap="none" strike="noStrike">
                <a:solidFill>
                  <a:srgbClr val="14213D"/>
                </a:solidFill>
                <a:latin typeface="Times New Roman"/>
                <a:ea typeface="Times New Roman"/>
                <a:cs typeface="Times New Roman"/>
                <a:sym typeface="Times New Roman"/>
              </a:rPr>
              <a:t>Baselines: same 64-d budget</a:t>
            </a:r>
            <a:endParaRPr i="0" sz="1700" u="none" cap="none" strike="noStrike">
              <a:solidFill>
                <a:schemeClr val="dk1"/>
              </a:solidFill>
              <a:latin typeface="Times New Roman"/>
              <a:ea typeface="Times New Roman"/>
              <a:cs typeface="Times New Roman"/>
              <a:sym typeface="Times New Roman"/>
            </a:endParaRPr>
          </a:p>
        </p:txBody>
      </p:sp>
      <p:sp>
        <p:nvSpPr>
          <p:cNvPr id="384" name="Google Shape;384;p14"/>
          <p:cNvSpPr txBox="1"/>
          <p:nvPr/>
        </p:nvSpPr>
        <p:spPr>
          <a:xfrm>
            <a:off x="1016000" y="5080000"/>
            <a:ext cx="1333500" cy="17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5D9A"/>
              </a:buClr>
              <a:buSzPts val="1050"/>
              <a:buFont typeface="Calibri"/>
              <a:buNone/>
            </a:pPr>
            <a:r>
              <a:rPr b="1" i="0" lang="en-US" sz="1050" u="none" cap="none" strike="noStrike">
                <a:solidFill>
                  <a:srgbClr val="2F5D9A"/>
                </a:solidFill>
                <a:latin typeface="Calibri"/>
                <a:ea typeface="Calibri"/>
                <a:cs typeface="Calibri"/>
                <a:sym typeface="Calibri"/>
              </a:rPr>
              <a:t>REFERENCE</a:t>
            </a:r>
            <a:endParaRPr b="0" i="0" sz="1050" u="none" cap="none" strike="noStrike">
              <a:solidFill>
                <a:schemeClr val="dk1"/>
              </a:solidFill>
              <a:latin typeface="Calibri"/>
              <a:ea typeface="Calibri"/>
              <a:cs typeface="Calibri"/>
              <a:sym typeface="Calibri"/>
            </a:endParaRPr>
          </a:p>
        </p:txBody>
      </p:sp>
      <p:sp>
        <p:nvSpPr>
          <p:cNvPr id="385" name="Google Shape;385;p14"/>
          <p:cNvSpPr txBox="1"/>
          <p:nvPr/>
        </p:nvSpPr>
        <p:spPr>
          <a:xfrm>
            <a:off x="2413000" y="5054600"/>
            <a:ext cx="34035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No compression</a:t>
            </a:r>
            <a:endParaRPr b="0" i="0" sz="1500" u="none" cap="none" strike="noStrike">
              <a:solidFill>
                <a:schemeClr val="dk1"/>
              </a:solidFill>
              <a:latin typeface="Calibri"/>
              <a:ea typeface="Calibri"/>
              <a:cs typeface="Calibri"/>
              <a:sym typeface="Calibri"/>
            </a:endParaRPr>
          </a:p>
        </p:txBody>
      </p:sp>
      <p:sp>
        <p:nvSpPr>
          <p:cNvPr id="386" name="Google Shape;386;p14"/>
          <p:cNvSpPr txBox="1"/>
          <p:nvPr/>
        </p:nvSpPr>
        <p:spPr>
          <a:xfrm>
            <a:off x="1016000" y="5422900"/>
            <a:ext cx="1333500" cy="17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5D9A"/>
              </a:buClr>
              <a:buSzPts val="1050"/>
              <a:buFont typeface="Calibri"/>
              <a:buNone/>
            </a:pPr>
            <a:r>
              <a:rPr b="1" i="0" lang="en-US" sz="1050" u="none" cap="none" strike="noStrike">
                <a:solidFill>
                  <a:srgbClr val="2F5D9A"/>
                </a:solidFill>
                <a:latin typeface="Calibri"/>
                <a:ea typeface="Calibri"/>
                <a:cs typeface="Calibri"/>
                <a:sym typeface="Calibri"/>
              </a:rPr>
              <a:t>UNSUPERVISED</a:t>
            </a:r>
            <a:endParaRPr b="0" i="0" sz="1050" u="none" cap="none" strike="noStrike">
              <a:solidFill>
                <a:schemeClr val="dk1"/>
              </a:solidFill>
              <a:latin typeface="Calibri"/>
              <a:ea typeface="Calibri"/>
              <a:cs typeface="Calibri"/>
              <a:sym typeface="Calibri"/>
            </a:endParaRPr>
          </a:p>
        </p:txBody>
      </p:sp>
      <p:sp>
        <p:nvSpPr>
          <p:cNvPr id="387" name="Google Shape;387;p14"/>
          <p:cNvSpPr txBox="1"/>
          <p:nvPr/>
        </p:nvSpPr>
        <p:spPr>
          <a:xfrm>
            <a:off x="2413000" y="5397500"/>
            <a:ext cx="34035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PCA · BlockPCA · AE · VAE</a:t>
            </a:r>
            <a:endParaRPr b="0" i="0" sz="1500" u="none" cap="none" strike="noStrike">
              <a:solidFill>
                <a:schemeClr val="dk1"/>
              </a:solidFill>
              <a:latin typeface="Calibri"/>
              <a:ea typeface="Calibri"/>
              <a:cs typeface="Calibri"/>
              <a:sym typeface="Calibri"/>
            </a:endParaRPr>
          </a:p>
        </p:txBody>
      </p:sp>
      <p:sp>
        <p:nvSpPr>
          <p:cNvPr id="388" name="Google Shape;388;p14"/>
          <p:cNvSpPr txBox="1"/>
          <p:nvPr/>
        </p:nvSpPr>
        <p:spPr>
          <a:xfrm>
            <a:off x="1016000" y="5765800"/>
            <a:ext cx="1333500" cy="17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5D9A"/>
              </a:buClr>
              <a:buSzPts val="1050"/>
              <a:buFont typeface="Calibri"/>
              <a:buNone/>
            </a:pPr>
            <a:r>
              <a:rPr b="1" i="0" lang="en-US" sz="1050" u="none" cap="none" strike="noStrike">
                <a:solidFill>
                  <a:srgbClr val="2F5D9A"/>
                </a:solidFill>
                <a:latin typeface="Calibri"/>
                <a:ea typeface="Calibri"/>
                <a:cs typeface="Calibri"/>
                <a:sym typeface="Calibri"/>
              </a:rPr>
              <a:t>SUPERVISED</a:t>
            </a:r>
            <a:endParaRPr b="0" i="0" sz="1050" u="none" cap="none" strike="noStrike">
              <a:solidFill>
                <a:schemeClr val="dk1"/>
              </a:solidFill>
              <a:latin typeface="Calibri"/>
              <a:ea typeface="Calibri"/>
              <a:cs typeface="Calibri"/>
              <a:sym typeface="Calibri"/>
            </a:endParaRPr>
          </a:p>
        </p:txBody>
      </p:sp>
      <p:sp>
        <p:nvSpPr>
          <p:cNvPr id="389" name="Google Shape;389;p14"/>
          <p:cNvSpPr txBox="1"/>
          <p:nvPr/>
        </p:nvSpPr>
        <p:spPr>
          <a:xfrm>
            <a:off x="2413000" y="5740400"/>
            <a:ext cx="34035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LDA</a:t>
            </a:r>
            <a:endParaRPr b="0" i="0" sz="1500" u="none" cap="none" strike="noStrike">
              <a:solidFill>
                <a:schemeClr val="dk1"/>
              </a:solidFill>
              <a:latin typeface="Calibri"/>
              <a:ea typeface="Calibri"/>
              <a:cs typeface="Calibri"/>
              <a:sym typeface="Calibri"/>
            </a:endParaRPr>
          </a:p>
        </p:txBody>
      </p:sp>
      <p:sp>
        <p:nvSpPr>
          <p:cNvPr id="390" name="Google Shape;390;p14"/>
          <p:cNvSpPr/>
          <p:nvPr/>
        </p:nvSpPr>
        <p:spPr>
          <a:xfrm>
            <a:off x="6172200" y="4533900"/>
            <a:ext cx="5207100" cy="1664100"/>
          </a:xfrm>
          <a:prstGeom prst="roundRect">
            <a:avLst>
              <a:gd fmla="val 5577" name="adj"/>
            </a:avLst>
          </a:prstGeom>
          <a:solidFill>
            <a:srgbClr val="FFFFFE"/>
          </a:solidFill>
          <a:ln cap="flat" cmpd="sng" w="9525">
            <a:solidFill>
              <a:srgbClr val="DCD9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1" name="Google Shape;391;p14"/>
          <p:cNvPicPr preferRelativeResize="0"/>
          <p:nvPr/>
        </p:nvPicPr>
        <p:blipFill rotWithShape="1">
          <a:blip r:embed="rId6">
            <a:alphaModFix/>
          </a:blip>
          <a:srcRect b="0" l="0" r="0" t="0"/>
          <a:stretch/>
        </p:blipFill>
        <p:spPr>
          <a:xfrm>
            <a:off x="6375400" y="4705350"/>
            <a:ext cx="215900" cy="215900"/>
          </a:xfrm>
          <a:prstGeom prst="rect">
            <a:avLst/>
          </a:prstGeom>
          <a:noFill/>
          <a:ln>
            <a:noFill/>
          </a:ln>
        </p:spPr>
      </p:pic>
      <p:sp>
        <p:nvSpPr>
          <p:cNvPr id="392" name="Google Shape;392;p14"/>
          <p:cNvSpPr txBox="1"/>
          <p:nvPr/>
        </p:nvSpPr>
        <p:spPr>
          <a:xfrm>
            <a:off x="6680200" y="4673600"/>
            <a:ext cx="4508400" cy="29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700"/>
              <a:buFont typeface="Calibri"/>
              <a:buNone/>
            </a:pPr>
            <a:r>
              <a:rPr b="1" i="0" lang="en-US" sz="1700" u="none" cap="none" strike="noStrike">
                <a:solidFill>
                  <a:srgbClr val="14213D"/>
                </a:solidFill>
                <a:latin typeface="Times New Roman"/>
                <a:ea typeface="Times New Roman"/>
                <a:cs typeface="Times New Roman"/>
                <a:sym typeface="Times New Roman"/>
              </a:rPr>
              <a:t>Hardware and latency</a:t>
            </a:r>
            <a:endParaRPr i="0" sz="1700" u="none" cap="none" strike="noStrike">
              <a:solidFill>
                <a:schemeClr val="dk1"/>
              </a:solidFill>
              <a:latin typeface="Times New Roman"/>
              <a:ea typeface="Times New Roman"/>
              <a:cs typeface="Times New Roman"/>
              <a:sym typeface="Times New Roman"/>
            </a:endParaRPr>
          </a:p>
        </p:txBody>
      </p:sp>
      <p:sp>
        <p:nvSpPr>
          <p:cNvPr id="393" name="Google Shape;393;p14"/>
          <p:cNvSpPr txBox="1"/>
          <p:nvPr/>
        </p:nvSpPr>
        <p:spPr>
          <a:xfrm>
            <a:off x="6375400" y="5080000"/>
            <a:ext cx="1333500" cy="17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5D9A"/>
              </a:buClr>
              <a:buSzPts val="1050"/>
              <a:buFont typeface="Calibri"/>
              <a:buNone/>
            </a:pPr>
            <a:r>
              <a:rPr b="1" i="0" lang="en-US" sz="1050" u="none" cap="none" strike="noStrike">
                <a:solidFill>
                  <a:srgbClr val="2F5D9A"/>
                </a:solidFill>
                <a:latin typeface="Calibri"/>
                <a:ea typeface="Calibri"/>
                <a:cs typeface="Calibri"/>
                <a:sym typeface="Calibri"/>
              </a:rPr>
              <a:t>EDGE</a:t>
            </a:r>
            <a:endParaRPr b="0" i="0" sz="1050" u="none" cap="none" strike="noStrike">
              <a:solidFill>
                <a:schemeClr val="dk1"/>
              </a:solidFill>
              <a:latin typeface="Calibri"/>
              <a:ea typeface="Calibri"/>
              <a:cs typeface="Calibri"/>
              <a:sym typeface="Calibri"/>
            </a:endParaRPr>
          </a:p>
        </p:txBody>
      </p:sp>
      <p:sp>
        <p:nvSpPr>
          <p:cNvPr id="394" name="Google Shape;394;p14"/>
          <p:cNvSpPr txBox="1"/>
          <p:nvPr/>
        </p:nvSpPr>
        <p:spPr>
          <a:xfrm>
            <a:off x="7772400" y="5054600"/>
            <a:ext cx="34035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1 x86 CPU thread (proxy)</a:t>
            </a:r>
            <a:endParaRPr b="0" i="0" sz="1500" u="none" cap="none" strike="noStrike">
              <a:solidFill>
                <a:schemeClr val="dk1"/>
              </a:solidFill>
              <a:latin typeface="Calibri"/>
              <a:ea typeface="Calibri"/>
              <a:cs typeface="Calibri"/>
              <a:sym typeface="Calibri"/>
            </a:endParaRPr>
          </a:p>
        </p:txBody>
      </p:sp>
      <p:sp>
        <p:nvSpPr>
          <p:cNvPr id="395" name="Google Shape;395;p14"/>
          <p:cNvSpPr txBox="1"/>
          <p:nvPr/>
        </p:nvSpPr>
        <p:spPr>
          <a:xfrm>
            <a:off x="6375400" y="5422900"/>
            <a:ext cx="1333500" cy="17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5D9A"/>
              </a:buClr>
              <a:buSzPts val="1050"/>
              <a:buFont typeface="Calibri"/>
              <a:buNone/>
            </a:pPr>
            <a:r>
              <a:rPr b="1" i="0" lang="en-US" sz="1050" u="none" cap="none" strike="noStrike">
                <a:solidFill>
                  <a:srgbClr val="2F5D9A"/>
                </a:solidFill>
                <a:latin typeface="Calibri"/>
                <a:ea typeface="Calibri"/>
                <a:cs typeface="Calibri"/>
                <a:sym typeface="Calibri"/>
              </a:rPr>
              <a:t>SERVER</a:t>
            </a:r>
            <a:endParaRPr b="0" i="0" sz="1050" u="none" cap="none" strike="noStrike">
              <a:solidFill>
                <a:schemeClr val="dk1"/>
              </a:solidFill>
              <a:latin typeface="Calibri"/>
              <a:ea typeface="Calibri"/>
              <a:cs typeface="Calibri"/>
              <a:sym typeface="Calibri"/>
            </a:endParaRPr>
          </a:p>
        </p:txBody>
      </p:sp>
      <p:sp>
        <p:nvSpPr>
          <p:cNvPr id="396" name="Google Shape;396;p14"/>
          <p:cNvSpPr txBox="1"/>
          <p:nvPr/>
        </p:nvSpPr>
        <p:spPr>
          <a:xfrm>
            <a:off x="7772400" y="5397500"/>
            <a:ext cx="34035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Quadro RTX 6000 GPU</a:t>
            </a:r>
            <a:endParaRPr b="0" i="0" sz="1500" u="none" cap="none" strike="noStrike">
              <a:solidFill>
                <a:schemeClr val="dk1"/>
              </a:solidFill>
              <a:latin typeface="Calibri"/>
              <a:ea typeface="Calibri"/>
              <a:cs typeface="Calibri"/>
              <a:sym typeface="Calibri"/>
            </a:endParaRPr>
          </a:p>
        </p:txBody>
      </p:sp>
      <p:sp>
        <p:nvSpPr>
          <p:cNvPr id="397" name="Google Shape;397;p14"/>
          <p:cNvSpPr txBox="1"/>
          <p:nvPr/>
        </p:nvSpPr>
        <p:spPr>
          <a:xfrm>
            <a:off x="6375400" y="5765800"/>
            <a:ext cx="1333500" cy="17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5D9A"/>
              </a:buClr>
              <a:buSzPts val="1050"/>
              <a:buFont typeface="Calibri"/>
              <a:buNone/>
            </a:pPr>
            <a:r>
              <a:rPr b="1" i="0" lang="en-US" sz="1050" u="none" cap="none" strike="noStrike">
                <a:solidFill>
                  <a:srgbClr val="2F5D9A"/>
                </a:solidFill>
                <a:latin typeface="Calibri"/>
                <a:ea typeface="Calibri"/>
                <a:cs typeface="Calibri"/>
                <a:sym typeface="Calibri"/>
              </a:rPr>
              <a:t>TRANSMISSION</a:t>
            </a:r>
            <a:endParaRPr b="0" i="0" sz="1050" u="none" cap="none" strike="noStrike">
              <a:solidFill>
                <a:schemeClr val="dk1"/>
              </a:solidFill>
              <a:latin typeface="Calibri"/>
              <a:ea typeface="Calibri"/>
              <a:cs typeface="Calibri"/>
              <a:sym typeface="Calibri"/>
            </a:endParaRPr>
          </a:p>
        </p:txBody>
      </p:sp>
      <p:sp>
        <p:nvSpPr>
          <p:cNvPr id="398" name="Google Shape;398;p14"/>
          <p:cNvSpPr txBox="1"/>
          <p:nvPr/>
        </p:nvSpPr>
        <p:spPr>
          <a:xfrm>
            <a:off x="7772400" y="5740400"/>
            <a:ext cx="34035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Estimated: payload ÷ bandwidth</a:t>
            </a:r>
            <a:endParaRPr b="0" i="0" sz="1500" u="none" cap="none" strike="noStrike">
              <a:solidFill>
                <a:schemeClr val="dk1"/>
              </a:solidFill>
              <a:latin typeface="Calibri"/>
              <a:ea typeface="Calibri"/>
              <a:cs typeface="Calibri"/>
              <a:sym typeface="Calibri"/>
            </a:endParaRPr>
          </a:p>
        </p:txBody>
      </p:sp>
      <p:sp>
        <p:nvSpPr>
          <p:cNvPr id="399" name="Google Shape;399;p14"/>
          <p:cNvSpPr txBox="1"/>
          <p:nvPr/>
        </p:nvSpPr>
        <p:spPr>
          <a:xfrm>
            <a:off x="7772400" y="5981700"/>
            <a:ext cx="3403500" cy="20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475"/>
              </a:buClr>
              <a:buSzPts val="1200"/>
              <a:buFont typeface="Calibri"/>
              <a:buNone/>
            </a:pPr>
            <a:r>
              <a:rPr b="0" i="0" lang="en-US" sz="1200" u="none" cap="none" strike="noStrike">
                <a:solidFill>
                  <a:srgbClr val="5A6475"/>
                </a:solidFill>
                <a:latin typeface="Calibri"/>
                <a:ea typeface="Calibri"/>
                <a:cs typeface="Calibri"/>
                <a:sym typeface="Calibri"/>
              </a:rPr>
              <a:t>0.1 / 10 / 50 / 100 Mbps</a:t>
            </a:r>
            <a:endParaRPr b="0" i="0" sz="1200" u="none" cap="none" strike="noStrike">
              <a:solidFill>
                <a:schemeClr val="dk1"/>
              </a:solidFill>
              <a:latin typeface="Calibri"/>
              <a:ea typeface="Calibri"/>
              <a:cs typeface="Calibri"/>
              <a:sym typeface="Calibri"/>
            </a:endParaRPr>
          </a:p>
        </p:txBody>
      </p:sp>
      <p:sp>
        <p:nvSpPr>
          <p:cNvPr id="400" name="Google Shape;400;p14"/>
          <p:cNvSpPr/>
          <p:nvPr/>
        </p:nvSpPr>
        <p:spPr>
          <a:xfrm>
            <a:off x="1117589" y="533357"/>
            <a:ext cx="762000" cy="507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4"/>
          <p:cNvSpPr/>
          <p:nvPr/>
        </p:nvSpPr>
        <p:spPr>
          <a:xfrm>
            <a:off x="0" y="0"/>
            <a:ext cx="304800" cy="68580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4"/>
          <p:cNvSpPr/>
          <p:nvPr/>
        </p:nvSpPr>
        <p:spPr>
          <a:xfrm>
            <a:off x="304767" y="6299181"/>
            <a:ext cx="11887200" cy="5589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4"/>
          <p:cNvSpPr/>
          <p:nvPr/>
        </p:nvSpPr>
        <p:spPr>
          <a:xfrm>
            <a:off x="1117534" y="6471872"/>
            <a:ext cx="955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Introduction</a:t>
            </a:r>
            <a:endParaRPr b="0" i="0" sz="1200" u="none" cap="none" strike="noStrike">
              <a:solidFill>
                <a:schemeClr val="dk1"/>
              </a:solidFill>
              <a:latin typeface="Arial"/>
              <a:ea typeface="Arial"/>
              <a:cs typeface="Arial"/>
              <a:sym typeface="Arial"/>
            </a:endParaRPr>
          </a:p>
        </p:txBody>
      </p:sp>
      <p:sp>
        <p:nvSpPr>
          <p:cNvPr id="404" name="Google Shape;404;p14"/>
          <p:cNvSpPr/>
          <p:nvPr/>
        </p:nvSpPr>
        <p:spPr>
          <a:xfrm>
            <a:off x="2218531" y="6471872"/>
            <a:ext cx="914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Framework</a:t>
            </a:r>
            <a:endParaRPr b="0" i="0" sz="1200" u="none" cap="none" strike="noStrike">
              <a:solidFill>
                <a:schemeClr val="dk1"/>
              </a:solidFill>
              <a:latin typeface="Arial"/>
              <a:ea typeface="Arial"/>
              <a:cs typeface="Arial"/>
              <a:sym typeface="Arial"/>
            </a:endParaRPr>
          </a:p>
        </p:txBody>
      </p:sp>
      <p:sp>
        <p:nvSpPr>
          <p:cNvPr id="405" name="Google Shape;405;p14"/>
          <p:cNvSpPr/>
          <p:nvPr/>
        </p:nvSpPr>
        <p:spPr>
          <a:xfrm>
            <a:off x="3285243" y="6471872"/>
            <a:ext cx="660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Solution</a:t>
            </a:r>
            <a:endParaRPr b="0" i="0" sz="1200" u="none" cap="none" strike="noStrike">
              <a:solidFill>
                <a:schemeClr val="dk1"/>
              </a:solidFill>
              <a:latin typeface="Arial"/>
              <a:ea typeface="Arial"/>
              <a:cs typeface="Arial"/>
              <a:sym typeface="Arial"/>
            </a:endParaRPr>
          </a:p>
        </p:txBody>
      </p:sp>
      <p:sp>
        <p:nvSpPr>
          <p:cNvPr id="406" name="Google Shape;406;p14"/>
          <p:cNvSpPr/>
          <p:nvPr/>
        </p:nvSpPr>
        <p:spPr>
          <a:xfrm>
            <a:off x="4140674" y="6471872"/>
            <a:ext cx="924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Evaluation</a:t>
            </a:r>
            <a:endParaRPr b="0" i="0" sz="1200" u="none" cap="none" strike="noStrike">
              <a:solidFill>
                <a:schemeClr val="dk1"/>
              </a:solidFill>
              <a:latin typeface="Arial"/>
              <a:ea typeface="Arial"/>
              <a:cs typeface="Arial"/>
              <a:sym typeface="Arial"/>
            </a:endParaRPr>
          </a:p>
        </p:txBody>
      </p:sp>
      <p:sp>
        <p:nvSpPr>
          <p:cNvPr id="407" name="Google Shape;407;p14"/>
          <p:cNvSpPr/>
          <p:nvPr/>
        </p:nvSpPr>
        <p:spPr>
          <a:xfrm>
            <a:off x="5215930" y="6471872"/>
            <a:ext cx="904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Conclusion</a:t>
            </a:r>
            <a:endParaRPr b="0" i="0" sz="1200" u="none" cap="none" strike="noStrike">
              <a:solidFill>
                <a:schemeClr val="dk1"/>
              </a:solidFill>
              <a:latin typeface="Arial"/>
              <a:ea typeface="Arial"/>
              <a:cs typeface="Arial"/>
              <a:sym typeface="Arial"/>
            </a:endParaRPr>
          </a:p>
        </p:txBody>
      </p:sp>
      <p:sp>
        <p:nvSpPr>
          <p:cNvPr id="408" name="Google Shape;408;p14"/>
          <p:cNvSpPr/>
          <p:nvPr/>
        </p:nvSpPr>
        <p:spPr>
          <a:xfrm>
            <a:off x="6274539" y="6471872"/>
            <a:ext cx="965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Future work</a:t>
            </a:r>
            <a:endParaRPr b="0" i="0" sz="1200" u="none" cap="none" strike="noStrike">
              <a:solidFill>
                <a:schemeClr val="dk1"/>
              </a:solidFill>
              <a:latin typeface="Arial"/>
              <a:ea typeface="Arial"/>
              <a:cs typeface="Arial"/>
              <a:sym typeface="Arial"/>
            </a:endParaRPr>
          </a:p>
        </p:txBody>
      </p:sp>
      <p:sp>
        <p:nvSpPr>
          <p:cNvPr id="409" name="Google Shape;409;p14"/>
          <p:cNvSpPr/>
          <p:nvPr/>
        </p:nvSpPr>
        <p:spPr>
          <a:xfrm>
            <a:off x="11209680" y="6471872"/>
            <a:ext cx="2202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lang="en-US" sz="1200">
                <a:solidFill>
                  <a:srgbClr val="FFFFFF"/>
                </a:solidFill>
              </a:rPr>
              <a:t>9</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15"/>
          <p:cNvSpPr txBox="1"/>
          <p:nvPr>
            <p:ph idx="1" type="body"/>
          </p:nvPr>
        </p:nvSpPr>
        <p:spPr>
          <a:xfrm>
            <a:off x="813816" y="566928"/>
            <a:ext cx="10561200" cy="29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1200"/>
              <a:buNone/>
            </a:pPr>
            <a:r>
              <a:rPr b="1" lang="en-US" sz="1400">
                <a:solidFill>
                  <a:srgbClr val="A64D79"/>
                </a:solidFill>
                <a:latin typeface="Calibri"/>
                <a:ea typeface="Calibri"/>
                <a:cs typeface="Calibri"/>
                <a:sym typeface="Calibri"/>
              </a:rPr>
              <a:t>ACCURACY EVALUATION</a:t>
            </a:r>
            <a:endParaRPr sz="1400">
              <a:solidFill>
                <a:srgbClr val="A64D79"/>
              </a:solidFill>
            </a:endParaRPr>
          </a:p>
        </p:txBody>
      </p:sp>
      <p:sp>
        <p:nvSpPr>
          <p:cNvPr id="416" name="Google Shape;416;p15"/>
          <p:cNvSpPr txBox="1"/>
          <p:nvPr>
            <p:ph type="title"/>
          </p:nvPr>
        </p:nvSpPr>
        <p:spPr>
          <a:xfrm>
            <a:off x="813816" y="896112"/>
            <a:ext cx="10561200" cy="64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200"/>
              <a:buFont typeface="Cambria"/>
              <a:buNone/>
            </a:pPr>
            <a:r>
              <a:rPr lang="en-US" sz="3200">
                <a:solidFill>
                  <a:schemeClr val="dk1"/>
                </a:solidFill>
                <a:latin typeface="Georgia"/>
                <a:ea typeface="Georgia"/>
                <a:cs typeface="Georgia"/>
                <a:sym typeface="Georgia"/>
              </a:rPr>
              <a:t>Same 32× compression, accuracy from 52% to 98%</a:t>
            </a:r>
            <a:endParaRPr sz="3200">
              <a:latin typeface="Georgia"/>
              <a:ea typeface="Georgia"/>
              <a:cs typeface="Georgia"/>
              <a:sym typeface="Georgia"/>
            </a:endParaRPr>
          </a:p>
        </p:txBody>
      </p:sp>
      <p:sp>
        <p:nvSpPr>
          <p:cNvPr id="417" name="Google Shape;417;p15"/>
          <p:cNvSpPr txBox="1"/>
          <p:nvPr/>
        </p:nvSpPr>
        <p:spPr>
          <a:xfrm>
            <a:off x="3810000" y="1447800"/>
            <a:ext cx="7556400" cy="20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656"/>
              </a:buClr>
              <a:buSzPts val="1350"/>
              <a:buFont typeface="Calibri"/>
              <a:buNone/>
            </a:pPr>
            <a:r>
              <a:rPr b="0" i="0" lang="en-US" sz="1350" u="none" cap="none" strike="noStrike">
                <a:solidFill>
                  <a:srgbClr val="3D4656"/>
                </a:solidFill>
                <a:latin typeface="Calibri"/>
                <a:ea typeface="Calibri"/>
                <a:cs typeface="Calibri"/>
                <a:sym typeface="Calibri"/>
              </a:rPr>
              <a:t>Test accuracy (%)  ·  change from uncompressed in grey</a:t>
            </a:r>
            <a:endParaRPr b="0" i="0" sz="1350" u="none" cap="none" strike="noStrike">
              <a:solidFill>
                <a:schemeClr val="dk1"/>
              </a:solidFill>
              <a:latin typeface="Calibri"/>
              <a:ea typeface="Calibri"/>
              <a:cs typeface="Calibri"/>
              <a:sym typeface="Calibri"/>
            </a:endParaRPr>
          </a:p>
        </p:txBody>
      </p:sp>
      <p:sp>
        <p:nvSpPr>
          <p:cNvPr id="418" name="Google Shape;418;p15"/>
          <p:cNvSpPr txBox="1"/>
          <p:nvPr/>
        </p:nvSpPr>
        <p:spPr>
          <a:xfrm>
            <a:off x="5461000" y="1689100"/>
            <a:ext cx="2667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9A"/>
              </a:buClr>
              <a:buSzPts val="1800"/>
              <a:buFont typeface="Calibri"/>
              <a:buNone/>
            </a:pPr>
            <a:r>
              <a:rPr b="1" i="0" lang="en-US" sz="1800" u="none" cap="none" strike="noStrike">
                <a:solidFill>
                  <a:srgbClr val="2F5D9A"/>
                </a:solidFill>
                <a:latin typeface="Calibri"/>
                <a:ea typeface="Calibri"/>
                <a:cs typeface="Calibri"/>
                <a:sym typeface="Calibri"/>
              </a:rPr>
              <a:t>CLIP ViT-B/32</a:t>
            </a:r>
            <a:endParaRPr b="0" i="0" sz="1800" u="none" cap="none" strike="noStrike">
              <a:solidFill>
                <a:schemeClr val="dk1"/>
              </a:solidFill>
              <a:latin typeface="Calibri"/>
              <a:ea typeface="Calibri"/>
              <a:cs typeface="Calibri"/>
              <a:sym typeface="Calibri"/>
            </a:endParaRPr>
          </a:p>
        </p:txBody>
      </p:sp>
      <p:sp>
        <p:nvSpPr>
          <p:cNvPr id="419" name="Google Shape;419;p15"/>
          <p:cNvSpPr txBox="1"/>
          <p:nvPr/>
        </p:nvSpPr>
        <p:spPr>
          <a:xfrm>
            <a:off x="5461000" y="1905000"/>
            <a:ext cx="2667000" cy="16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7280"/>
              </a:buClr>
              <a:buSzPts val="1150"/>
              <a:buFont typeface="Calibri"/>
              <a:buNone/>
            </a:pPr>
            <a:r>
              <a:rPr b="0" i="0" lang="en-US" sz="1150" u="none" cap="none" strike="noStrike">
                <a:solidFill>
                  <a:srgbClr val="6A7280"/>
                </a:solidFill>
                <a:latin typeface="Calibri"/>
                <a:ea typeface="Calibri"/>
                <a:cs typeface="Calibri"/>
                <a:sym typeface="Calibri"/>
              </a:rPr>
              <a:t>87M · full-size</a:t>
            </a:r>
            <a:endParaRPr b="0" i="0" sz="1150" u="none" cap="none" strike="noStrike">
              <a:solidFill>
                <a:schemeClr val="dk1"/>
              </a:solidFill>
              <a:latin typeface="Calibri"/>
              <a:ea typeface="Calibri"/>
              <a:cs typeface="Calibri"/>
              <a:sym typeface="Calibri"/>
            </a:endParaRPr>
          </a:p>
        </p:txBody>
      </p:sp>
      <p:sp>
        <p:nvSpPr>
          <p:cNvPr id="420" name="Google Shape;420;p15"/>
          <p:cNvSpPr txBox="1"/>
          <p:nvPr/>
        </p:nvSpPr>
        <p:spPr>
          <a:xfrm>
            <a:off x="8255000" y="1689100"/>
            <a:ext cx="2667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800"/>
              <a:buFont typeface="Calibri"/>
              <a:buNone/>
            </a:pPr>
            <a:r>
              <a:rPr b="1" i="0" lang="en-US" sz="1800" u="none" cap="none" strike="noStrike">
                <a:solidFill>
                  <a:srgbClr val="14213D"/>
                </a:solidFill>
                <a:latin typeface="Calibri"/>
                <a:ea typeface="Calibri"/>
                <a:cs typeface="Calibri"/>
                <a:sym typeface="Calibri"/>
              </a:rPr>
              <a:t>MobileCLIP2-S0</a:t>
            </a:r>
            <a:endParaRPr b="0" i="0" sz="1800" u="none" cap="none" strike="noStrike">
              <a:solidFill>
                <a:schemeClr val="dk1"/>
              </a:solidFill>
              <a:latin typeface="Calibri"/>
              <a:ea typeface="Calibri"/>
              <a:cs typeface="Calibri"/>
              <a:sym typeface="Calibri"/>
            </a:endParaRPr>
          </a:p>
        </p:txBody>
      </p:sp>
      <p:sp>
        <p:nvSpPr>
          <p:cNvPr id="421" name="Google Shape;421;p15"/>
          <p:cNvSpPr txBox="1"/>
          <p:nvPr/>
        </p:nvSpPr>
        <p:spPr>
          <a:xfrm>
            <a:off x="8255000" y="1905000"/>
            <a:ext cx="2667000" cy="16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7280"/>
              </a:buClr>
              <a:buSzPts val="1150"/>
              <a:buFont typeface="Calibri"/>
              <a:buNone/>
            </a:pPr>
            <a:r>
              <a:rPr b="0" i="0" lang="en-US" sz="1150" u="none" cap="none" strike="noStrike">
                <a:solidFill>
                  <a:srgbClr val="6A7280"/>
                </a:solidFill>
                <a:latin typeface="Calibri"/>
                <a:ea typeface="Calibri"/>
                <a:cs typeface="Calibri"/>
                <a:sym typeface="Calibri"/>
              </a:rPr>
              <a:t>11.4M · compact</a:t>
            </a:r>
            <a:endParaRPr b="0" i="0" sz="1150" u="none" cap="none" strike="noStrike">
              <a:solidFill>
                <a:schemeClr val="dk1"/>
              </a:solidFill>
              <a:latin typeface="Calibri"/>
              <a:ea typeface="Calibri"/>
              <a:cs typeface="Calibri"/>
              <a:sym typeface="Calibri"/>
            </a:endParaRPr>
          </a:p>
        </p:txBody>
      </p:sp>
      <p:sp>
        <p:nvSpPr>
          <p:cNvPr id="422" name="Google Shape;422;p15"/>
          <p:cNvSpPr txBox="1"/>
          <p:nvPr/>
        </p:nvSpPr>
        <p:spPr>
          <a:xfrm>
            <a:off x="3810000" y="2120900"/>
            <a:ext cx="3810000" cy="152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6A7280"/>
              </a:buClr>
              <a:buSzPts val="1000"/>
              <a:buFont typeface="Calibri"/>
              <a:buNone/>
            </a:pPr>
            <a:r>
              <a:rPr b="1" i="0" lang="en-US" sz="1000" u="none" cap="none" strike="noStrike">
                <a:solidFill>
                  <a:srgbClr val="6A7280"/>
                </a:solidFill>
                <a:latin typeface="Calibri"/>
                <a:ea typeface="Calibri"/>
                <a:cs typeface="Calibri"/>
                <a:sym typeface="Calibri"/>
              </a:rPr>
              <a:t>REFERENCE</a:t>
            </a:r>
            <a:endParaRPr b="0" i="0" sz="1000" u="none" cap="none" strike="noStrike">
              <a:solidFill>
                <a:schemeClr val="dk1"/>
              </a:solidFill>
              <a:latin typeface="Calibri"/>
              <a:ea typeface="Calibri"/>
              <a:cs typeface="Calibri"/>
              <a:sym typeface="Calibri"/>
            </a:endParaRPr>
          </a:p>
        </p:txBody>
      </p:sp>
      <p:sp>
        <p:nvSpPr>
          <p:cNvPr id="423" name="Google Shape;423;p15"/>
          <p:cNvSpPr txBox="1"/>
          <p:nvPr/>
        </p:nvSpPr>
        <p:spPr>
          <a:xfrm>
            <a:off x="3810000" y="2311400"/>
            <a:ext cx="15876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No compression</a:t>
            </a:r>
            <a:endParaRPr b="0" i="0" sz="1500" u="none" cap="none" strike="noStrike">
              <a:solidFill>
                <a:schemeClr val="dk1"/>
              </a:solidFill>
              <a:latin typeface="Calibri"/>
              <a:ea typeface="Calibri"/>
              <a:cs typeface="Calibri"/>
              <a:sym typeface="Calibri"/>
            </a:endParaRPr>
          </a:p>
        </p:txBody>
      </p:sp>
      <p:sp>
        <p:nvSpPr>
          <p:cNvPr id="424" name="Google Shape;424;p15"/>
          <p:cNvSpPr/>
          <p:nvPr/>
        </p:nvSpPr>
        <p:spPr>
          <a:xfrm>
            <a:off x="5461000" y="2311400"/>
            <a:ext cx="1678800" cy="254100"/>
          </a:xfrm>
          <a:prstGeom prst="rect">
            <a:avLst/>
          </a:prstGeom>
          <a:solidFill>
            <a:srgbClr val="9DB4D6"/>
          </a:solidFill>
          <a:ln cap="flat" cmpd="sng" w="12700">
            <a:solidFill>
              <a:srgbClr val="9DB4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5"/>
          <p:cNvSpPr txBox="1"/>
          <p:nvPr/>
        </p:nvSpPr>
        <p:spPr>
          <a:xfrm>
            <a:off x="7216038" y="2311400"/>
            <a:ext cx="12699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97.9</a:t>
            </a:r>
            <a:endParaRPr b="0" i="0" sz="1500" u="none" cap="none" strike="noStrike">
              <a:solidFill>
                <a:schemeClr val="dk1"/>
              </a:solidFill>
              <a:latin typeface="Calibri"/>
              <a:ea typeface="Calibri"/>
              <a:cs typeface="Calibri"/>
              <a:sym typeface="Calibri"/>
            </a:endParaRPr>
          </a:p>
        </p:txBody>
      </p:sp>
      <p:sp>
        <p:nvSpPr>
          <p:cNvPr id="426" name="Google Shape;426;p15"/>
          <p:cNvSpPr/>
          <p:nvPr/>
        </p:nvSpPr>
        <p:spPr>
          <a:xfrm>
            <a:off x="8255000" y="2311400"/>
            <a:ext cx="1687200" cy="254100"/>
          </a:xfrm>
          <a:prstGeom prst="rect">
            <a:avLst/>
          </a:prstGeom>
          <a:solidFill>
            <a:srgbClr val="A3ABBD"/>
          </a:solidFill>
          <a:ln cap="flat" cmpd="sng" w="12700">
            <a:solidFill>
              <a:srgbClr val="A3AB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5"/>
          <p:cNvSpPr txBox="1"/>
          <p:nvPr/>
        </p:nvSpPr>
        <p:spPr>
          <a:xfrm>
            <a:off x="10018439" y="2311400"/>
            <a:ext cx="12699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98.4</a:t>
            </a:r>
            <a:endParaRPr b="0" i="0" sz="1500" u="none" cap="none" strike="noStrike">
              <a:solidFill>
                <a:schemeClr val="dk1"/>
              </a:solidFill>
              <a:latin typeface="Calibri"/>
              <a:ea typeface="Calibri"/>
              <a:cs typeface="Calibri"/>
              <a:sym typeface="Calibri"/>
            </a:endParaRPr>
          </a:p>
        </p:txBody>
      </p:sp>
      <p:sp>
        <p:nvSpPr>
          <p:cNvPr id="428" name="Google Shape;428;p15"/>
          <p:cNvSpPr txBox="1"/>
          <p:nvPr/>
        </p:nvSpPr>
        <p:spPr>
          <a:xfrm>
            <a:off x="3810000" y="2679700"/>
            <a:ext cx="3810000" cy="152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6A7280"/>
              </a:buClr>
              <a:buSzPts val="1000"/>
              <a:buFont typeface="Calibri"/>
              <a:buNone/>
            </a:pPr>
            <a:r>
              <a:rPr b="1" i="0" lang="en-US" sz="1000" u="none" cap="none" strike="noStrike">
                <a:solidFill>
                  <a:srgbClr val="6A7280"/>
                </a:solidFill>
                <a:latin typeface="Calibri"/>
                <a:ea typeface="Calibri"/>
                <a:cs typeface="Calibri"/>
                <a:sym typeface="Calibri"/>
              </a:rPr>
              <a:t>UNSUPERVISED</a:t>
            </a:r>
            <a:endParaRPr b="0" i="0" sz="1000" u="none" cap="none" strike="noStrike">
              <a:solidFill>
                <a:schemeClr val="dk1"/>
              </a:solidFill>
              <a:latin typeface="Calibri"/>
              <a:ea typeface="Calibri"/>
              <a:cs typeface="Calibri"/>
              <a:sym typeface="Calibri"/>
            </a:endParaRPr>
          </a:p>
        </p:txBody>
      </p:sp>
      <p:sp>
        <p:nvSpPr>
          <p:cNvPr id="429" name="Google Shape;429;p15"/>
          <p:cNvSpPr txBox="1"/>
          <p:nvPr/>
        </p:nvSpPr>
        <p:spPr>
          <a:xfrm>
            <a:off x="3810000" y="2870200"/>
            <a:ext cx="15876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PCA</a:t>
            </a:r>
            <a:endParaRPr b="0" i="0" sz="1500" u="none" cap="none" strike="noStrike">
              <a:solidFill>
                <a:schemeClr val="dk1"/>
              </a:solidFill>
              <a:latin typeface="Calibri"/>
              <a:ea typeface="Calibri"/>
              <a:cs typeface="Calibri"/>
              <a:sym typeface="Calibri"/>
            </a:endParaRPr>
          </a:p>
        </p:txBody>
      </p:sp>
      <p:sp>
        <p:nvSpPr>
          <p:cNvPr id="430" name="Google Shape;430;p15"/>
          <p:cNvSpPr/>
          <p:nvPr/>
        </p:nvSpPr>
        <p:spPr>
          <a:xfrm>
            <a:off x="5461000" y="2870200"/>
            <a:ext cx="1661100" cy="254100"/>
          </a:xfrm>
          <a:prstGeom prst="rect">
            <a:avLst/>
          </a:prstGeom>
          <a:solidFill>
            <a:srgbClr val="2F5D9A"/>
          </a:solidFill>
          <a:ln cap="flat" cmpd="sng" w="12700">
            <a:solidFill>
              <a:srgbClr val="2F5D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5"/>
          <p:cNvSpPr txBox="1"/>
          <p:nvPr/>
        </p:nvSpPr>
        <p:spPr>
          <a:xfrm>
            <a:off x="7198208" y="2870200"/>
            <a:ext cx="12699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96.9</a:t>
            </a:r>
            <a:r>
              <a:rPr b="0" i="0" lang="en-US" sz="1500" u="none" cap="none" strike="noStrike">
                <a:solidFill>
                  <a:srgbClr val="6A7280"/>
                </a:solidFill>
                <a:latin typeface="Calibri"/>
                <a:ea typeface="Calibri"/>
                <a:cs typeface="Calibri"/>
                <a:sym typeface="Calibri"/>
              </a:rPr>
              <a:t>  −1.0</a:t>
            </a:r>
            <a:endParaRPr b="0" i="0" sz="1500" u="none" cap="none" strike="noStrike">
              <a:solidFill>
                <a:schemeClr val="dk1"/>
              </a:solidFill>
              <a:latin typeface="Calibri"/>
              <a:ea typeface="Calibri"/>
              <a:cs typeface="Calibri"/>
              <a:sym typeface="Calibri"/>
            </a:endParaRPr>
          </a:p>
        </p:txBody>
      </p:sp>
      <p:sp>
        <p:nvSpPr>
          <p:cNvPr id="432" name="Google Shape;432;p15"/>
          <p:cNvSpPr/>
          <p:nvPr/>
        </p:nvSpPr>
        <p:spPr>
          <a:xfrm>
            <a:off x="8255000" y="2870200"/>
            <a:ext cx="983400" cy="254100"/>
          </a:xfrm>
          <a:prstGeom prst="rect">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5"/>
          <p:cNvSpPr txBox="1"/>
          <p:nvPr/>
        </p:nvSpPr>
        <p:spPr>
          <a:xfrm>
            <a:off x="9314466" y="2870200"/>
            <a:ext cx="12699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57.4  −41</a:t>
            </a:r>
            <a:endParaRPr b="0" i="0" sz="1500" u="none" cap="none" strike="noStrike">
              <a:solidFill>
                <a:schemeClr val="dk1"/>
              </a:solidFill>
              <a:latin typeface="Calibri"/>
              <a:ea typeface="Calibri"/>
              <a:cs typeface="Calibri"/>
              <a:sym typeface="Calibri"/>
            </a:endParaRPr>
          </a:p>
        </p:txBody>
      </p:sp>
      <p:sp>
        <p:nvSpPr>
          <p:cNvPr id="434" name="Google Shape;434;p15"/>
          <p:cNvSpPr txBox="1"/>
          <p:nvPr/>
        </p:nvSpPr>
        <p:spPr>
          <a:xfrm>
            <a:off x="3810000" y="3200400"/>
            <a:ext cx="15876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Autoencoder</a:t>
            </a:r>
            <a:endParaRPr b="0" i="0" sz="1500" u="none" cap="none" strike="noStrike">
              <a:solidFill>
                <a:schemeClr val="dk1"/>
              </a:solidFill>
              <a:latin typeface="Calibri"/>
              <a:ea typeface="Calibri"/>
              <a:cs typeface="Calibri"/>
              <a:sym typeface="Calibri"/>
            </a:endParaRPr>
          </a:p>
        </p:txBody>
      </p:sp>
      <p:sp>
        <p:nvSpPr>
          <p:cNvPr id="435" name="Google Shape;435;p15"/>
          <p:cNvSpPr/>
          <p:nvPr/>
        </p:nvSpPr>
        <p:spPr>
          <a:xfrm>
            <a:off x="5461000" y="3200400"/>
            <a:ext cx="1601400" cy="254100"/>
          </a:xfrm>
          <a:prstGeom prst="rect">
            <a:avLst/>
          </a:prstGeom>
          <a:solidFill>
            <a:srgbClr val="2F5D9A"/>
          </a:solidFill>
          <a:ln cap="flat" cmpd="sng" w="12700">
            <a:solidFill>
              <a:srgbClr val="2F5D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5"/>
          <p:cNvSpPr txBox="1"/>
          <p:nvPr/>
        </p:nvSpPr>
        <p:spPr>
          <a:xfrm>
            <a:off x="7138543" y="3200400"/>
            <a:ext cx="12699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93.4</a:t>
            </a:r>
            <a:r>
              <a:rPr b="0" i="0" lang="en-US" sz="1500" u="none" cap="none" strike="noStrike">
                <a:solidFill>
                  <a:srgbClr val="6A7280"/>
                </a:solidFill>
                <a:latin typeface="Calibri"/>
                <a:ea typeface="Calibri"/>
                <a:cs typeface="Calibri"/>
                <a:sym typeface="Calibri"/>
              </a:rPr>
              <a:t>  −4.5</a:t>
            </a:r>
            <a:endParaRPr b="0" i="0" sz="1500" u="none" cap="none" strike="noStrike">
              <a:solidFill>
                <a:schemeClr val="dk1"/>
              </a:solidFill>
              <a:latin typeface="Calibri"/>
              <a:ea typeface="Calibri"/>
              <a:cs typeface="Calibri"/>
              <a:sym typeface="Calibri"/>
            </a:endParaRPr>
          </a:p>
        </p:txBody>
      </p:sp>
      <p:sp>
        <p:nvSpPr>
          <p:cNvPr id="437" name="Google Shape;437;p15"/>
          <p:cNvSpPr/>
          <p:nvPr/>
        </p:nvSpPr>
        <p:spPr>
          <a:xfrm>
            <a:off x="8255000" y="3200400"/>
            <a:ext cx="891600" cy="254100"/>
          </a:xfrm>
          <a:prstGeom prst="rect">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5"/>
          <p:cNvSpPr txBox="1"/>
          <p:nvPr/>
        </p:nvSpPr>
        <p:spPr>
          <a:xfrm>
            <a:off x="9222911" y="3200400"/>
            <a:ext cx="12699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52.0  −46</a:t>
            </a:r>
            <a:endParaRPr b="0" i="0" sz="1500" u="none" cap="none" strike="noStrike">
              <a:solidFill>
                <a:schemeClr val="dk1"/>
              </a:solidFill>
              <a:latin typeface="Calibri"/>
              <a:ea typeface="Calibri"/>
              <a:cs typeface="Calibri"/>
              <a:sym typeface="Calibri"/>
            </a:endParaRPr>
          </a:p>
        </p:txBody>
      </p:sp>
      <p:sp>
        <p:nvSpPr>
          <p:cNvPr id="439" name="Google Shape;439;p15"/>
          <p:cNvSpPr txBox="1"/>
          <p:nvPr/>
        </p:nvSpPr>
        <p:spPr>
          <a:xfrm>
            <a:off x="3810000" y="3530600"/>
            <a:ext cx="15876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VAE</a:t>
            </a:r>
            <a:endParaRPr b="0" i="0" sz="1500" u="none" cap="none" strike="noStrike">
              <a:solidFill>
                <a:schemeClr val="dk1"/>
              </a:solidFill>
              <a:latin typeface="Calibri"/>
              <a:ea typeface="Calibri"/>
              <a:cs typeface="Calibri"/>
              <a:sym typeface="Calibri"/>
            </a:endParaRPr>
          </a:p>
        </p:txBody>
      </p:sp>
      <p:sp>
        <p:nvSpPr>
          <p:cNvPr id="440" name="Google Shape;440;p15"/>
          <p:cNvSpPr/>
          <p:nvPr/>
        </p:nvSpPr>
        <p:spPr>
          <a:xfrm>
            <a:off x="5461000" y="3530600"/>
            <a:ext cx="1658700" cy="254100"/>
          </a:xfrm>
          <a:prstGeom prst="rect">
            <a:avLst/>
          </a:prstGeom>
          <a:solidFill>
            <a:srgbClr val="2F5D9A"/>
          </a:solidFill>
          <a:ln cap="flat" cmpd="sng" w="12700">
            <a:solidFill>
              <a:srgbClr val="2F5D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5"/>
          <p:cNvSpPr txBox="1"/>
          <p:nvPr/>
        </p:nvSpPr>
        <p:spPr>
          <a:xfrm>
            <a:off x="7195979" y="3530600"/>
            <a:ext cx="12699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96.8</a:t>
            </a:r>
            <a:r>
              <a:rPr b="0" i="0" lang="en-US" sz="1500" u="none" cap="none" strike="noStrike">
                <a:solidFill>
                  <a:srgbClr val="6A7280"/>
                </a:solidFill>
                <a:latin typeface="Calibri"/>
                <a:ea typeface="Calibri"/>
                <a:cs typeface="Calibri"/>
                <a:sym typeface="Calibri"/>
              </a:rPr>
              <a:t>  −1.2</a:t>
            </a:r>
            <a:endParaRPr b="0" i="0" sz="1500" u="none" cap="none" strike="noStrike">
              <a:solidFill>
                <a:schemeClr val="dk1"/>
              </a:solidFill>
              <a:latin typeface="Calibri"/>
              <a:ea typeface="Calibri"/>
              <a:cs typeface="Calibri"/>
              <a:sym typeface="Calibri"/>
            </a:endParaRPr>
          </a:p>
        </p:txBody>
      </p:sp>
      <p:sp>
        <p:nvSpPr>
          <p:cNvPr id="442" name="Google Shape;442;p15"/>
          <p:cNvSpPr/>
          <p:nvPr/>
        </p:nvSpPr>
        <p:spPr>
          <a:xfrm>
            <a:off x="8255000" y="3530600"/>
            <a:ext cx="1197900" cy="254100"/>
          </a:xfrm>
          <a:prstGeom prst="rect">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5"/>
          <p:cNvSpPr txBox="1"/>
          <p:nvPr/>
        </p:nvSpPr>
        <p:spPr>
          <a:xfrm>
            <a:off x="9529121" y="3530600"/>
            <a:ext cx="12699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69.9  −29</a:t>
            </a:r>
            <a:endParaRPr b="0" i="0" sz="1500" u="none" cap="none" strike="noStrike">
              <a:solidFill>
                <a:schemeClr val="dk1"/>
              </a:solidFill>
              <a:latin typeface="Calibri"/>
              <a:ea typeface="Calibri"/>
              <a:cs typeface="Calibri"/>
              <a:sym typeface="Calibri"/>
            </a:endParaRPr>
          </a:p>
        </p:txBody>
      </p:sp>
      <p:sp>
        <p:nvSpPr>
          <p:cNvPr id="444" name="Google Shape;444;p15"/>
          <p:cNvSpPr txBox="1"/>
          <p:nvPr/>
        </p:nvSpPr>
        <p:spPr>
          <a:xfrm>
            <a:off x="3810000" y="3860800"/>
            <a:ext cx="15876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BlockPCA</a:t>
            </a:r>
            <a:endParaRPr b="0" i="0" sz="1500" u="none" cap="none" strike="noStrike">
              <a:solidFill>
                <a:schemeClr val="dk1"/>
              </a:solidFill>
              <a:latin typeface="Calibri"/>
              <a:ea typeface="Calibri"/>
              <a:cs typeface="Calibri"/>
              <a:sym typeface="Calibri"/>
            </a:endParaRPr>
          </a:p>
        </p:txBody>
      </p:sp>
      <p:sp>
        <p:nvSpPr>
          <p:cNvPr id="445" name="Google Shape;445;p15"/>
          <p:cNvSpPr/>
          <p:nvPr/>
        </p:nvSpPr>
        <p:spPr>
          <a:xfrm>
            <a:off x="5461000" y="3860800"/>
            <a:ext cx="1665000" cy="254100"/>
          </a:xfrm>
          <a:prstGeom prst="rect">
            <a:avLst/>
          </a:prstGeom>
          <a:solidFill>
            <a:srgbClr val="2F5D9A"/>
          </a:solidFill>
          <a:ln cap="flat" cmpd="sng" w="12700">
            <a:solidFill>
              <a:srgbClr val="2F5D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5"/>
          <p:cNvSpPr txBox="1"/>
          <p:nvPr/>
        </p:nvSpPr>
        <p:spPr>
          <a:xfrm>
            <a:off x="7202322" y="3860800"/>
            <a:ext cx="12699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97.1</a:t>
            </a:r>
            <a:r>
              <a:rPr b="0" i="0" lang="en-US" sz="1500" u="none" cap="none" strike="noStrike">
                <a:solidFill>
                  <a:srgbClr val="6A7280"/>
                </a:solidFill>
                <a:latin typeface="Calibri"/>
                <a:ea typeface="Calibri"/>
                <a:cs typeface="Calibri"/>
                <a:sym typeface="Calibri"/>
              </a:rPr>
              <a:t>  −0.8</a:t>
            </a:r>
            <a:endParaRPr b="0" i="0" sz="1500" u="none" cap="none" strike="noStrike">
              <a:solidFill>
                <a:schemeClr val="dk1"/>
              </a:solidFill>
              <a:latin typeface="Calibri"/>
              <a:ea typeface="Calibri"/>
              <a:cs typeface="Calibri"/>
              <a:sym typeface="Calibri"/>
            </a:endParaRPr>
          </a:p>
        </p:txBody>
      </p:sp>
      <p:sp>
        <p:nvSpPr>
          <p:cNvPr id="447" name="Google Shape;447;p15"/>
          <p:cNvSpPr/>
          <p:nvPr/>
        </p:nvSpPr>
        <p:spPr>
          <a:xfrm>
            <a:off x="8255000" y="3860800"/>
            <a:ext cx="1677600" cy="254100"/>
          </a:xfrm>
          <a:prstGeom prst="rect">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5"/>
          <p:cNvSpPr txBox="1"/>
          <p:nvPr/>
        </p:nvSpPr>
        <p:spPr>
          <a:xfrm>
            <a:off x="10008838" y="3860800"/>
            <a:ext cx="12699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97.8</a:t>
            </a:r>
            <a:r>
              <a:rPr b="0" i="0" lang="en-US" sz="1500" u="none" cap="none" strike="noStrike">
                <a:solidFill>
                  <a:srgbClr val="6A7280"/>
                </a:solidFill>
                <a:latin typeface="Calibri"/>
                <a:ea typeface="Calibri"/>
                <a:cs typeface="Calibri"/>
                <a:sym typeface="Calibri"/>
              </a:rPr>
              <a:t>  −0.6</a:t>
            </a:r>
            <a:endParaRPr b="0" i="0" sz="1500" u="none" cap="none" strike="noStrike">
              <a:solidFill>
                <a:schemeClr val="dk1"/>
              </a:solidFill>
              <a:latin typeface="Calibri"/>
              <a:ea typeface="Calibri"/>
              <a:cs typeface="Calibri"/>
              <a:sym typeface="Calibri"/>
            </a:endParaRPr>
          </a:p>
        </p:txBody>
      </p:sp>
      <p:sp>
        <p:nvSpPr>
          <p:cNvPr id="449" name="Google Shape;449;p15"/>
          <p:cNvSpPr txBox="1"/>
          <p:nvPr/>
        </p:nvSpPr>
        <p:spPr>
          <a:xfrm>
            <a:off x="3810000" y="4229100"/>
            <a:ext cx="3810000" cy="152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6A7280"/>
              </a:buClr>
              <a:buSzPts val="1000"/>
              <a:buFont typeface="Calibri"/>
              <a:buNone/>
            </a:pPr>
            <a:r>
              <a:rPr b="1" i="0" lang="en-US" sz="1000" u="none" cap="none" strike="noStrike">
                <a:solidFill>
                  <a:srgbClr val="6A7280"/>
                </a:solidFill>
                <a:latin typeface="Calibri"/>
                <a:ea typeface="Calibri"/>
                <a:cs typeface="Calibri"/>
                <a:sym typeface="Calibri"/>
              </a:rPr>
              <a:t>SUPERVISED</a:t>
            </a:r>
            <a:endParaRPr b="0" i="0" sz="1000" u="none" cap="none" strike="noStrike">
              <a:solidFill>
                <a:schemeClr val="dk1"/>
              </a:solidFill>
              <a:latin typeface="Calibri"/>
              <a:ea typeface="Calibri"/>
              <a:cs typeface="Calibri"/>
              <a:sym typeface="Calibri"/>
            </a:endParaRPr>
          </a:p>
        </p:txBody>
      </p:sp>
      <p:sp>
        <p:nvSpPr>
          <p:cNvPr id="450" name="Google Shape;450;p15"/>
          <p:cNvSpPr txBox="1"/>
          <p:nvPr/>
        </p:nvSpPr>
        <p:spPr>
          <a:xfrm>
            <a:off x="3810000" y="4419600"/>
            <a:ext cx="15876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LDA</a:t>
            </a:r>
            <a:endParaRPr b="0" i="0" sz="1500" u="none" cap="none" strike="noStrike">
              <a:solidFill>
                <a:schemeClr val="dk1"/>
              </a:solidFill>
              <a:latin typeface="Calibri"/>
              <a:ea typeface="Calibri"/>
              <a:cs typeface="Calibri"/>
              <a:sym typeface="Calibri"/>
            </a:endParaRPr>
          </a:p>
        </p:txBody>
      </p:sp>
      <p:sp>
        <p:nvSpPr>
          <p:cNvPr id="451" name="Google Shape;451;p15"/>
          <p:cNvSpPr/>
          <p:nvPr/>
        </p:nvSpPr>
        <p:spPr>
          <a:xfrm>
            <a:off x="5461000" y="4419600"/>
            <a:ext cx="1676400" cy="254100"/>
          </a:xfrm>
          <a:prstGeom prst="rect">
            <a:avLst/>
          </a:prstGeom>
          <a:solidFill>
            <a:srgbClr val="2F5D9A"/>
          </a:solidFill>
          <a:ln cap="flat" cmpd="sng" w="12700">
            <a:solidFill>
              <a:srgbClr val="2F5D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5"/>
          <p:cNvSpPr txBox="1"/>
          <p:nvPr/>
        </p:nvSpPr>
        <p:spPr>
          <a:xfrm>
            <a:off x="7213638" y="4419600"/>
            <a:ext cx="12699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97.8</a:t>
            </a:r>
            <a:r>
              <a:rPr b="0" i="0" lang="en-US" sz="1500" u="none" cap="none" strike="noStrike">
                <a:solidFill>
                  <a:srgbClr val="6A7280"/>
                </a:solidFill>
                <a:latin typeface="Calibri"/>
                <a:ea typeface="Calibri"/>
                <a:cs typeface="Calibri"/>
                <a:sym typeface="Calibri"/>
              </a:rPr>
              <a:t>  −0.1</a:t>
            </a:r>
            <a:endParaRPr b="0" i="0" sz="1500" u="none" cap="none" strike="noStrike">
              <a:solidFill>
                <a:schemeClr val="dk1"/>
              </a:solidFill>
              <a:latin typeface="Calibri"/>
              <a:ea typeface="Calibri"/>
              <a:cs typeface="Calibri"/>
              <a:sym typeface="Calibri"/>
            </a:endParaRPr>
          </a:p>
        </p:txBody>
      </p:sp>
      <p:sp>
        <p:nvSpPr>
          <p:cNvPr id="453" name="Google Shape;453;p15"/>
          <p:cNvSpPr/>
          <p:nvPr/>
        </p:nvSpPr>
        <p:spPr>
          <a:xfrm>
            <a:off x="8255000" y="4419600"/>
            <a:ext cx="1686000" cy="254100"/>
          </a:xfrm>
          <a:prstGeom prst="rect">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5"/>
          <p:cNvSpPr txBox="1"/>
          <p:nvPr/>
        </p:nvSpPr>
        <p:spPr>
          <a:xfrm>
            <a:off x="10017068" y="4419600"/>
            <a:ext cx="12699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98.3</a:t>
            </a:r>
            <a:r>
              <a:rPr b="0" i="0" lang="en-US" sz="1500" u="none" cap="none" strike="noStrike">
                <a:solidFill>
                  <a:srgbClr val="6A7280"/>
                </a:solidFill>
                <a:latin typeface="Calibri"/>
                <a:ea typeface="Calibri"/>
                <a:cs typeface="Calibri"/>
                <a:sym typeface="Calibri"/>
              </a:rPr>
              <a:t>  −0.1</a:t>
            </a:r>
            <a:endParaRPr b="0" i="0" sz="1500" u="none" cap="none" strike="noStrike">
              <a:solidFill>
                <a:schemeClr val="dk1"/>
              </a:solidFill>
              <a:latin typeface="Calibri"/>
              <a:ea typeface="Calibri"/>
              <a:cs typeface="Calibri"/>
              <a:sym typeface="Calibri"/>
            </a:endParaRPr>
          </a:p>
        </p:txBody>
      </p:sp>
      <p:sp>
        <p:nvSpPr>
          <p:cNvPr id="455" name="Google Shape;455;p15"/>
          <p:cNvSpPr txBox="1"/>
          <p:nvPr/>
        </p:nvSpPr>
        <p:spPr>
          <a:xfrm>
            <a:off x="3810000" y="4787900"/>
            <a:ext cx="3810000" cy="152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8E2463"/>
              </a:buClr>
              <a:buSzPts val="1000"/>
              <a:buFont typeface="Calibri"/>
              <a:buNone/>
            </a:pPr>
            <a:r>
              <a:rPr b="1" i="0" lang="en-US" sz="1000" u="none" cap="none" strike="noStrike">
                <a:solidFill>
                  <a:srgbClr val="8E2463"/>
                </a:solidFill>
                <a:latin typeface="Calibri"/>
                <a:ea typeface="Calibri"/>
                <a:cs typeface="Calibri"/>
                <a:sym typeface="Calibri"/>
              </a:rPr>
              <a:t>EMMI (OURS)</a:t>
            </a:r>
            <a:endParaRPr b="0" i="0" sz="1000" u="none" cap="none" strike="noStrike">
              <a:solidFill>
                <a:schemeClr val="dk1"/>
              </a:solidFill>
              <a:latin typeface="Calibri"/>
              <a:ea typeface="Calibri"/>
              <a:cs typeface="Calibri"/>
              <a:sym typeface="Calibri"/>
            </a:endParaRPr>
          </a:p>
        </p:txBody>
      </p:sp>
      <p:sp>
        <p:nvSpPr>
          <p:cNvPr id="456" name="Google Shape;456;p15"/>
          <p:cNvSpPr/>
          <p:nvPr/>
        </p:nvSpPr>
        <p:spPr>
          <a:xfrm>
            <a:off x="3733800" y="4940300"/>
            <a:ext cx="7645500" cy="673200"/>
          </a:xfrm>
          <a:prstGeom prst="roundRect">
            <a:avLst>
              <a:gd fmla="val 8151" name="adj"/>
            </a:avLst>
          </a:prstGeom>
          <a:solidFill>
            <a:srgbClr val="F7DCE9"/>
          </a:solidFill>
          <a:ln cap="flat" cmpd="sng" w="12700">
            <a:solidFill>
              <a:srgbClr val="F7DC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5"/>
          <p:cNvSpPr txBox="1"/>
          <p:nvPr/>
        </p:nvSpPr>
        <p:spPr>
          <a:xfrm>
            <a:off x="3810000" y="4978400"/>
            <a:ext cx="15876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TaskAgnosticAE</a:t>
            </a:r>
            <a:endParaRPr b="0" i="0" sz="1500" u="none" cap="none" strike="noStrike">
              <a:solidFill>
                <a:schemeClr val="dk1"/>
              </a:solidFill>
              <a:latin typeface="Calibri"/>
              <a:ea typeface="Calibri"/>
              <a:cs typeface="Calibri"/>
              <a:sym typeface="Calibri"/>
            </a:endParaRPr>
          </a:p>
        </p:txBody>
      </p:sp>
      <p:sp>
        <p:nvSpPr>
          <p:cNvPr id="458" name="Google Shape;458;p15"/>
          <p:cNvSpPr/>
          <p:nvPr/>
        </p:nvSpPr>
        <p:spPr>
          <a:xfrm>
            <a:off x="5461000" y="4978400"/>
            <a:ext cx="1613100" cy="254100"/>
          </a:xfrm>
          <a:prstGeom prst="rect">
            <a:avLst/>
          </a:prstGeom>
          <a:solidFill>
            <a:srgbClr val="8E2463"/>
          </a:solidFill>
          <a:ln cap="flat" cmpd="sng" w="12700">
            <a:solidFill>
              <a:srgbClr val="8E2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5"/>
          <p:cNvSpPr txBox="1"/>
          <p:nvPr/>
        </p:nvSpPr>
        <p:spPr>
          <a:xfrm>
            <a:off x="7150373" y="4978400"/>
            <a:ext cx="12699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94.1</a:t>
            </a:r>
            <a:r>
              <a:rPr b="0" i="0" lang="en-US" sz="1500" u="none" cap="none" strike="noStrike">
                <a:solidFill>
                  <a:srgbClr val="6A7280"/>
                </a:solidFill>
                <a:latin typeface="Calibri"/>
                <a:ea typeface="Calibri"/>
                <a:cs typeface="Calibri"/>
                <a:sym typeface="Calibri"/>
              </a:rPr>
              <a:t>  −3.8</a:t>
            </a:r>
            <a:endParaRPr b="0" i="0" sz="1500" u="none" cap="none" strike="noStrike">
              <a:solidFill>
                <a:schemeClr val="dk1"/>
              </a:solidFill>
              <a:latin typeface="Calibri"/>
              <a:ea typeface="Calibri"/>
              <a:cs typeface="Calibri"/>
              <a:sym typeface="Calibri"/>
            </a:endParaRPr>
          </a:p>
        </p:txBody>
      </p:sp>
      <p:sp>
        <p:nvSpPr>
          <p:cNvPr id="460" name="Google Shape;460;p15"/>
          <p:cNvSpPr/>
          <p:nvPr/>
        </p:nvSpPr>
        <p:spPr>
          <a:xfrm>
            <a:off x="8255000" y="4978400"/>
            <a:ext cx="1548300" cy="254100"/>
          </a:xfrm>
          <a:prstGeom prst="rect">
            <a:avLst/>
          </a:prstGeom>
          <a:solidFill>
            <a:srgbClr val="8E2463"/>
          </a:solidFill>
          <a:ln cap="flat" cmpd="sng" w="12700">
            <a:solidFill>
              <a:srgbClr val="8E2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5"/>
          <p:cNvSpPr txBox="1"/>
          <p:nvPr/>
        </p:nvSpPr>
        <p:spPr>
          <a:xfrm>
            <a:off x="9879394" y="4978400"/>
            <a:ext cx="12699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90.3</a:t>
            </a:r>
            <a:r>
              <a:rPr b="0" i="0" lang="en-US" sz="1500" u="none" cap="none" strike="noStrike">
                <a:solidFill>
                  <a:srgbClr val="6A7280"/>
                </a:solidFill>
                <a:latin typeface="Calibri"/>
                <a:ea typeface="Calibri"/>
                <a:cs typeface="Calibri"/>
                <a:sym typeface="Calibri"/>
              </a:rPr>
              <a:t>  −8</a:t>
            </a:r>
            <a:endParaRPr b="0" i="0" sz="1500" u="none" cap="none" strike="noStrike">
              <a:solidFill>
                <a:schemeClr val="dk1"/>
              </a:solidFill>
              <a:latin typeface="Calibri"/>
              <a:ea typeface="Calibri"/>
              <a:cs typeface="Calibri"/>
              <a:sym typeface="Calibri"/>
            </a:endParaRPr>
          </a:p>
        </p:txBody>
      </p:sp>
      <p:sp>
        <p:nvSpPr>
          <p:cNvPr id="462" name="Google Shape;462;p15"/>
          <p:cNvSpPr txBox="1"/>
          <p:nvPr/>
        </p:nvSpPr>
        <p:spPr>
          <a:xfrm>
            <a:off x="3810000" y="5308600"/>
            <a:ext cx="15876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TaskAwareAE</a:t>
            </a:r>
            <a:endParaRPr b="0" i="0" sz="1500" u="none" cap="none" strike="noStrike">
              <a:solidFill>
                <a:schemeClr val="dk1"/>
              </a:solidFill>
              <a:latin typeface="Calibri"/>
              <a:ea typeface="Calibri"/>
              <a:cs typeface="Calibri"/>
              <a:sym typeface="Calibri"/>
            </a:endParaRPr>
          </a:p>
        </p:txBody>
      </p:sp>
      <p:sp>
        <p:nvSpPr>
          <p:cNvPr id="463" name="Google Shape;463;p15"/>
          <p:cNvSpPr/>
          <p:nvPr/>
        </p:nvSpPr>
        <p:spPr>
          <a:xfrm>
            <a:off x="5461000" y="5308600"/>
            <a:ext cx="1681500" cy="254100"/>
          </a:xfrm>
          <a:prstGeom prst="rect">
            <a:avLst/>
          </a:prstGeom>
          <a:solidFill>
            <a:srgbClr val="8E2463"/>
          </a:solidFill>
          <a:ln cap="flat" cmpd="sng" w="12700">
            <a:solidFill>
              <a:srgbClr val="8E2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5"/>
          <p:cNvSpPr txBox="1"/>
          <p:nvPr/>
        </p:nvSpPr>
        <p:spPr>
          <a:xfrm>
            <a:off x="7218782" y="5308600"/>
            <a:ext cx="12699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98.1</a:t>
            </a:r>
            <a:r>
              <a:rPr b="0" i="0" lang="en-US" sz="1500" u="none" cap="none" strike="noStrike">
                <a:solidFill>
                  <a:srgbClr val="6A7280"/>
                </a:solidFill>
                <a:latin typeface="Calibri"/>
                <a:ea typeface="Calibri"/>
                <a:cs typeface="Calibri"/>
                <a:sym typeface="Calibri"/>
              </a:rPr>
              <a:t>  +0.2</a:t>
            </a:r>
            <a:endParaRPr b="0" i="0" sz="1500" u="none" cap="none" strike="noStrike">
              <a:solidFill>
                <a:schemeClr val="dk1"/>
              </a:solidFill>
              <a:latin typeface="Calibri"/>
              <a:ea typeface="Calibri"/>
              <a:cs typeface="Calibri"/>
              <a:sym typeface="Calibri"/>
            </a:endParaRPr>
          </a:p>
        </p:txBody>
      </p:sp>
      <p:sp>
        <p:nvSpPr>
          <p:cNvPr id="465" name="Google Shape;465;p15"/>
          <p:cNvSpPr/>
          <p:nvPr/>
        </p:nvSpPr>
        <p:spPr>
          <a:xfrm>
            <a:off x="8255000" y="5308600"/>
            <a:ext cx="1685700" cy="254100"/>
          </a:xfrm>
          <a:prstGeom prst="rect">
            <a:avLst/>
          </a:prstGeom>
          <a:solidFill>
            <a:srgbClr val="8E2463"/>
          </a:solidFill>
          <a:ln cap="flat" cmpd="sng" w="12700">
            <a:solidFill>
              <a:srgbClr val="8E2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5"/>
          <p:cNvSpPr txBox="1"/>
          <p:nvPr/>
        </p:nvSpPr>
        <p:spPr>
          <a:xfrm>
            <a:off x="10016896" y="5308600"/>
            <a:ext cx="12699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98.3</a:t>
            </a:r>
            <a:r>
              <a:rPr b="0" i="0" lang="en-US" sz="1500" u="none" cap="none" strike="noStrike">
                <a:solidFill>
                  <a:srgbClr val="6A7280"/>
                </a:solidFill>
                <a:latin typeface="Calibri"/>
                <a:ea typeface="Calibri"/>
                <a:cs typeface="Calibri"/>
                <a:sym typeface="Calibri"/>
              </a:rPr>
              <a:t>  −0.1</a:t>
            </a:r>
            <a:endParaRPr b="0" i="0" sz="1500" u="none" cap="none" strike="noStrike">
              <a:solidFill>
                <a:schemeClr val="dk1"/>
              </a:solidFill>
              <a:latin typeface="Calibri"/>
              <a:ea typeface="Calibri"/>
              <a:cs typeface="Calibri"/>
              <a:sym typeface="Calibri"/>
            </a:endParaRPr>
          </a:p>
        </p:txBody>
      </p:sp>
      <p:cxnSp>
        <p:nvCxnSpPr>
          <p:cNvPr id="467" name="Google Shape;467;p15"/>
          <p:cNvCxnSpPr/>
          <p:nvPr/>
        </p:nvCxnSpPr>
        <p:spPr>
          <a:xfrm>
            <a:off x="5461000" y="2273300"/>
            <a:ext cx="0" cy="368400"/>
          </a:xfrm>
          <a:prstGeom prst="straightConnector1">
            <a:avLst/>
          </a:prstGeom>
          <a:noFill/>
          <a:ln cap="flat" cmpd="sng" w="12700">
            <a:solidFill>
              <a:srgbClr val="8A96AD"/>
            </a:solidFill>
            <a:prstDash val="solid"/>
            <a:round/>
            <a:headEnd len="sm" w="sm" type="none"/>
            <a:tailEnd len="sm" w="sm" type="none"/>
          </a:ln>
        </p:spPr>
      </p:cxnSp>
      <p:cxnSp>
        <p:nvCxnSpPr>
          <p:cNvPr id="468" name="Google Shape;468;p15"/>
          <p:cNvCxnSpPr/>
          <p:nvPr/>
        </p:nvCxnSpPr>
        <p:spPr>
          <a:xfrm>
            <a:off x="5461000" y="2832100"/>
            <a:ext cx="0" cy="1359000"/>
          </a:xfrm>
          <a:prstGeom prst="straightConnector1">
            <a:avLst/>
          </a:prstGeom>
          <a:noFill/>
          <a:ln cap="flat" cmpd="sng" w="12700">
            <a:solidFill>
              <a:srgbClr val="8A96AD"/>
            </a:solidFill>
            <a:prstDash val="solid"/>
            <a:round/>
            <a:headEnd len="sm" w="sm" type="none"/>
            <a:tailEnd len="sm" w="sm" type="none"/>
          </a:ln>
        </p:spPr>
      </p:cxnSp>
      <p:cxnSp>
        <p:nvCxnSpPr>
          <p:cNvPr id="469" name="Google Shape;469;p15"/>
          <p:cNvCxnSpPr/>
          <p:nvPr/>
        </p:nvCxnSpPr>
        <p:spPr>
          <a:xfrm>
            <a:off x="5461000" y="4381500"/>
            <a:ext cx="0" cy="368400"/>
          </a:xfrm>
          <a:prstGeom prst="straightConnector1">
            <a:avLst/>
          </a:prstGeom>
          <a:noFill/>
          <a:ln cap="flat" cmpd="sng" w="12700">
            <a:solidFill>
              <a:srgbClr val="8A96AD"/>
            </a:solidFill>
            <a:prstDash val="solid"/>
            <a:round/>
            <a:headEnd len="sm" w="sm" type="none"/>
            <a:tailEnd len="sm" w="sm" type="none"/>
          </a:ln>
        </p:spPr>
      </p:cxnSp>
      <p:cxnSp>
        <p:nvCxnSpPr>
          <p:cNvPr id="470" name="Google Shape;470;p15"/>
          <p:cNvCxnSpPr/>
          <p:nvPr/>
        </p:nvCxnSpPr>
        <p:spPr>
          <a:xfrm>
            <a:off x="5461000" y="4940300"/>
            <a:ext cx="0" cy="698400"/>
          </a:xfrm>
          <a:prstGeom prst="straightConnector1">
            <a:avLst/>
          </a:prstGeom>
          <a:noFill/>
          <a:ln cap="flat" cmpd="sng" w="12700">
            <a:solidFill>
              <a:srgbClr val="8A96AD"/>
            </a:solidFill>
            <a:prstDash val="solid"/>
            <a:round/>
            <a:headEnd len="sm" w="sm" type="none"/>
            <a:tailEnd len="sm" w="sm" type="none"/>
          </a:ln>
        </p:spPr>
      </p:cxnSp>
      <p:cxnSp>
        <p:nvCxnSpPr>
          <p:cNvPr id="471" name="Google Shape;471;p15"/>
          <p:cNvCxnSpPr/>
          <p:nvPr/>
        </p:nvCxnSpPr>
        <p:spPr>
          <a:xfrm>
            <a:off x="8255000" y="2273300"/>
            <a:ext cx="0" cy="368400"/>
          </a:xfrm>
          <a:prstGeom prst="straightConnector1">
            <a:avLst/>
          </a:prstGeom>
          <a:noFill/>
          <a:ln cap="flat" cmpd="sng" w="12700">
            <a:solidFill>
              <a:srgbClr val="8A96AD"/>
            </a:solidFill>
            <a:prstDash val="solid"/>
            <a:round/>
            <a:headEnd len="sm" w="sm" type="none"/>
            <a:tailEnd len="sm" w="sm" type="none"/>
          </a:ln>
        </p:spPr>
      </p:cxnSp>
      <p:cxnSp>
        <p:nvCxnSpPr>
          <p:cNvPr id="472" name="Google Shape;472;p15"/>
          <p:cNvCxnSpPr/>
          <p:nvPr/>
        </p:nvCxnSpPr>
        <p:spPr>
          <a:xfrm>
            <a:off x="8255000" y="2832100"/>
            <a:ext cx="0" cy="1359000"/>
          </a:xfrm>
          <a:prstGeom prst="straightConnector1">
            <a:avLst/>
          </a:prstGeom>
          <a:noFill/>
          <a:ln cap="flat" cmpd="sng" w="12700">
            <a:solidFill>
              <a:srgbClr val="8A96AD"/>
            </a:solidFill>
            <a:prstDash val="solid"/>
            <a:round/>
            <a:headEnd len="sm" w="sm" type="none"/>
            <a:tailEnd len="sm" w="sm" type="none"/>
          </a:ln>
        </p:spPr>
      </p:cxnSp>
      <p:cxnSp>
        <p:nvCxnSpPr>
          <p:cNvPr id="473" name="Google Shape;473;p15"/>
          <p:cNvCxnSpPr/>
          <p:nvPr/>
        </p:nvCxnSpPr>
        <p:spPr>
          <a:xfrm>
            <a:off x="8255000" y="4381500"/>
            <a:ext cx="0" cy="368400"/>
          </a:xfrm>
          <a:prstGeom prst="straightConnector1">
            <a:avLst/>
          </a:prstGeom>
          <a:noFill/>
          <a:ln cap="flat" cmpd="sng" w="12700">
            <a:solidFill>
              <a:srgbClr val="8A96AD"/>
            </a:solidFill>
            <a:prstDash val="solid"/>
            <a:round/>
            <a:headEnd len="sm" w="sm" type="none"/>
            <a:tailEnd len="sm" w="sm" type="none"/>
          </a:ln>
        </p:spPr>
      </p:cxnSp>
      <p:cxnSp>
        <p:nvCxnSpPr>
          <p:cNvPr id="474" name="Google Shape;474;p15"/>
          <p:cNvCxnSpPr/>
          <p:nvPr/>
        </p:nvCxnSpPr>
        <p:spPr>
          <a:xfrm>
            <a:off x="8255000" y="4940300"/>
            <a:ext cx="0" cy="698400"/>
          </a:xfrm>
          <a:prstGeom prst="straightConnector1">
            <a:avLst/>
          </a:prstGeom>
          <a:noFill/>
          <a:ln cap="flat" cmpd="sng" w="12700">
            <a:solidFill>
              <a:srgbClr val="8A96AD"/>
            </a:solidFill>
            <a:prstDash val="solid"/>
            <a:round/>
            <a:headEnd len="sm" w="sm" type="none"/>
            <a:tailEnd len="sm" w="sm" type="none"/>
          </a:ln>
        </p:spPr>
      </p:cxnSp>
      <p:cxnSp>
        <p:nvCxnSpPr>
          <p:cNvPr id="475" name="Google Shape;475;p15"/>
          <p:cNvCxnSpPr/>
          <p:nvPr/>
        </p:nvCxnSpPr>
        <p:spPr>
          <a:xfrm>
            <a:off x="3606800" y="1689100"/>
            <a:ext cx="0" cy="3987900"/>
          </a:xfrm>
          <a:prstGeom prst="straightConnector1">
            <a:avLst/>
          </a:prstGeom>
          <a:noFill/>
          <a:ln cap="flat" cmpd="sng" w="9525">
            <a:solidFill>
              <a:srgbClr val="DCD9D0"/>
            </a:solidFill>
            <a:prstDash val="solid"/>
            <a:round/>
            <a:headEnd len="sm" w="sm" type="none"/>
            <a:tailEnd len="sm" w="sm" type="none"/>
          </a:ln>
        </p:spPr>
      </p:cxnSp>
      <p:sp>
        <p:nvSpPr>
          <p:cNvPr id="476" name="Google Shape;476;p15"/>
          <p:cNvSpPr txBox="1"/>
          <p:nvPr/>
        </p:nvSpPr>
        <p:spPr>
          <a:xfrm>
            <a:off x="812800" y="1638300"/>
            <a:ext cx="2603400" cy="16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9A"/>
              </a:buClr>
              <a:buSzPts val="1050"/>
              <a:buFont typeface="Calibri"/>
              <a:buNone/>
            </a:pPr>
            <a:r>
              <a:rPr b="1" i="0" lang="en-US" sz="1050" u="none" cap="none" strike="noStrike">
                <a:solidFill>
                  <a:srgbClr val="2F5D9A"/>
                </a:solidFill>
                <a:latin typeface="Calibri"/>
                <a:ea typeface="Calibri"/>
                <a:cs typeface="Calibri"/>
                <a:sym typeface="Calibri"/>
              </a:rPr>
              <a:t>SAME FOR EVERY METHOD</a:t>
            </a:r>
            <a:endParaRPr b="0" i="0" sz="1050" u="none" cap="none" strike="noStrike">
              <a:solidFill>
                <a:schemeClr val="dk1"/>
              </a:solidFill>
              <a:latin typeface="Calibri"/>
              <a:ea typeface="Calibri"/>
              <a:cs typeface="Calibri"/>
              <a:sym typeface="Calibri"/>
            </a:endParaRPr>
          </a:p>
        </p:txBody>
      </p:sp>
      <p:sp>
        <p:nvSpPr>
          <p:cNvPr id="477" name="Google Shape;477;p15"/>
          <p:cNvSpPr txBox="1"/>
          <p:nvPr/>
        </p:nvSpPr>
        <p:spPr>
          <a:xfrm>
            <a:off x="812800" y="1841500"/>
            <a:ext cx="26034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Fused 2,048-d → 64-d</a:t>
            </a:r>
            <a:r>
              <a:rPr b="0" i="0" lang="en-US" sz="1300" u="none" cap="none" strike="noStrike">
                <a:solidFill>
                  <a:srgbClr val="3D4656"/>
                </a:solidFill>
                <a:latin typeface="Calibri"/>
                <a:ea typeface="Calibri"/>
                <a:cs typeface="Calibri"/>
                <a:sym typeface="Calibri"/>
              </a:rPr>
              <a:t>: 32× smaller, 8,192 B → 256 B</a:t>
            </a:r>
            <a:endParaRPr b="0" i="0" sz="1300" u="none" cap="none" strike="noStrike">
              <a:solidFill>
                <a:schemeClr val="dk1"/>
              </a:solidFill>
              <a:latin typeface="Calibri"/>
              <a:ea typeface="Calibri"/>
              <a:cs typeface="Calibri"/>
              <a:sym typeface="Calibri"/>
            </a:endParaRPr>
          </a:p>
        </p:txBody>
      </p:sp>
      <p:sp>
        <p:nvSpPr>
          <p:cNvPr id="478" name="Google Shape;478;p15"/>
          <p:cNvSpPr txBox="1"/>
          <p:nvPr/>
        </p:nvSpPr>
        <p:spPr>
          <a:xfrm>
            <a:off x="812800" y="2336800"/>
            <a:ext cx="2603400" cy="16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9A"/>
              </a:buClr>
              <a:buSzPts val="1050"/>
              <a:buFont typeface="Calibri"/>
              <a:buNone/>
            </a:pPr>
            <a:r>
              <a:rPr b="1" i="0" lang="en-US" sz="1050" u="none" cap="none" strike="noStrike">
                <a:solidFill>
                  <a:srgbClr val="2F5D9A"/>
                </a:solidFill>
                <a:latin typeface="Calibri"/>
                <a:ea typeface="Calibri"/>
                <a:cs typeface="Calibri"/>
                <a:sym typeface="Calibri"/>
              </a:rPr>
              <a:t>EDGE ENCODERS</a:t>
            </a:r>
            <a:endParaRPr b="0" i="0" sz="1050" u="none" cap="none" strike="noStrike">
              <a:solidFill>
                <a:schemeClr val="dk1"/>
              </a:solidFill>
              <a:latin typeface="Calibri"/>
              <a:ea typeface="Calibri"/>
              <a:cs typeface="Calibri"/>
              <a:sym typeface="Calibri"/>
            </a:endParaRPr>
          </a:p>
        </p:txBody>
      </p:sp>
      <p:sp>
        <p:nvSpPr>
          <p:cNvPr id="479" name="Google Shape;479;p15"/>
          <p:cNvSpPr txBox="1"/>
          <p:nvPr/>
        </p:nvSpPr>
        <p:spPr>
          <a:xfrm>
            <a:off x="812800" y="2540000"/>
            <a:ext cx="26034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CLIP ViT-B/32 </a:t>
            </a:r>
            <a:r>
              <a:rPr b="0" i="0" lang="en-US" sz="1300" u="none" cap="none" strike="noStrike">
                <a:solidFill>
                  <a:srgbClr val="3D4656"/>
                </a:solidFill>
                <a:latin typeface="Calibri"/>
                <a:ea typeface="Calibri"/>
                <a:cs typeface="Calibri"/>
                <a:sym typeface="Calibri"/>
              </a:rPr>
              <a:t>(87M): the standard full-size CLIP image encoder</a:t>
            </a:r>
            <a:endParaRPr b="0" i="0" sz="1300" u="none" cap="none" strike="noStrike">
              <a:solidFill>
                <a:schemeClr val="dk1"/>
              </a:solidFill>
              <a:latin typeface="Calibri"/>
              <a:ea typeface="Calibri"/>
              <a:cs typeface="Calibri"/>
              <a:sym typeface="Calibri"/>
            </a:endParaRPr>
          </a:p>
        </p:txBody>
      </p:sp>
      <p:sp>
        <p:nvSpPr>
          <p:cNvPr id="480" name="Google Shape;480;p15"/>
          <p:cNvSpPr txBox="1"/>
          <p:nvPr/>
        </p:nvSpPr>
        <p:spPr>
          <a:xfrm>
            <a:off x="812800" y="2971800"/>
            <a:ext cx="26034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MobileCLIP2-S0 </a:t>
            </a:r>
            <a:r>
              <a:rPr b="0" i="0" lang="en-US" sz="1300" u="none" cap="none" strike="noStrike">
                <a:solidFill>
                  <a:srgbClr val="3D4656"/>
                </a:solidFill>
                <a:latin typeface="Calibri"/>
                <a:ea typeface="Calibri"/>
                <a:cs typeface="Calibri"/>
                <a:sym typeface="Calibri"/>
              </a:rPr>
              <a:t>(11.4M): ~8× smaller, distilled for on-device speed</a:t>
            </a:r>
            <a:endParaRPr b="0" i="0" sz="1300" u="none" cap="none" strike="noStrike">
              <a:solidFill>
                <a:schemeClr val="dk1"/>
              </a:solidFill>
              <a:latin typeface="Calibri"/>
              <a:ea typeface="Calibri"/>
              <a:cs typeface="Calibri"/>
              <a:sym typeface="Calibri"/>
            </a:endParaRPr>
          </a:p>
        </p:txBody>
      </p:sp>
      <p:sp>
        <p:nvSpPr>
          <p:cNvPr id="481" name="Google Shape;481;p15"/>
          <p:cNvSpPr txBox="1"/>
          <p:nvPr/>
        </p:nvSpPr>
        <p:spPr>
          <a:xfrm>
            <a:off x="812800" y="3403600"/>
            <a:ext cx="26034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280"/>
              </a:buClr>
              <a:buSzPts val="1300"/>
              <a:buFont typeface="Calibri"/>
              <a:buNone/>
            </a:pPr>
            <a:r>
              <a:rPr b="0" i="1" lang="en-US" sz="1300" u="none" cap="none" strike="noStrike">
                <a:solidFill>
                  <a:srgbClr val="6A7280"/>
                </a:solidFill>
                <a:latin typeface="Calibri"/>
                <a:ea typeface="Calibri"/>
                <a:cs typeface="Calibri"/>
                <a:sym typeface="Calibri"/>
              </a:rPr>
              <a:t>Both give 512-d image and text embeddings</a:t>
            </a:r>
            <a:endParaRPr b="0" i="0" sz="1300" u="none" cap="none" strike="noStrike">
              <a:solidFill>
                <a:schemeClr val="dk1"/>
              </a:solidFill>
              <a:latin typeface="Calibri"/>
              <a:ea typeface="Calibri"/>
              <a:cs typeface="Calibri"/>
              <a:sym typeface="Calibri"/>
            </a:endParaRPr>
          </a:p>
        </p:txBody>
      </p:sp>
      <p:sp>
        <p:nvSpPr>
          <p:cNvPr id="482" name="Google Shape;482;p15"/>
          <p:cNvSpPr txBox="1"/>
          <p:nvPr/>
        </p:nvSpPr>
        <p:spPr>
          <a:xfrm>
            <a:off x="812800" y="3898900"/>
            <a:ext cx="2603400" cy="16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9A"/>
              </a:buClr>
              <a:buSzPts val="1050"/>
              <a:buFont typeface="Calibri"/>
              <a:buNone/>
            </a:pPr>
            <a:r>
              <a:rPr b="1" i="0" lang="en-US" sz="1050" u="none" cap="none" strike="noStrike">
                <a:solidFill>
                  <a:srgbClr val="2F5D9A"/>
                </a:solidFill>
                <a:latin typeface="Calibri"/>
                <a:ea typeface="Calibri"/>
                <a:cs typeface="Calibri"/>
                <a:sym typeface="Calibri"/>
              </a:rPr>
              <a:t>BASELINES</a:t>
            </a:r>
            <a:endParaRPr b="0" i="0" sz="1050" u="none" cap="none" strike="noStrike">
              <a:solidFill>
                <a:schemeClr val="dk1"/>
              </a:solidFill>
              <a:latin typeface="Calibri"/>
              <a:ea typeface="Calibri"/>
              <a:cs typeface="Calibri"/>
              <a:sym typeface="Calibri"/>
            </a:endParaRPr>
          </a:p>
        </p:txBody>
      </p:sp>
      <p:sp>
        <p:nvSpPr>
          <p:cNvPr id="483" name="Google Shape;483;p15"/>
          <p:cNvSpPr txBox="1"/>
          <p:nvPr/>
        </p:nvSpPr>
        <p:spPr>
          <a:xfrm>
            <a:off x="812800" y="4102100"/>
            <a:ext cx="26034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PCA: </a:t>
            </a:r>
            <a:r>
              <a:rPr b="0" i="0" lang="en-US" sz="1300" u="none" cap="none" strike="noStrike">
                <a:solidFill>
                  <a:srgbClr val="3D4656"/>
                </a:solidFill>
                <a:latin typeface="Calibri"/>
                <a:ea typeface="Calibri"/>
                <a:cs typeface="Calibri"/>
                <a:sym typeface="Calibri"/>
              </a:rPr>
              <a:t>keeps the 64 highest-variance directions of the fused vector</a:t>
            </a:r>
            <a:endParaRPr b="0" i="0" sz="1300" u="none" cap="none" strike="noStrike">
              <a:solidFill>
                <a:schemeClr val="dk1"/>
              </a:solidFill>
              <a:latin typeface="Calibri"/>
              <a:ea typeface="Calibri"/>
              <a:cs typeface="Calibri"/>
              <a:sym typeface="Calibri"/>
            </a:endParaRPr>
          </a:p>
        </p:txBody>
      </p:sp>
      <p:sp>
        <p:nvSpPr>
          <p:cNvPr id="484" name="Google Shape;484;p15"/>
          <p:cNvSpPr txBox="1"/>
          <p:nvPr/>
        </p:nvSpPr>
        <p:spPr>
          <a:xfrm>
            <a:off x="812800" y="4533900"/>
            <a:ext cx="26034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BlockPCA: </a:t>
            </a:r>
            <a:r>
              <a:rPr b="0" i="0" lang="en-US" sz="1300" u="none" cap="none" strike="noStrike">
                <a:solidFill>
                  <a:srgbClr val="3D4656"/>
                </a:solidFill>
                <a:latin typeface="Calibri"/>
                <a:ea typeface="Calibri"/>
                <a:cs typeface="Calibri"/>
                <a:sym typeface="Calibri"/>
              </a:rPr>
              <a:t>PCA on each fused block separately</a:t>
            </a:r>
            <a:endParaRPr b="0" i="0" sz="1300" u="none" cap="none" strike="noStrike">
              <a:solidFill>
                <a:schemeClr val="dk1"/>
              </a:solidFill>
              <a:latin typeface="Calibri"/>
              <a:ea typeface="Calibri"/>
              <a:cs typeface="Calibri"/>
              <a:sym typeface="Calibri"/>
            </a:endParaRPr>
          </a:p>
        </p:txBody>
      </p:sp>
      <p:sp>
        <p:nvSpPr>
          <p:cNvPr id="485" name="Google Shape;485;p15"/>
          <p:cNvSpPr txBox="1"/>
          <p:nvPr/>
        </p:nvSpPr>
        <p:spPr>
          <a:xfrm>
            <a:off x="812800" y="4965700"/>
            <a:ext cx="26034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AE / VAE: </a:t>
            </a:r>
            <a:r>
              <a:rPr b="0" i="0" lang="en-US" sz="1300" u="none" cap="none" strike="noStrike">
                <a:solidFill>
                  <a:srgbClr val="3D4656"/>
                </a:solidFill>
                <a:latin typeface="Calibri"/>
                <a:ea typeface="Calibri"/>
                <a:cs typeface="Calibri"/>
                <a:sym typeface="Calibri"/>
              </a:rPr>
              <a:t>learned encoder–decoder, trained only to reconstruct</a:t>
            </a:r>
            <a:endParaRPr b="0" i="0" sz="1300" u="none" cap="none" strike="noStrike">
              <a:solidFill>
                <a:schemeClr val="dk1"/>
              </a:solidFill>
              <a:latin typeface="Calibri"/>
              <a:ea typeface="Calibri"/>
              <a:cs typeface="Calibri"/>
              <a:sym typeface="Calibri"/>
            </a:endParaRPr>
          </a:p>
        </p:txBody>
      </p:sp>
      <p:sp>
        <p:nvSpPr>
          <p:cNvPr id="486" name="Google Shape;486;p15"/>
          <p:cNvSpPr txBox="1"/>
          <p:nvPr/>
        </p:nvSpPr>
        <p:spPr>
          <a:xfrm>
            <a:off x="812800" y="5397500"/>
            <a:ext cx="26034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LDA: </a:t>
            </a:r>
            <a:r>
              <a:rPr b="0" i="0" lang="en-US" sz="1300" u="none" cap="none" strike="noStrike">
                <a:solidFill>
                  <a:srgbClr val="3D4656"/>
                </a:solidFill>
                <a:latin typeface="Calibri"/>
                <a:ea typeface="Calibri"/>
                <a:cs typeface="Calibri"/>
                <a:sym typeface="Calibri"/>
              </a:rPr>
              <a:t>supervised linear projection that best separates match from no-match</a:t>
            </a:r>
            <a:endParaRPr b="0" i="0" sz="1300" u="none" cap="none" strike="noStrike">
              <a:solidFill>
                <a:schemeClr val="dk1"/>
              </a:solidFill>
              <a:latin typeface="Calibri"/>
              <a:ea typeface="Calibri"/>
              <a:cs typeface="Calibri"/>
              <a:sym typeface="Calibri"/>
            </a:endParaRPr>
          </a:p>
        </p:txBody>
      </p:sp>
      <p:sp>
        <p:nvSpPr>
          <p:cNvPr id="487" name="Google Shape;487;p15"/>
          <p:cNvSpPr/>
          <p:nvPr/>
        </p:nvSpPr>
        <p:spPr>
          <a:xfrm>
            <a:off x="812800" y="5990303"/>
            <a:ext cx="50700" cy="533400"/>
          </a:xfrm>
          <a:prstGeom prst="rect">
            <a:avLst/>
          </a:prstGeom>
          <a:solidFill>
            <a:srgbClr val="8E2463"/>
          </a:solidFill>
          <a:ln cap="flat" cmpd="sng" w="12700">
            <a:solidFill>
              <a:srgbClr val="8E2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5"/>
          <p:cNvSpPr txBox="1"/>
          <p:nvPr/>
        </p:nvSpPr>
        <p:spPr>
          <a:xfrm>
            <a:off x="990600" y="5990303"/>
            <a:ext cx="4953000" cy="15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2463"/>
              </a:buClr>
              <a:buSzPts val="1000"/>
              <a:buFont typeface="Calibri"/>
              <a:buNone/>
            </a:pPr>
            <a:r>
              <a:rPr b="1" i="0" lang="en-US" sz="1200" u="none" cap="none" strike="noStrike">
                <a:solidFill>
                  <a:srgbClr val="8E2463"/>
                </a:solidFill>
                <a:latin typeface="Calibri"/>
                <a:ea typeface="Calibri"/>
                <a:cs typeface="Calibri"/>
                <a:sym typeface="Calibri"/>
              </a:rPr>
              <a:t>OBSERVATION 1</a:t>
            </a:r>
            <a:endParaRPr b="1" i="0" sz="1200" u="none" cap="none" strike="noStrike">
              <a:solidFill>
                <a:schemeClr val="dk1"/>
              </a:solidFill>
              <a:latin typeface="Calibri"/>
              <a:ea typeface="Calibri"/>
              <a:cs typeface="Calibri"/>
              <a:sym typeface="Calibri"/>
            </a:endParaRPr>
          </a:p>
        </p:txBody>
      </p:sp>
      <p:sp>
        <p:nvSpPr>
          <p:cNvPr id="489" name="Google Shape;489;p15"/>
          <p:cNvSpPr txBox="1"/>
          <p:nvPr/>
        </p:nvSpPr>
        <p:spPr>
          <a:xfrm>
            <a:off x="990600" y="6142703"/>
            <a:ext cx="4953000" cy="20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600"/>
              <a:buFont typeface="Calibri"/>
              <a:buNone/>
            </a:pPr>
            <a:r>
              <a:rPr b="1" i="0" lang="en-US" sz="1800" u="none" cap="none" strike="noStrike">
                <a:solidFill>
                  <a:srgbClr val="14213D"/>
                </a:solidFill>
                <a:latin typeface="Times New Roman"/>
                <a:ea typeface="Times New Roman"/>
                <a:cs typeface="Times New Roman"/>
                <a:sym typeface="Times New Roman"/>
              </a:rPr>
              <a:t>Compression can preserve accuracy</a:t>
            </a:r>
            <a:endParaRPr i="0" sz="1800" u="none" cap="none" strike="noStrike">
              <a:solidFill>
                <a:schemeClr val="dk1"/>
              </a:solidFill>
              <a:latin typeface="Times New Roman"/>
              <a:ea typeface="Times New Roman"/>
              <a:cs typeface="Times New Roman"/>
              <a:sym typeface="Times New Roman"/>
            </a:endParaRPr>
          </a:p>
        </p:txBody>
      </p:sp>
      <p:sp>
        <p:nvSpPr>
          <p:cNvPr id="490" name="Google Shape;490;p15"/>
          <p:cNvSpPr txBox="1"/>
          <p:nvPr/>
        </p:nvSpPr>
        <p:spPr>
          <a:xfrm>
            <a:off x="990600" y="6345903"/>
            <a:ext cx="4953000" cy="17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656"/>
              </a:buClr>
              <a:buSzPts val="1300"/>
              <a:buFont typeface="Calibri"/>
              <a:buNone/>
            </a:pPr>
            <a:r>
              <a:rPr b="0" i="0" lang="en-US" sz="1300" u="none" cap="none" strike="noStrike">
                <a:solidFill>
                  <a:srgbClr val="3D4656"/>
                </a:solidFill>
                <a:latin typeface="Calibri"/>
                <a:ea typeface="Calibri"/>
                <a:cs typeface="Calibri"/>
                <a:sym typeface="Calibri"/>
              </a:rPr>
              <a:t>TaskAwareAE stays within 0.1 pt of uncompressed, 32× smaller.</a:t>
            </a:r>
            <a:endParaRPr b="0" i="0" sz="1300" u="none" cap="none" strike="noStrike">
              <a:solidFill>
                <a:schemeClr val="dk1"/>
              </a:solidFill>
              <a:latin typeface="Calibri"/>
              <a:ea typeface="Calibri"/>
              <a:cs typeface="Calibri"/>
              <a:sym typeface="Calibri"/>
            </a:endParaRPr>
          </a:p>
        </p:txBody>
      </p:sp>
      <p:sp>
        <p:nvSpPr>
          <p:cNvPr id="491" name="Google Shape;491;p15"/>
          <p:cNvSpPr/>
          <p:nvPr/>
        </p:nvSpPr>
        <p:spPr>
          <a:xfrm>
            <a:off x="6146800" y="5990303"/>
            <a:ext cx="50700" cy="533400"/>
          </a:xfrm>
          <a:prstGeom prst="rect">
            <a:avLst/>
          </a:prstGeom>
          <a:solidFill>
            <a:srgbClr val="8E2463"/>
          </a:solidFill>
          <a:ln cap="flat" cmpd="sng" w="12700">
            <a:solidFill>
              <a:srgbClr val="8E2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5"/>
          <p:cNvSpPr txBox="1"/>
          <p:nvPr/>
        </p:nvSpPr>
        <p:spPr>
          <a:xfrm>
            <a:off x="6324600" y="5990303"/>
            <a:ext cx="4953000" cy="15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2463"/>
              </a:buClr>
              <a:buSzPts val="1000"/>
              <a:buFont typeface="Calibri"/>
              <a:buNone/>
            </a:pPr>
            <a:r>
              <a:rPr b="1" i="0" lang="en-US" sz="1200" u="none" cap="none" strike="noStrike">
                <a:solidFill>
                  <a:srgbClr val="8E2463"/>
                </a:solidFill>
                <a:latin typeface="Calibri"/>
                <a:ea typeface="Calibri"/>
                <a:cs typeface="Calibri"/>
                <a:sym typeface="Calibri"/>
              </a:rPr>
              <a:t>OBSERVATION 2</a:t>
            </a:r>
            <a:endParaRPr b="0" i="0" sz="1200" u="none" cap="none" strike="noStrike">
              <a:solidFill>
                <a:schemeClr val="dk1"/>
              </a:solidFill>
              <a:latin typeface="Calibri"/>
              <a:ea typeface="Calibri"/>
              <a:cs typeface="Calibri"/>
              <a:sym typeface="Calibri"/>
            </a:endParaRPr>
          </a:p>
        </p:txBody>
      </p:sp>
      <p:sp>
        <p:nvSpPr>
          <p:cNvPr id="493" name="Google Shape;493;p15"/>
          <p:cNvSpPr txBox="1"/>
          <p:nvPr/>
        </p:nvSpPr>
        <p:spPr>
          <a:xfrm>
            <a:off x="6324600" y="6142703"/>
            <a:ext cx="4953000" cy="20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600"/>
              <a:buFont typeface="Calibri"/>
              <a:buNone/>
            </a:pPr>
            <a:r>
              <a:rPr b="1" i="0" lang="en-US" sz="1800" u="none" cap="none" strike="noStrike">
                <a:solidFill>
                  <a:srgbClr val="14213D"/>
                </a:solidFill>
                <a:latin typeface="Times New Roman"/>
                <a:ea typeface="Times New Roman"/>
                <a:cs typeface="Times New Roman"/>
                <a:sym typeface="Times New Roman"/>
              </a:rPr>
              <a:t>The small encoder is sensitive</a:t>
            </a:r>
            <a:endParaRPr i="0" sz="1800" u="none" cap="none" strike="noStrike">
              <a:solidFill>
                <a:schemeClr val="dk1"/>
              </a:solidFill>
              <a:latin typeface="Times New Roman"/>
              <a:ea typeface="Times New Roman"/>
              <a:cs typeface="Times New Roman"/>
              <a:sym typeface="Times New Roman"/>
            </a:endParaRPr>
          </a:p>
        </p:txBody>
      </p:sp>
      <p:sp>
        <p:nvSpPr>
          <p:cNvPr id="494" name="Google Shape;494;p15"/>
          <p:cNvSpPr txBox="1"/>
          <p:nvPr/>
        </p:nvSpPr>
        <p:spPr>
          <a:xfrm>
            <a:off x="6324600" y="6345903"/>
            <a:ext cx="4953000" cy="17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656"/>
              </a:buClr>
              <a:buSzPts val="1300"/>
              <a:buFont typeface="Calibri"/>
              <a:buNone/>
            </a:pPr>
            <a:r>
              <a:rPr b="0" i="0" lang="en-US" sz="1300" u="none" cap="none" strike="noStrike">
                <a:solidFill>
                  <a:srgbClr val="3D4656"/>
                </a:solidFill>
                <a:latin typeface="Calibri"/>
                <a:ea typeface="Calibri"/>
                <a:cs typeface="Calibri"/>
                <a:sym typeface="Calibri"/>
              </a:rPr>
              <a:t>PCA, AE and VAE lose 29–46 pt on MobileCLIP, at most 4.5 on CLIP.</a:t>
            </a:r>
            <a:endParaRPr b="0" i="0" sz="1300" u="none" cap="none" strike="noStrike">
              <a:solidFill>
                <a:schemeClr val="dk1"/>
              </a:solidFill>
              <a:latin typeface="Calibri"/>
              <a:ea typeface="Calibri"/>
              <a:cs typeface="Calibri"/>
              <a:sym typeface="Calibri"/>
            </a:endParaRPr>
          </a:p>
        </p:txBody>
      </p:sp>
      <p:sp>
        <p:nvSpPr>
          <p:cNvPr id="495" name="Google Shape;495;p15"/>
          <p:cNvSpPr/>
          <p:nvPr/>
        </p:nvSpPr>
        <p:spPr>
          <a:xfrm>
            <a:off x="1117589" y="533357"/>
            <a:ext cx="762000" cy="507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5"/>
          <p:cNvSpPr/>
          <p:nvPr/>
        </p:nvSpPr>
        <p:spPr>
          <a:xfrm>
            <a:off x="0" y="0"/>
            <a:ext cx="304800" cy="68580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6"/>
          <p:cNvSpPr txBox="1"/>
          <p:nvPr>
            <p:ph idx="1" type="body"/>
          </p:nvPr>
        </p:nvSpPr>
        <p:spPr>
          <a:xfrm>
            <a:off x="813816" y="566928"/>
            <a:ext cx="10561200" cy="29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1200"/>
              <a:buNone/>
            </a:pPr>
            <a:r>
              <a:rPr b="1" lang="en-US" sz="1500">
                <a:solidFill>
                  <a:srgbClr val="A64D79"/>
                </a:solidFill>
                <a:latin typeface="Calibri"/>
                <a:ea typeface="Calibri"/>
                <a:cs typeface="Calibri"/>
                <a:sym typeface="Calibri"/>
              </a:rPr>
              <a:t>ACCURACY EVALUATION</a:t>
            </a:r>
            <a:endParaRPr sz="1500">
              <a:solidFill>
                <a:srgbClr val="A64D79"/>
              </a:solidFill>
            </a:endParaRPr>
          </a:p>
        </p:txBody>
      </p:sp>
      <p:sp>
        <p:nvSpPr>
          <p:cNvPr id="503" name="Google Shape;503;p16"/>
          <p:cNvSpPr txBox="1"/>
          <p:nvPr>
            <p:ph type="title"/>
          </p:nvPr>
        </p:nvSpPr>
        <p:spPr>
          <a:xfrm>
            <a:off x="813816" y="896112"/>
            <a:ext cx="10561200" cy="64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200"/>
              <a:buFont typeface="Cambria"/>
              <a:buNone/>
            </a:pPr>
            <a:r>
              <a:rPr lang="en-US" sz="3200">
                <a:solidFill>
                  <a:schemeClr val="dk1"/>
                </a:solidFill>
                <a:latin typeface="Georgia"/>
                <a:ea typeface="Georgia"/>
                <a:cs typeface="Georgia"/>
                <a:sym typeface="Georgia"/>
              </a:rPr>
              <a:t>Same 32× compression, accuracy from 52% to 98%</a:t>
            </a:r>
            <a:endParaRPr sz="3200">
              <a:latin typeface="Georgia"/>
              <a:ea typeface="Georgia"/>
              <a:cs typeface="Georgia"/>
              <a:sym typeface="Georgia"/>
            </a:endParaRPr>
          </a:p>
        </p:txBody>
      </p:sp>
      <p:sp>
        <p:nvSpPr>
          <p:cNvPr id="504" name="Google Shape;504;p16"/>
          <p:cNvSpPr txBox="1"/>
          <p:nvPr/>
        </p:nvSpPr>
        <p:spPr>
          <a:xfrm>
            <a:off x="812800" y="1574800"/>
            <a:ext cx="4064100" cy="19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MobileCLIP2-S0</a:t>
            </a:r>
            <a:r>
              <a:rPr b="0" i="0" lang="en-US" sz="1300" u="none" cap="none" strike="noStrike">
                <a:solidFill>
                  <a:srgbClr val="6A7280"/>
                </a:solidFill>
                <a:latin typeface="Calibri"/>
                <a:ea typeface="Calibri"/>
                <a:cs typeface="Calibri"/>
                <a:sym typeface="Calibri"/>
              </a:rPr>
              <a:t>  ·  accuracy (%) at 64-d</a:t>
            </a:r>
            <a:endParaRPr b="0" i="0" sz="1300" u="none" cap="none" strike="noStrike">
              <a:solidFill>
                <a:schemeClr val="dk1"/>
              </a:solidFill>
              <a:latin typeface="Calibri"/>
              <a:ea typeface="Calibri"/>
              <a:cs typeface="Calibri"/>
              <a:sym typeface="Calibri"/>
            </a:endParaRPr>
          </a:p>
        </p:txBody>
      </p:sp>
      <p:sp>
        <p:nvSpPr>
          <p:cNvPr id="505" name="Google Shape;505;p16"/>
          <p:cNvSpPr txBox="1"/>
          <p:nvPr/>
        </p:nvSpPr>
        <p:spPr>
          <a:xfrm>
            <a:off x="812800" y="1841500"/>
            <a:ext cx="2540100" cy="1650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6A7280"/>
              </a:buClr>
              <a:buSzPts val="900"/>
              <a:buFont typeface="Calibri"/>
              <a:buNone/>
            </a:pPr>
            <a:r>
              <a:rPr b="1" i="0" lang="en-US" sz="900" u="none" cap="none" strike="noStrike">
                <a:solidFill>
                  <a:srgbClr val="6A7280"/>
                </a:solidFill>
                <a:latin typeface="Calibri"/>
                <a:ea typeface="Calibri"/>
                <a:cs typeface="Calibri"/>
                <a:sym typeface="Calibri"/>
              </a:rPr>
              <a:t>REFERENCE</a:t>
            </a:r>
            <a:endParaRPr b="0" i="0" sz="900" u="none" cap="none" strike="noStrike">
              <a:solidFill>
                <a:schemeClr val="dk1"/>
              </a:solidFill>
              <a:latin typeface="Calibri"/>
              <a:ea typeface="Calibri"/>
              <a:cs typeface="Calibri"/>
              <a:sym typeface="Calibri"/>
            </a:endParaRPr>
          </a:p>
        </p:txBody>
      </p:sp>
      <p:sp>
        <p:nvSpPr>
          <p:cNvPr id="506" name="Google Shape;506;p16"/>
          <p:cNvSpPr txBox="1"/>
          <p:nvPr/>
        </p:nvSpPr>
        <p:spPr>
          <a:xfrm>
            <a:off x="812800" y="2032000"/>
            <a:ext cx="1238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350"/>
              <a:buFont typeface="Calibri"/>
              <a:buNone/>
            </a:pPr>
            <a:r>
              <a:rPr b="1" i="0" lang="en-US" sz="1350" u="none" cap="none" strike="noStrike">
                <a:solidFill>
                  <a:srgbClr val="14213D"/>
                </a:solidFill>
                <a:latin typeface="Calibri"/>
                <a:ea typeface="Calibri"/>
                <a:cs typeface="Calibri"/>
                <a:sym typeface="Calibri"/>
              </a:rPr>
              <a:t>No compression</a:t>
            </a:r>
            <a:endParaRPr b="0" i="0" sz="1350" u="none" cap="none" strike="noStrike">
              <a:solidFill>
                <a:schemeClr val="dk1"/>
              </a:solidFill>
              <a:latin typeface="Calibri"/>
              <a:ea typeface="Calibri"/>
              <a:cs typeface="Calibri"/>
              <a:sym typeface="Calibri"/>
            </a:endParaRPr>
          </a:p>
        </p:txBody>
      </p:sp>
      <p:sp>
        <p:nvSpPr>
          <p:cNvPr id="507" name="Google Shape;507;p16"/>
          <p:cNvSpPr/>
          <p:nvPr/>
        </p:nvSpPr>
        <p:spPr>
          <a:xfrm>
            <a:off x="2095500" y="2032000"/>
            <a:ext cx="1812300" cy="228600"/>
          </a:xfrm>
          <a:prstGeom prst="rect">
            <a:avLst/>
          </a:prstGeom>
          <a:solidFill>
            <a:srgbClr val="A3ABBD"/>
          </a:solidFill>
          <a:ln cap="flat" cmpd="sng" w="12700">
            <a:solidFill>
              <a:srgbClr val="A3AB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6"/>
          <p:cNvSpPr txBox="1"/>
          <p:nvPr/>
        </p:nvSpPr>
        <p:spPr>
          <a:xfrm>
            <a:off x="3958520" y="2032000"/>
            <a:ext cx="444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98.4</a:t>
            </a:r>
            <a:endParaRPr b="0" i="0" sz="1300" u="none" cap="none" strike="noStrike">
              <a:solidFill>
                <a:schemeClr val="dk1"/>
              </a:solidFill>
              <a:latin typeface="Calibri"/>
              <a:ea typeface="Calibri"/>
              <a:cs typeface="Calibri"/>
              <a:sym typeface="Calibri"/>
            </a:endParaRPr>
          </a:p>
        </p:txBody>
      </p:sp>
      <p:sp>
        <p:nvSpPr>
          <p:cNvPr id="509" name="Google Shape;509;p16"/>
          <p:cNvSpPr txBox="1"/>
          <p:nvPr/>
        </p:nvSpPr>
        <p:spPr>
          <a:xfrm>
            <a:off x="812800" y="2374900"/>
            <a:ext cx="2540100" cy="1650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6A7280"/>
              </a:buClr>
              <a:buSzPts val="900"/>
              <a:buFont typeface="Calibri"/>
              <a:buNone/>
            </a:pPr>
            <a:r>
              <a:rPr b="1" i="0" lang="en-US" sz="900" u="none" cap="none" strike="noStrike">
                <a:solidFill>
                  <a:srgbClr val="6A7280"/>
                </a:solidFill>
                <a:latin typeface="Calibri"/>
                <a:ea typeface="Calibri"/>
                <a:cs typeface="Calibri"/>
                <a:sym typeface="Calibri"/>
              </a:rPr>
              <a:t>UNSUPERVISED</a:t>
            </a:r>
            <a:endParaRPr b="0" i="0" sz="900" u="none" cap="none" strike="noStrike">
              <a:solidFill>
                <a:schemeClr val="dk1"/>
              </a:solidFill>
              <a:latin typeface="Calibri"/>
              <a:ea typeface="Calibri"/>
              <a:cs typeface="Calibri"/>
              <a:sym typeface="Calibri"/>
            </a:endParaRPr>
          </a:p>
        </p:txBody>
      </p:sp>
      <p:sp>
        <p:nvSpPr>
          <p:cNvPr id="510" name="Google Shape;510;p16"/>
          <p:cNvSpPr txBox="1"/>
          <p:nvPr/>
        </p:nvSpPr>
        <p:spPr>
          <a:xfrm>
            <a:off x="812800" y="2565400"/>
            <a:ext cx="1238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350"/>
              <a:buFont typeface="Calibri"/>
              <a:buNone/>
            </a:pPr>
            <a:r>
              <a:rPr b="1" i="0" lang="en-US" sz="1350" u="none" cap="none" strike="noStrike">
                <a:solidFill>
                  <a:srgbClr val="14213D"/>
                </a:solidFill>
                <a:latin typeface="Calibri"/>
                <a:ea typeface="Calibri"/>
                <a:cs typeface="Calibri"/>
                <a:sym typeface="Calibri"/>
              </a:rPr>
              <a:t>PCA</a:t>
            </a:r>
            <a:endParaRPr b="0" i="0" sz="1350" u="none" cap="none" strike="noStrike">
              <a:solidFill>
                <a:schemeClr val="dk1"/>
              </a:solidFill>
              <a:latin typeface="Calibri"/>
              <a:ea typeface="Calibri"/>
              <a:cs typeface="Calibri"/>
              <a:sym typeface="Calibri"/>
            </a:endParaRPr>
          </a:p>
        </p:txBody>
      </p:sp>
      <p:sp>
        <p:nvSpPr>
          <p:cNvPr id="511" name="Google Shape;511;p16"/>
          <p:cNvSpPr/>
          <p:nvPr/>
        </p:nvSpPr>
        <p:spPr>
          <a:xfrm>
            <a:off x="2095500" y="2565400"/>
            <a:ext cx="1056000" cy="228600"/>
          </a:xfrm>
          <a:prstGeom prst="rect">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6"/>
          <p:cNvSpPr txBox="1"/>
          <p:nvPr/>
        </p:nvSpPr>
        <p:spPr>
          <a:xfrm>
            <a:off x="3202400" y="2565400"/>
            <a:ext cx="444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57.4</a:t>
            </a:r>
            <a:endParaRPr b="0" i="0" sz="1300" u="none" cap="none" strike="noStrike">
              <a:solidFill>
                <a:schemeClr val="dk1"/>
              </a:solidFill>
              <a:latin typeface="Calibri"/>
              <a:ea typeface="Calibri"/>
              <a:cs typeface="Calibri"/>
              <a:sym typeface="Calibri"/>
            </a:endParaRPr>
          </a:p>
        </p:txBody>
      </p:sp>
      <p:sp>
        <p:nvSpPr>
          <p:cNvPr id="513" name="Google Shape;513;p16"/>
          <p:cNvSpPr txBox="1"/>
          <p:nvPr/>
        </p:nvSpPr>
        <p:spPr>
          <a:xfrm>
            <a:off x="812800" y="2882900"/>
            <a:ext cx="1238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350"/>
              <a:buFont typeface="Calibri"/>
              <a:buNone/>
            </a:pPr>
            <a:r>
              <a:rPr b="1" i="0" lang="en-US" sz="1350" u="none" cap="none" strike="noStrike">
                <a:solidFill>
                  <a:srgbClr val="14213D"/>
                </a:solidFill>
                <a:latin typeface="Calibri"/>
                <a:ea typeface="Calibri"/>
                <a:cs typeface="Calibri"/>
                <a:sym typeface="Calibri"/>
              </a:rPr>
              <a:t>Autoencoder</a:t>
            </a:r>
            <a:endParaRPr b="0" i="0" sz="1350" u="none" cap="none" strike="noStrike">
              <a:solidFill>
                <a:schemeClr val="dk1"/>
              </a:solidFill>
              <a:latin typeface="Calibri"/>
              <a:ea typeface="Calibri"/>
              <a:cs typeface="Calibri"/>
              <a:sym typeface="Calibri"/>
            </a:endParaRPr>
          </a:p>
        </p:txBody>
      </p:sp>
      <p:sp>
        <p:nvSpPr>
          <p:cNvPr id="514" name="Google Shape;514;p16"/>
          <p:cNvSpPr/>
          <p:nvPr/>
        </p:nvSpPr>
        <p:spPr>
          <a:xfrm>
            <a:off x="2095500" y="2882900"/>
            <a:ext cx="957900" cy="228600"/>
          </a:xfrm>
          <a:prstGeom prst="rect">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6"/>
          <p:cNvSpPr txBox="1"/>
          <p:nvPr/>
        </p:nvSpPr>
        <p:spPr>
          <a:xfrm>
            <a:off x="3104064" y="2882900"/>
            <a:ext cx="444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52.0</a:t>
            </a:r>
            <a:endParaRPr b="0" i="0" sz="1300" u="none" cap="none" strike="noStrike">
              <a:solidFill>
                <a:schemeClr val="dk1"/>
              </a:solidFill>
              <a:latin typeface="Calibri"/>
              <a:ea typeface="Calibri"/>
              <a:cs typeface="Calibri"/>
              <a:sym typeface="Calibri"/>
            </a:endParaRPr>
          </a:p>
        </p:txBody>
      </p:sp>
      <p:sp>
        <p:nvSpPr>
          <p:cNvPr id="516" name="Google Shape;516;p16"/>
          <p:cNvSpPr txBox="1"/>
          <p:nvPr/>
        </p:nvSpPr>
        <p:spPr>
          <a:xfrm>
            <a:off x="812800" y="3200400"/>
            <a:ext cx="1238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350"/>
              <a:buFont typeface="Calibri"/>
              <a:buNone/>
            </a:pPr>
            <a:r>
              <a:rPr b="1" i="0" lang="en-US" sz="1350" u="none" cap="none" strike="noStrike">
                <a:solidFill>
                  <a:srgbClr val="14213D"/>
                </a:solidFill>
                <a:latin typeface="Calibri"/>
                <a:ea typeface="Calibri"/>
                <a:cs typeface="Calibri"/>
                <a:sym typeface="Calibri"/>
              </a:rPr>
              <a:t>VAE</a:t>
            </a:r>
            <a:endParaRPr b="0" i="0" sz="1350" u="none" cap="none" strike="noStrike">
              <a:solidFill>
                <a:schemeClr val="dk1"/>
              </a:solidFill>
              <a:latin typeface="Calibri"/>
              <a:ea typeface="Calibri"/>
              <a:cs typeface="Calibri"/>
              <a:sym typeface="Calibri"/>
            </a:endParaRPr>
          </a:p>
        </p:txBody>
      </p:sp>
      <p:sp>
        <p:nvSpPr>
          <p:cNvPr id="517" name="Google Shape;517;p16"/>
          <p:cNvSpPr/>
          <p:nvPr/>
        </p:nvSpPr>
        <p:spPr>
          <a:xfrm>
            <a:off x="2095500" y="3200400"/>
            <a:ext cx="1286700" cy="228600"/>
          </a:xfrm>
          <a:prstGeom prst="rect">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6"/>
          <p:cNvSpPr txBox="1"/>
          <p:nvPr/>
        </p:nvSpPr>
        <p:spPr>
          <a:xfrm>
            <a:off x="3432956" y="3200400"/>
            <a:ext cx="444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69.9</a:t>
            </a:r>
            <a:endParaRPr b="0" i="0" sz="1300" u="none" cap="none" strike="noStrike">
              <a:solidFill>
                <a:schemeClr val="dk1"/>
              </a:solidFill>
              <a:latin typeface="Calibri"/>
              <a:ea typeface="Calibri"/>
              <a:cs typeface="Calibri"/>
              <a:sym typeface="Calibri"/>
            </a:endParaRPr>
          </a:p>
        </p:txBody>
      </p:sp>
      <p:sp>
        <p:nvSpPr>
          <p:cNvPr id="519" name="Google Shape;519;p16"/>
          <p:cNvSpPr txBox="1"/>
          <p:nvPr/>
        </p:nvSpPr>
        <p:spPr>
          <a:xfrm>
            <a:off x="812800" y="3517900"/>
            <a:ext cx="1238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350"/>
              <a:buFont typeface="Calibri"/>
              <a:buNone/>
            </a:pPr>
            <a:r>
              <a:rPr b="1" i="0" lang="en-US" sz="1350" u="none" cap="none" strike="noStrike">
                <a:solidFill>
                  <a:srgbClr val="14213D"/>
                </a:solidFill>
                <a:latin typeface="Calibri"/>
                <a:ea typeface="Calibri"/>
                <a:cs typeface="Calibri"/>
                <a:sym typeface="Calibri"/>
              </a:rPr>
              <a:t>BlockPCA</a:t>
            </a:r>
            <a:endParaRPr b="0" i="0" sz="1350" u="none" cap="none" strike="noStrike">
              <a:solidFill>
                <a:schemeClr val="dk1"/>
              </a:solidFill>
              <a:latin typeface="Calibri"/>
              <a:ea typeface="Calibri"/>
              <a:cs typeface="Calibri"/>
              <a:sym typeface="Calibri"/>
            </a:endParaRPr>
          </a:p>
        </p:txBody>
      </p:sp>
      <p:sp>
        <p:nvSpPr>
          <p:cNvPr id="520" name="Google Shape;520;p16"/>
          <p:cNvSpPr/>
          <p:nvPr/>
        </p:nvSpPr>
        <p:spPr>
          <a:xfrm>
            <a:off x="2095500" y="3517900"/>
            <a:ext cx="1801800" cy="228600"/>
          </a:xfrm>
          <a:prstGeom prst="rect">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6"/>
          <p:cNvSpPr txBox="1"/>
          <p:nvPr/>
        </p:nvSpPr>
        <p:spPr>
          <a:xfrm>
            <a:off x="3948208" y="3517900"/>
            <a:ext cx="444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97.8</a:t>
            </a:r>
            <a:endParaRPr b="0" i="0" sz="1300" u="none" cap="none" strike="noStrike">
              <a:solidFill>
                <a:schemeClr val="dk1"/>
              </a:solidFill>
              <a:latin typeface="Calibri"/>
              <a:ea typeface="Calibri"/>
              <a:cs typeface="Calibri"/>
              <a:sym typeface="Calibri"/>
            </a:endParaRPr>
          </a:p>
        </p:txBody>
      </p:sp>
      <p:sp>
        <p:nvSpPr>
          <p:cNvPr id="522" name="Google Shape;522;p16"/>
          <p:cNvSpPr txBox="1"/>
          <p:nvPr/>
        </p:nvSpPr>
        <p:spPr>
          <a:xfrm>
            <a:off x="812800" y="3860800"/>
            <a:ext cx="2540100" cy="1650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6A7280"/>
              </a:buClr>
              <a:buSzPts val="900"/>
              <a:buFont typeface="Calibri"/>
              <a:buNone/>
            </a:pPr>
            <a:r>
              <a:rPr b="1" i="0" lang="en-US" sz="900" u="none" cap="none" strike="noStrike">
                <a:solidFill>
                  <a:srgbClr val="6A7280"/>
                </a:solidFill>
                <a:latin typeface="Calibri"/>
                <a:ea typeface="Calibri"/>
                <a:cs typeface="Calibri"/>
                <a:sym typeface="Calibri"/>
              </a:rPr>
              <a:t>SUPERVISED</a:t>
            </a:r>
            <a:endParaRPr b="0" i="0" sz="900" u="none" cap="none" strike="noStrike">
              <a:solidFill>
                <a:schemeClr val="dk1"/>
              </a:solidFill>
              <a:latin typeface="Calibri"/>
              <a:ea typeface="Calibri"/>
              <a:cs typeface="Calibri"/>
              <a:sym typeface="Calibri"/>
            </a:endParaRPr>
          </a:p>
        </p:txBody>
      </p:sp>
      <p:sp>
        <p:nvSpPr>
          <p:cNvPr id="523" name="Google Shape;523;p16"/>
          <p:cNvSpPr txBox="1"/>
          <p:nvPr/>
        </p:nvSpPr>
        <p:spPr>
          <a:xfrm>
            <a:off x="812800" y="4051300"/>
            <a:ext cx="1238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350"/>
              <a:buFont typeface="Calibri"/>
              <a:buNone/>
            </a:pPr>
            <a:r>
              <a:rPr b="1" i="0" lang="en-US" sz="1350" u="none" cap="none" strike="noStrike">
                <a:solidFill>
                  <a:srgbClr val="14213D"/>
                </a:solidFill>
                <a:latin typeface="Calibri"/>
                <a:ea typeface="Calibri"/>
                <a:cs typeface="Calibri"/>
                <a:sym typeface="Calibri"/>
              </a:rPr>
              <a:t>LDA</a:t>
            </a:r>
            <a:endParaRPr b="0" i="0" sz="1350" u="none" cap="none" strike="noStrike">
              <a:solidFill>
                <a:schemeClr val="dk1"/>
              </a:solidFill>
              <a:latin typeface="Calibri"/>
              <a:ea typeface="Calibri"/>
              <a:cs typeface="Calibri"/>
              <a:sym typeface="Calibri"/>
            </a:endParaRPr>
          </a:p>
        </p:txBody>
      </p:sp>
      <p:sp>
        <p:nvSpPr>
          <p:cNvPr id="524" name="Google Shape;524;p16"/>
          <p:cNvSpPr/>
          <p:nvPr/>
        </p:nvSpPr>
        <p:spPr>
          <a:xfrm>
            <a:off x="2095500" y="4051300"/>
            <a:ext cx="1810800" cy="228600"/>
          </a:xfrm>
          <a:prstGeom prst="rect">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6"/>
          <p:cNvSpPr txBox="1"/>
          <p:nvPr/>
        </p:nvSpPr>
        <p:spPr>
          <a:xfrm>
            <a:off x="3957047" y="4051300"/>
            <a:ext cx="444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98.3</a:t>
            </a:r>
            <a:endParaRPr b="0" i="0" sz="1300" u="none" cap="none" strike="noStrike">
              <a:solidFill>
                <a:schemeClr val="dk1"/>
              </a:solidFill>
              <a:latin typeface="Calibri"/>
              <a:ea typeface="Calibri"/>
              <a:cs typeface="Calibri"/>
              <a:sym typeface="Calibri"/>
            </a:endParaRPr>
          </a:p>
        </p:txBody>
      </p:sp>
      <p:sp>
        <p:nvSpPr>
          <p:cNvPr id="526" name="Google Shape;526;p16"/>
          <p:cNvSpPr txBox="1"/>
          <p:nvPr/>
        </p:nvSpPr>
        <p:spPr>
          <a:xfrm>
            <a:off x="812800" y="4394200"/>
            <a:ext cx="2540100" cy="1650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8E2463"/>
              </a:buClr>
              <a:buSzPts val="900"/>
              <a:buFont typeface="Calibri"/>
              <a:buNone/>
            </a:pPr>
            <a:r>
              <a:rPr b="1" i="0" lang="en-US" sz="900" u="none" cap="none" strike="noStrike">
                <a:solidFill>
                  <a:srgbClr val="8E2463"/>
                </a:solidFill>
                <a:latin typeface="Calibri"/>
                <a:ea typeface="Calibri"/>
                <a:cs typeface="Calibri"/>
                <a:sym typeface="Calibri"/>
              </a:rPr>
              <a:t>EMMI (OURS)</a:t>
            </a:r>
            <a:endParaRPr b="0" i="0" sz="900" u="none" cap="none" strike="noStrike">
              <a:solidFill>
                <a:schemeClr val="dk1"/>
              </a:solidFill>
              <a:latin typeface="Calibri"/>
              <a:ea typeface="Calibri"/>
              <a:cs typeface="Calibri"/>
              <a:sym typeface="Calibri"/>
            </a:endParaRPr>
          </a:p>
        </p:txBody>
      </p:sp>
      <p:sp>
        <p:nvSpPr>
          <p:cNvPr id="527" name="Google Shape;527;p16"/>
          <p:cNvSpPr txBox="1"/>
          <p:nvPr/>
        </p:nvSpPr>
        <p:spPr>
          <a:xfrm>
            <a:off x="812800" y="4584700"/>
            <a:ext cx="1238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350"/>
              <a:buFont typeface="Calibri"/>
              <a:buNone/>
            </a:pPr>
            <a:r>
              <a:rPr b="1" i="0" lang="en-US" sz="1350" u="none" cap="none" strike="noStrike">
                <a:solidFill>
                  <a:srgbClr val="14213D"/>
                </a:solidFill>
                <a:latin typeface="Calibri"/>
                <a:ea typeface="Calibri"/>
                <a:cs typeface="Calibri"/>
                <a:sym typeface="Calibri"/>
              </a:rPr>
              <a:t>TaskAgnosticAE</a:t>
            </a:r>
            <a:endParaRPr b="0" i="0" sz="1350" u="none" cap="none" strike="noStrike">
              <a:solidFill>
                <a:schemeClr val="dk1"/>
              </a:solidFill>
              <a:latin typeface="Calibri"/>
              <a:ea typeface="Calibri"/>
              <a:cs typeface="Calibri"/>
              <a:sym typeface="Calibri"/>
            </a:endParaRPr>
          </a:p>
        </p:txBody>
      </p:sp>
      <p:sp>
        <p:nvSpPr>
          <p:cNvPr id="528" name="Google Shape;528;p16"/>
          <p:cNvSpPr/>
          <p:nvPr/>
        </p:nvSpPr>
        <p:spPr>
          <a:xfrm>
            <a:off x="2095500" y="4584700"/>
            <a:ext cx="1662900" cy="228600"/>
          </a:xfrm>
          <a:prstGeom prst="rect">
            <a:avLst/>
          </a:prstGeom>
          <a:solidFill>
            <a:srgbClr val="8E2463"/>
          </a:solidFill>
          <a:ln cap="flat" cmpd="sng" w="12700">
            <a:solidFill>
              <a:srgbClr val="8E2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6"/>
          <p:cNvSpPr txBox="1"/>
          <p:nvPr/>
        </p:nvSpPr>
        <p:spPr>
          <a:xfrm>
            <a:off x="3809175" y="4584700"/>
            <a:ext cx="444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90.3</a:t>
            </a:r>
            <a:endParaRPr b="0" i="0" sz="1300" u="none" cap="none" strike="noStrike">
              <a:solidFill>
                <a:schemeClr val="dk1"/>
              </a:solidFill>
              <a:latin typeface="Calibri"/>
              <a:ea typeface="Calibri"/>
              <a:cs typeface="Calibri"/>
              <a:sym typeface="Calibri"/>
            </a:endParaRPr>
          </a:p>
        </p:txBody>
      </p:sp>
      <p:sp>
        <p:nvSpPr>
          <p:cNvPr id="530" name="Google Shape;530;p16"/>
          <p:cNvSpPr txBox="1"/>
          <p:nvPr/>
        </p:nvSpPr>
        <p:spPr>
          <a:xfrm>
            <a:off x="812800" y="4902200"/>
            <a:ext cx="1238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350"/>
              <a:buFont typeface="Calibri"/>
              <a:buNone/>
            </a:pPr>
            <a:r>
              <a:rPr b="1" i="0" lang="en-US" sz="1350" u="none" cap="none" strike="noStrike">
                <a:solidFill>
                  <a:srgbClr val="14213D"/>
                </a:solidFill>
                <a:latin typeface="Calibri"/>
                <a:ea typeface="Calibri"/>
                <a:cs typeface="Calibri"/>
                <a:sym typeface="Calibri"/>
              </a:rPr>
              <a:t>TaskAwareAE</a:t>
            </a:r>
            <a:endParaRPr b="0" i="0" sz="1350" u="none" cap="none" strike="noStrike">
              <a:solidFill>
                <a:schemeClr val="dk1"/>
              </a:solidFill>
              <a:latin typeface="Calibri"/>
              <a:ea typeface="Calibri"/>
              <a:cs typeface="Calibri"/>
              <a:sym typeface="Calibri"/>
            </a:endParaRPr>
          </a:p>
        </p:txBody>
      </p:sp>
      <p:sp>
        <p:nvSpPr>
          <p:cNvPr id="531" name="Google Shape;531;p16"/>
          <p:cNvSpPr/>
          <p:nvPr/>
        </p:nvSpPr>
        <p:spPr>
          <a:xfrm>
            <a:off x="2095500" y="4902200"/>
            <a:ext cx="1810500" cy="228600"/>
          </a:xfrm>
          <a:prstGeom prst="rect">
            <a:avLst/>
          </a:prstGeom>
          <a:solidFill>
            <a:srgbClr val="8E2463"/>
          </a:solidFill>
          <a:ln cap="flat" cmpd="sng" w="12700">
            <a:solidFill>
              <a:srgbClr val="8E2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6"/>
          <p:cNvSpPr txBox="1"/>
          <p:nvPr/>
        </p:nvSpPr>
        <p:spPr>
          <a:xfrm>
            <a:off x="3956863" y="4902200"/>
            <a:ext cx="444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98.3</a:t>
            </a:r>
            <a:endParaRPr b="0" i="0" sz="1300" u="none" cap="none" strike="noStrike">
              <a:solidFill>
                <a:schemeClr val="dk1"/>
              </a:solidFill>
              <a:latin typeface="Calibri"/>
              <a:ea typeface="Calibri"/>
              <a:cs typeface="Calibri"/>
              <a:sym typeface="Calibri"/>
            </a:endParaRPr>
          </a:p>
        </p:txBody>
      </p:sp>
      <p:cxnSp>
        <p:nvCxnSpPr>
          <p:cNvPr id="533" name="Google Shape;533;p16"/>
          <p:cNvCxnSpPr/>
          <p:nvPr/>
        </p:nvCxnSpPr>
        <p:spPr>
          <a:xfrm>
            <a:off x="2095500" y="2006600"/>
            <a:ext cx="0" cy="279300"/>
          </a:xfrm>
          <a:prstGeom prst="straightConnector1">
            <a:avLst/>
          </a:prstGeom>
          <a:noFill/>
          <a:ln cap="flat" cmpd="sng" w="12700">
            <a:solidFill>
              <a:srgbClr val="8A96AD"/>
            </a:solidFill>
            <a:prstDash val="solid"/>
            <a:round/>
            <a:headEnd len="sm" w="sm" type="none"/>
            <a:tailEnd len="sm" w="sm" type="none"/>
          </a:ln>
        </p:spPr>
      </p:cxnSp>
      <p:cxnSp>
        <p:nvCxnSpPr>
          <p:cNvPr id="534" name="Google Shape;534;p16"/>
          <p:cNvCxnSpPr/>
          <p:nvPr/>
        </p:nvCxnSpPr>
        <p:spPr>
          <a:xfrm>
            <a:off x="2095500" y="2540000"/>
            <a:ext cx="0" cy="1231800"/>
          </a:xfrm>
          <a:prstGeom prst="straightConnector1">
            <a:avLst/>
          </a:prstGeom>
          <a:noFill/>
          <a:ln cap="flat" cmpd="sng" w="12700">
            <a:solidFill>
              <a:srgbClr val="8A96AD"/>
            </a:solidFill>
            <a:prstDash val="solid"/>
            <a:round/>
            <a:headEnd len="sm" w="sm" type="none"/>
            <a:tailEnd len="sm" w="sm" type="none"/>
          </a:ln>
        </p:spPr>
      </p:cxnSp>
      <p:cxnSp>
        <p:nvCxnSpPr>
          <p:cNvPr id="535" name="Google Shape;535;p16"/>
          <p:cNvCxnSpPr/>
          <p:nvPr/>
        </p:nvCxnSpPr>
        <p:spPr>
          <a:xfrm>
            <a:off x="2095500" y="4025900"/>
            <a:ext cx="0" cy="279300"/>
          </a:xfrm>
          <a:prstGeom prst="straightConnector1">
            <a:avLst/>
          </a:prstGeom>
          <a:noFill/>
          <a:ln cap="flat" cmpd="sng" w="12700">
            <a:solidFill>
              <a:srgbClr val="8A96AD"/>
            </a:solidFill>
            <a:prstDash val="solid"/>
            <a:round/>
            <a:headEnd len="sm" w="sm" type="none"/>
            <a:tailEnd len="sm" w="sm" type="none"/>
          </a:ln>
        </p:spPr>
      </p:cxnSp>
      <p:cxnSp>
        <p:nvCxnSpPr>
          <p:cNvPr id="536" name="Google Shape;536;p16"/>
          <p:cNvCxnSpPr/>
          <p:nvPr/>
        </p:nvCxnSpPr>
        <p:spPr>
          <a:xfrm>
            <a:off x="2095500" y="4559300"/>
            <a:ext cx="0" cy="597000"/>
          </a:xfrm>
          <a:prstGeom prst="straightConnector1">
            <a:avLst/>
          </a:prstGeom>
          <a:noFill/>
          <a:ln cap="flat" cmpd="sng" w="12700">
            <a:solidFill>
              <a:srgbClr val="8A96AD"/>
            </a:solidFill>
            <a:prstDash val="solid"/>
            <a:round/>
            <a:headEnd len="sm" w="sm" type="none"/>
            <a:tailEnd len="sm" w="sm" type="none"/>
          </a:ln>
        </p:spPr>
      </p:cxnSp>
      <p:sp>
        <p:nvSpPr>
          <p:cNvPr id="537" name="Google Shape;537;p16"/>
          <p:cNvSpPr txBox="1"/>
          <p:nvPr/>
        </p:nvSpPr>
        <p:spPr>
          <a:xfrm>
            <a:off x="812800" y="5295900"/>
            <a:ext cx="4064100" cy="17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7280"/>
              </a:buClr>
              <a:buSzPts val="1150"/>
              <a:buFont typeface="Calibri"/>
              <a:buNone/>
            </a:pPr>
            <a:r>
              <a:rPr b="0" i="1" lang="en-US" sz="1150" u="none" cap="none" strike="noStrike">
                <a:solidFill>
                  <a:srgbClr val="6A7280"/>
                </a:solidFill>
                <a:latin typeface="Calibri"/>
                <a:ea typeface="Calibri"/>
                <a:cs typeface="Calibri"/>
                <a:sym typeface="Calibri"/>
              </a:rPr>
              <a:t>On CLIP, every method loses at most 4.5 pt</a:t>
            </a:r>
            <a:endParaRPr b="0" i="0" sz="1150" u="none" cap="none" strike="noStrike">
              <a:solidFill>
                <a:schemeClr val="dk1"/>
              </a:solidFill>
              <a:latin typeface="Calibri"/>
              <a:ea typeface="Calibri"/>
              <a:cs typeface="Calibri"/>
              <a:sym typeface="Calibri"/>
            </a:endParaRPr>
          </a:p>
        </p:txBody>
      </p:sp>
      <p:cxnSp>
        <p:nvCxnSpPr>
          <p:cNvPr id="538" name="Google Shape;538;p16"/>
          <p:cNvCxnSpPr/>
          <p:nvPr/>
        </p:nvCxnSpPr>
        <p:spPr>
          <a:xfrm>
            <a:off x="5080000" y="1587500"/>
            <a:ext cx="0" cy="3848100"/>
          </a:xfrm>
          <a:prstGeom prst="straightConnector1">
            <a:avLst/>
          </a:prstGeom>
          <a:noFill/>
          <a:ln cap="flat" cmpd="sng" w="9525">
            <a:solidFill>
              <a:srgbClr val="DCD9D0"/>
            </a:solidFill>
            <a:prstDash val="solid"/>
            <a:round/>
            <a:headEnd len="sm" w="sm" type="none"/>
            <a:tailEnd len="sm" w="sm" type="none"/>
          </a:ln>
        </p:spPr>
      </p:cxnSp>
      <p:sp>
        <p:nvSpPr>
          <p:cNvPr id="539" name="Google Shape;539;p16"/>
          <p:cNvSpPr txBox="1"/>
          <p:nvPr/>
        </p:nvSpPr>
        <p:spPr>
          <a:xfrm>
            <a:off x="5397500" y="1549400"/>
            <a:ext cx="59817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2100"/>
              <a:buFont typeface="Calibri"/>
              <a:buNone/>
            </a:pPr>
            <a:r>
              <a:rPr b="1" i="0" lang="en-US" sz="2100" u="none" cap="none" strike="noStrike">
                <a:solidFill>
                  <a:srgbClr val="14213D"/>
                </a:solidFill>
                <a:latin typeface="Calibri"/>
                <a:ea typeface="Calibri"/>
                <a:cs typeface="Calibri"/>
                <a:sym typeface="Calibri"/>
              </a:rPr>
              <a:t>Why is the small encoder sensitive?</a:t>
            </a:r>
            <a:r>
              <a:rPr b="0" i="1" lang="en-US" sz="1150" u="none" cap="none" strike="noStrike">
                <a:solidFill>
                  <a:srgbClr val="8A96AD"/>
                </a:solidFill>
                <a:latin typeface="Calibri"/>
                <a:ea typeface="Calibri"/>
                <a:cs typeface="Calibri"/>
                <a:sym typeface="Calibri"/>
              </a:rPr>
              <a:t>   hypotheses, untested</a:t>
            </a:r>
            <a:endParaRPr b="0" i="0" sz="2100" u="none" cap="none" strike="noStrike">
              <a:solidFill>
                <a:schemeClr val="dk1"/>
              </a:solidFill>
              <a:latin typeface="Calibri"/>
              <a:ea typeface="Calibri"/>
              <a:cs typeface="Calibri"/>
              <a:sym typeface="Calibri"/>
            </a:endParaRPr>
          </a:p>
        </p:txBody>
      </p:sp>
      <p:sp>
        <p:nvSpPr>
          <p:cNvPr id="540" name="Google Shape;540;p16"/>
          <p:cNvSpPr/>
          <p:nvPr/>
        </p:nvSpPr>
        <p:spPr>
          <a:xfrm>
            <a:off x="5397500" y="1917700"/>
            <a:ext cx="203100" cy="203100"/>
          </a:xfrm>
          <a:prstGeom prst="roundRect">
            <a:avLst>
              <a:gd fmla="val 22500" name="adj"/>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6"/>
          <p:cNvSpPr txBox="1"/>
          <p:nvPr/>
        </p:nvSpPr>
        <p:spPr>
          <a:xfrm>
            <a:off x="5397500" y="1917700"/>
            <a:ext cx="203100" cy="20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6F2"/>
              </a:buClr>
              <a:buSzPts val="1250"/>
              <a:buFont typeface="Calibri"/>
              <a:buNone/>
            </a:pPr>
            <a:r>
              <a:rPr b="1" i="0" lang="en-US" sz="1250" u="none" cap="none" strike="noStrike">
                <a:solidFill>
                  <a:srgbClr val="F7F6F2"/>
                </a:solidFill>
                <a:latin typeface="Calibri"/>
                <a:ea typeface="Calibri"/>
                <a:cs typeface="Calibri"/>
                <a:sym typeface="Calibri"/>
              </a:rPr>
              <a:t>1</a:t>
            </a:r>
            <a:endParaRPr b="0" i="0" sz="1250" u="none" cap="none" strike="noStrike">
              <a:solidFill>
                <a:schemeClr val="dk1"/>
              </a:solidFill>
              <a:latin typeface="Calibri"/>
              <a:ea typeface="Calibri"/>
              <a:cs typeface="Calibri"/>
              <a:sym typeface="Calibri"/>
            </a:endParaRPr>
          </a:p>
        </p:txBody>
      </p:sp>
      <p:sp>
        <p:nvSpPr>
          <p:cNvPr id="542" name="Google Shape;542;p16"/>
          <p:cNvSpPr txBox="1"/>
          <p:nvPr/>
        </p:nvSpPr>
        <p:spPr>
          <a:xfrm>
            <a:off x="5702300" y="1905000"/>
            <a:ext cx="56769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50"/>
              <a:buFont typeface="Calibri"/>
              <a:buNone/>
            </a:pPr>
            <a:r>
              <a:rPr b="1" i="0" lang="en-US" sz="1550" u="none" cap="none" strike="noStrike">
                <a:solidFill>
                  <a:srgbClr val="14213D"/>
                </a:solidFill>
                <a:latin typeface="Calibri"/>
                <a:ea typeface="Calibri"/>
                <a:cs typeface="Calibri"/>
                <a:sym typeface="Calibri"/>
              </a:rPr>
              <a:t>What goes wrong: PCA, AE and VAE keep what varies most</a:t>
            </a:r>
            <a:endParaRPr b="0" i="0" sz="1550" u="none" cap="none" strike="noStrike">
              <a:solidFill>
                <a:schemeClr val="dk1"/>
              </a:solidFill>
              <a:latin typeface="Calibri"/>
              <a:ea typeface="Calibri"/>
              <a:cs typeface="Calibri"/>
              <a:sym typeface="Calibri"/>
            </a:endParaRPr>
          </a:p>
        </p:txBody>
      </p:sp>
      <p:sp>
        <p:nvSpPr>
          <p:cNvPr id="543" name="Google Shape;543;p16"/>
          <p:cNvSpPr txBox="1"/>
          <p:nvPr/>
        </p:nvSpPr>
        <p:spPr>
          <a:xfrm>
            <a:off x="5702300" y="2133600"/>
            <a:ext cx="5550000" cy="35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656"/>
              </a:buClr>
              <a:buSzPts val="1300"/>
              <a:buFont typeface="Calibri"/>
              <a:buNone/>
            </a:pPr>
            <a:r>
              <a:rPr b="0" i="0" lang="en-US" sz="1300" u="none" cap="none" strike="noStrike">
                <a:solidFill>
                  <a:srgbClr val="3D4656"/>
                </a:solidFill>
                <a:latin typeface="Calibri"/>
                <a:ea typeface="Calibri"/>
                <a:cs typeface="Calibri"/>
                <a:sym typeface="Calibri"/>
              </a:rPr>
              <a:t>The match signal likely sits in the difference and product blocks. A per-block budget (BlockPCA) or a task objective (LDA, TaskAwareAE) keeps it.</a:t>
            </a:r>
            <a:endParaRPr b="0" i="0" sz="1300" u="none" cap="none" strike="noStrike">
              <a:solidFill>
                <a:schemeClr val="dk1"/>
              </a:solidFill>
              <a:latin typeface="Calibri"/>
              <a:ea typeface="Calibri"/>
              <a:cs typeface="Calibri"/>
              <a:sym typeface="Calibri"/>
            </a:endParaRPr>
          </a:p>
        </p:txBody>
      </p:sp>
      <p:sp>
        <p:nvSpPr>
          <p:cNvPr id="544" name="Google Shape;544;p16"/>
          <p:cNvSpPr/>
          <p:nvPr/>
        </p:nvSpPr>
        <p:spPr>
          <a:xfrm>
            <a:off x="5397500" y="2667000"/>
            <a:ext cx="203100" cy="203100"/>
          </a:xfrm>
          <a:prstGeom prst="roundRect">
            <a:avLst>
              <a:gd fmla="val 22500" name="adj"/>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6"/>
          <p:cNvSpPr txBox="1"/>
          <p:nvPr/>
        </p:nvSpPr>
        <p:spPr>
          <a:xfrm>
            <a:off x="5397500" y="2667000"/>
            <a:ext cx="203100" cy="20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6F2"/>
              </a:buClr>
              <a:buSzPts val="1250"/>
              <a:buFont typeface="Calibri"/>
              <a:buNone/>
            </a:pPr>
            <a:r>
              <a:rPr b="1" i="0" lang="en-US" sz="1250" u="none" cap="none" strike="noStrike">
                <a:solidFill>
                  <a:srgbClr val="F7F6F2"/>
                </a:solidFill>
                <a:latin typeface="Calibri"/>
                <a:ea typeface="Calibri"/>
                <a:cs typeface="Calibri"/>
                <a:sym typeface="Calibri"/>
              </a:rPr>
              <a:t>2</a:t>
            </a:r>
            <a:endParaRPr b="0" i="0" sz="1250" u="none" cap="none" strike="noStrike">
              <a:solidFill>
                <a:schemeClr val="dk1"/>
              </a:solidFill>
              <a:latin typeface="Calibri"/>
              <a:ea typeface="Calibri"/>
              <a:cs typeface="Calibri"/>
              <a:sym typeface="Calibri"/>
            </a:endParaRPr>
          </a:p>
        </p:txBody>
      </p:sp>
      <p:sp>
        <p:nvSpPr>
          <p:cNvPr id="546" name="Google Shape;546;p16"/>
          <p:cNvSpPr txBox="1"/>
          <p:nvPr/>
        </p:nvSpPr>
        <p:spPr>
          <a:xfrm>
            <a:off x="5702300" y="2654300"/>
            <a:ext cx="56769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550"/>
              <a:buFont typeface="Calibri"/>
              <a:buNone/>
            </a:pPr>
            <a:r>
              <a:rPr b="1" i="0" lang="en-US" sz="1550" u="none" cap="none" strike="noStrike">
                <a:solidFill>
                  <a:srgbClr val="14213D"/>
                </a:solidFill>
                <a:latin typeface="Calibri"/>
                <a:ea typeface="Calibri"/>
                <a:cs typeface="Calibri"/>
                <a:sym typeface="Calibri"/>
              </a:rPr>
              <a:t>Encoder geometry: MobileCLIP may distribute information differently</a:t>
            </a:r>
            <a:endParaRPr b="0" i="0" sz="1550" u="none" cap="none" strike="noStrike">
              <a:solidFill>
                <a:schemeClr val="dk1"/>
              </a:solidFill>
              <a:latin typeface="Calibri"/>
              <a:ea typeface="Calibri"/>
              <a:cs typeface="Calibri"/>
              <a:sym typeface="Calibri"/>
            </a:endParaRPr>
          </a:p>
        </p:txBody>
      </p:sp>
      <p:sp>
        <p:nvSpPr>
          <p:cNvPr id="547" name="Google Shape;547;p16"/>
          <p:cNvSpPr txBox="1"/>
          <p:nvPr/>
        </p:nvSpPr>
        <p:spPr>
          <a:xfrm>
            <a:off x="5702300" y="2882900"/>
            <a:ext cx="5550000" cy="35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656"/>
              </a:buClr>
              <a:buSzPts val="1300"/>
              <a:buFont typeface="Calibri"/>
              <a:buNone/>
            </a:pPr>
            <a:r>
              <a:rPr b="0" i="0" lang="en-US" sz="1300" u="none" cap="none" strike="noStrike">
                <a:solidFill>
                  <a:srgbClr val="3D4656"/>
                </a:solidFill>
                <a:latin typeface="Calibri"/>
                <a:ea typeface="Calibri"/>
                <a:cs typeface="Calibri"/>
                <a:sym typeface="Calibri"/>
              </a:rPr>
              <a:t>Plausible, but the hardest to show. Test: per-block variance and PCA spectra for both encoders.</a:t>
            </a:r>
            <a:endParaRPr b="0" i="0" sz="1300" u="none" cap="none" strike="noStrike">
              <a:solidFill>
                <a:schemeClr val="dk1"/>
              </a:solidFill>
              <a:latin typeface="Calibri"/>
              <a:ea typeface="Calibri"/>
              <a:cs typeface="Calibri"/>
              <a:sym typeface="Calibri"/>
            </a:endParaRPr>
          </a:p>
        </p:txBody>
      </p:sp>
      <p:cxnSp>
        <p:nvCxnSpPr>
          <p:cNvPr id="548" name="Google Shape;548;p16"/>
          <p:cNvCxnSpPr/>
          <p:nvPr/>
        </p:nvCxnSpPr>
        <p:spPr>
          <a:xfrm>
            <a:off x="5397500" y="3454400"/>
            <a:ext cx="5854800" cy="0"/>
          </a:xfrm>
          <a:prstGeom prst="straightConnector1">
            <a:avLst/>
          </a:prstGeom>
          <a:noFill/>
          <a:ln cap="flat" cmpd="sng" w="9525">
            <a:solidFill>
              <a:srgbClr val="DCD9D0"/>
            </a:solidFill>
            <a:prstDash val="solid"/>
            <a:round/>
            <a:headEnd len="sm" w="sm" type="none"/>
            <a:tailEnd len="sm" w="sm" type="none"/>
          </a:ln>
        </p:spPr>
      </p:cxnSp>
      <p:sp>
        <p:nvSpPr>
          <p:cNvPr id="549" name="Google Shape;549;p16"/>
          <p:cNvSpPr txBox="1"/>
          <p:nvPr/>
        </p:nvSpPr>
        <p:spPr>
          <a:xfrm>
            <a:off x="5397500" y="3594100"/>
            <a:ext cx="59817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2100"/>
              <a:buFont typeface="Calibri"/>
              <a:buNone/>
            </a:pPr>
            <a:r>
              <a:rPr b="1" i="0" lang="en-US" sz="2100" u="none" cap="none" strike="noStrike">
                <a:solidFill>
                  <a:srgbClr val="14213D"/>
                </a:solidFill>
                <a:latin typeface="Calibri"/>
                <a:ea typeface="Calibri"/>
                <a:cs typeface="Calibri"/>
                <a:sym typeface="Calibri"/>
              </a:rPr>
              <a:t>Why EMMI's AE over LDA and BlockPCA?</a:t>
            </a:r>
            <a:r>
              <a:rPr b="0" i="1" lang="en-US" sz="1150" u="none" cap="none" strike="noStrike">
                <a:solidFill>
                  <a:srgbClr val="8A96AD"/>
                </a:solidFill>
                <a:latin typeface="Calibri"/>
                <a:ea typeface="Calibri"/>
                <a:cs typeface="Calibri"/>
                <a:sym typeface="Calibri"/>
              </a:rPr>
              <a:t>   expected</a:t>
            </a:r>
            <a:endParaRPr b="0" i="0" sz="2100" u="none" cap="none" strike="noStrike">
              <a:solidFill>
                <a:schemeClr val="dk1"/>
              </a:solidFill>
              <a:latin typeface="Calibri"/>
              <a:ea typeface="Calibri"/>
              <a:cs typeface="Calibri"/>
              <a:sym typeface="Calibri"/>
            </a:endParaRPr>
          </a:p>
        </p:txBody>
      </p:sp>
      <p:sp>
        <p:nvSpPr>
          <p:cNvPr id="550" name="Google Shape;550;p16"/>
          <p:cNvSpPr/>
          <p:nvPr/>
        </p:nvSpPr>
        <p:spPr>
          <a:xfrm>
            <a:off x="5397500" y="3962400"/>
            <a:ext cx="203100" cy="203100"/>
          </a:xfrm>
          <a:prstGeom prst="roundRect">
            <a:avLst>
              <a:gd fmla="val 22500" name="adj"/>
            </a:avLst>
          </a:prstGeom>
          <a:solidFill>
            <a:srgbClr val="8E2463"/>
          </a:solidFill>
          <a:ln cap="flat" cmpd="sng" w="12700">
            <a:solidFill>
              <a:srgbClr val="8E2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6"/>
          <p:cNvSpPr txBox="1"/>
          <p:nvPr/>
        </p:nvSpPr>
        <p:spPr>
          <a:xfrm>
            <a:off x="5397500" y="3962400"/>
            <a:ext cx="203100" cy="20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6F2"/>
              </a:buClr>
              <a:buSzPts val="1250"/>
              <a:buFont typeface="Calibri"/>
              <a:buNone/>
            </a:pPr>
            <a:r>
              <a:rPr b="1" i="0" lang="en-US" sz="1250" u="none" cap="none" strike="noStrike">
                <a:solidFill>
                  <a:srgbClr val="F7F6F2"/>
                </a:solidFill>
                <a:latin typeface="Calibri"/>
                <a:ea typeface="Calibri"/>
                <a:cs typeface="Calibri"/>
                <a:sym typeface="Calibri"/>
              </a:rPr>
              <a:t>1</a:t>
            </a:r>
            <a:endParaRPr b="0" i="0" sz="1250" u="none" cap="none" strike="noStrike">
              <a:solidFill>
                <a:schemeClr val="dk1"/>
              </a:solidFill>
              <a:latin typeface="Calibri"/>
              <a:ea typeface="Calibri"/>
              <a:cs typeface="Calibri"/>
              <a:sym typeface="Calibri"/>
            </a:endParaRPr>
          </a:p>
        </p:txBody>
      </p:sp>
      <p:sp>
        <p:nvSpPr>
          <p:cNvPr id="552" name="Google Shape;552;p16"/>
          <p:cNvSpPr txBox="1"/>
          <p:nvPr/>
        </p:nvSpPr>
        <p:spPr>
          <a:xfrm>
            <a:off x="5702300" y="3949700"/>
            <a:ext cx="56769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2463"/>
              </a:buClr>
              <a:buSzPts val="1550"/>
              <a:buFont typeface="Calibri"/>
              <a:buNone/>
            </a:pPr>
            <a:r>
              <a:rPr b="1" i="0" lang="en-US" sz="1550" u="none" cap="none" strike="noStrike">
                <a:solidFill>
                  <a:srgbClr val="8E2463"/>
                </a:solidFill>
                <a:latin typeface="Calibri"/>
                <a:ea typeface="Calibri"/>
                <a:cs typeface="Calibri"/>
                <a:sym typeface="Calibri"/>
              </a:rPr>
              <a:t>TaskAwareAE vs LDA: tied at 98.3</a:t>
            </a:r>
            <a:endParaRPr b="0" i="0" sz="1550" u="none" cap="none" strike="noStrike">
              <a:solidFill>
                <a:schemeClr val="dk1"/>
              </a:solidFill>
              <a:latin typeface="Calibri"/>
              <a:ea typeface="Calibri"/>
              <a:cs typeface="Calibri"/>
              <a:sym typeface="Calibri"/>
            </a:endParaRPr>
          </a:p>
        </p:txBody>
      </p:sp>
      <p:sp>
        <p:nvSpPr>
          <p:cNvPr id="553" name="Google Shape;553;p16"/>
          <p:cNvSpPr txBox="1"/>
          <p:nvPr/>
        </p:nvSpPr>
        <p:spPr>
          <a:xfrm>
            <a:off x="5702300" y="4178300"/>
            <a:ext cx="5550000" cy="35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656"/>
              </a:buClr>
              <a:buSzPts val="1300"/>
              <a:buFont typeface="Calibri"/>
              <a:buNone/>
            </a:pPr>
            <a:r>
              <a:rPr b="0" i="0" lang="en-US" sz="1300" u="none" cap="none" strike="noStrike">
                <a:solidFill>
                  <a:srgbClr val="3D4656"/>
                </a:solidFill>
                <a:latin typeface="Calibri"/>
                <a:ea typeface="Calibri"/>
                <a:cs typeface="Calibri"/>
                <a:sym typeface="Calibri"/>
              </a:rPr>
              <a:t>LDA keeps only what separates the labels; the AE is trained to rebuild the full vector, so the MLLM gets content for open-ended tasks.</a:t>
            </a:r>
            <a:endParaRPr b="0" i="0" sz="1300" u="none" cap="none" strike="noStrike">
              <a:solidFill>
                <a:schemeClr val="dk1"/>
              </a:solidFill>
              <a:latin typeface="Calibri"/>
              <a:ea typeface="Calibri"/>
              <a:cs typeface="Calibri"/>
              <a:sym typeface="Calibri"/>
            </a:endParaRPr>
          </a:p>
        </p:txBody>
      </p:sp>
      <p:sp>
        <p:nvSpPr>
          <p:cNvPr id="554" name="Google Shape;554;p16"/>
          <p:cNvSpPr/>
          <p:nvPr/>
        </p:nvSpPr>
        <p:spPr>
          <a:xfrm>
            <a:off x="5397500" y="4711700"/>
            <a:ext cx="203100" cy="203100"/>
          </a:xfrm>
          <a:prstGeom prst="roundRect">
            <a:avLst>
              <a:gd fmla="val 22500" name="adj"/>
            </a:avLst>
          </a:prstGeom>
          <a:solidFill>
            <a:srgbClr val="8E2463"/>
          </a:solidFill>
          <a:ln cap="flat" cmpd="sng" w="12700">
            <a:solidFill>
              <a:srgbClr val="8E2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6"/>
          <p:cNvSpPr txBox="1"/>
          <p:nvPr/>
        </p:nvSpPr>
        <p:spPr>
          <a:xfrm>
            <a:off x="5397500" y="4711700"/>
            <a:ext cx="203100" cy="20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6F2"/>
              </a:buClr>
              <a:buSzPts val="1250"/>
              <a:buFont typeface="Calibri"/>
              <a:buNone/>
            </a:pPr>
            <a:r>
              <a:rPr b="1" i="0" lang="en-US" sz="1250" u="none" cap="none" strike="noStrike">
                <a:solidFill>
                  <a:srgbClr val="F7F6F2"/>
                </a:solidFill>
                <a:latin typeface="Calibri"/>
                <a:ea typeface="Calibri"/>
                <a:cs typeface="Calibri"/>
                <a:sym typeface="Calibri"/>
              </a:rPr>
              <a:t>2</a:t>
            </a:r>
            <a:endParaRPr b="0" i="0" sz="1250" u="none" cap="none" strike="noStrike">
              <a:solidFill>
                <a:schemeClr val="dk1"/>
              </a:solidFill>
              <a:latin typeface="Calibri"/>
              <a:ea typeface="Calibri"/>
              <a:cs typeface="Calibri"/>
              <a:sym typeface="Calibri"/>
            </a:endParaRPr>
          </a:p>
        </p:txBody>
      </p:sp>
      <p:sp>
        <p:nvSpPr>
          <p:cNvPr id="556" name="Google Shape;556;p16"/>
          <p:cNvSpPr txBox="1"/>
          <p:nvPr/>
        </p:nvSpPr>
        <p:spPr>
          <a:xfrm>
            <a:off x="5702300" y="4699000"/>
            <a:ext cx="56769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2463"/>
              </a:buClr>
              <a:buSzPts val="1550"/>
              <a:buFont typeface="Calibri"/>
              <a:buNone/>
            </a:pPr>
            <a:r>
              <a:rPr b="1" i="0" lang="en-US" sz="1550" u="none" cap="none" strike="noStrike">
                <a:solidFill>
                  <a:srgbClr val="8E2463"/>
                </a:solidFill>
                <a:latin typeface="Calibri"/>
                <a:ea typeface="Calibri"/>
                <a:cs typeface="Calibri"/>
                <a:sym typeface="Calibri"/>
              </a:rPr>
              <a:t>TaskAgnosticAE vs BlockPCA: BlockPCA wins here (97.8 vs 90.3)</a:t>
            </a:r>
            <a:endParaRPr b="0" i="0" sz="1550" u="none" cap="none" strike="noStrike">
              <a:solidFill>
                <a:schemeClr val="dk1"/>
              </a:solidFill>
              <a:latin typeface="Calibri"/>
              <a:ea typeface="Calibri"/>
              <a:cs typeface="Calibri"/>
              <a:sym typeface="Calibri"/>
            </a:endParaRPr>
          </a:p>
        </p:txBody>
      </p:sp>
      <p:sp>
        <p:nvSpPr>
          <p:cNvPr id="557" name="Google Shape;557;p16"/>
          <p:cNvSpPr txBox="1"/>
          <p:nvPr/>
        </p:nvSpPr>
        <p:spPr>
          <a:xfrm>
            <a:off x="5702300" y="4927600"/>
            <a:ext cx="5550000" cy="35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656"/>
              </a:buClr>
              <a:buSzPts val="1300"/>
              <a:buFont typeface="Calibri"/>
              <a:buNone/>
            </a:pPr>
            <a:r>
              <a:rPr b="0" i="0" lang="en-US" sz="1300" u="none" cap="none" strike="noStrike">
                <a:solidFill>
                  <a:srgbClr val="3D4656"/>
                </a:solidFill>
                <a:latin typeface="Calibri"/>
                <a:ea typeface="Calibri"/>
                <a:cs typeface="Calibri"/>
                <a:sym typeface="Calibri"/>
              </a:rPr>
              <a:t>Both are label-free. The AE can be trained with alignment objectives and </a:t>
            </a:r>
            <a:r>
              <a:rPr lang="en-US" sz="1300">
                <a:solidFill>
                  <a:srgbClr val="3D4656"/>
                </a:solidFill>
                <a:latin typeface="Calibri"/>
                <a:ea typeface="Calibri"/>
                <a:cs typeface="Calibri"/>
                <a:sym typeface="Calibri"/>
              </a:rPr>
              <a:t>may adopt better as</a:t>
            </a:r>
            <a:r>
              <a:rPr b="0" i="0" lang="en-US" sz="1300" u="none" cap="none" strike="noStrike">
                <a:solidFill>
                  <a:srgbClr val="3D4656"/>
                </a:solidFill>
                <a:latin typeface="Calibri"/>
                <a:ea typeface="Calibri"/>
                <a:cs typeface="Calibri"/>
                <a:sym typeface="Calibri"/>
              </a:rPr>
              <a:t> modalities grow.</a:t>
            </a:r>
            <a:endParaRPr b="0" i="0" sz="1300" u="none" cap="none" strike="noStrike">
              <a:solidFill>
                <a:schemeClr val="dk1"/>
              </a:solidFill>
              <a:latin typeface="Calibri"/>
              <a:ea typeface="Calibri"/>
              <a:cs typeface="Calibri"/>
              <a:sym typeface="Calibri"/>
            </a:endParaRPr>
          </a:p>
        </p:txBody>
      </p:sp>
      <p:sp>
        <p:nvSpPr>
          <p:cNvPr id="558" name="Google Shape;558;p16"/>
          <p:cNvSpPr/>
          <p:nvPr/>
        </p:nvSpPr>
        <p:spPr>
          <a:xfrm>
            <a:off x="1117589" y="533357"/>
            <a:ext cx="762000" cy="507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6"/>
          <p:cNvSpPr/>
          <p:nvPr/>
        </p:nvSpPr>
        <p:spPr>
          <a:xfrm>
            <a:off x="0" y="0"/>
            <a:ext cx="304800" cy="68580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6"/>
          <p:cNvSpPr/>
          <p:nvPr/>
        </p:nvSpPr>
        <p:spPr>
          <a:xfrm>
            <a:off x="304767" y="6299181"/>
            <a:ext cx="11887200" cy="5589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6"/>
          <p:cNvSpPr/>
          <p:nvPr/>
        </p:nvSpPr>
        <p:spPr>
          <a:xfrm>
            <a:off x="1117534" y="6471872"/>
            <a:ext cx="955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Introduction</a:t>
            </a:r>
            <a:endParaRPr b="0" i="0" sz="1200" u="none" cap="none" strike="noStrike">
              <a:solidFill>
                <a:schemeClr val="dk1"/>
              </a:solidFill>
              <a:latin typeface="Arial"/>
              <a:ea typeface="Arial"/>
              <a:cs typeface="Arial"/>
              <a:sym typeface="Arial"/>
            </a:endParaRPr>
          </a:p>
        </p:txBody>
      </p:sp>
      <p:sp>
        <p:nvSpPr>
          <p:cNvPr id="562" name="Google Shape;562;p16"/>
          <p:cNvSpPr/>
          <p:nvPr/>
        </p:nvSpPr>
        <p:spPr>
          <a:xfrm>
            <a:off x="2218531" y="6471872"/>
            <a:ext cx="914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Framework</a:t>
            </a:r>
            <a:endParaRPr b="0" i="0" sz="1200" u="none" cap="none" strike="noStrike">
              <a:solidFill>
                <a:schemeClr val="dk1"/>
              </a:solidFill>
              <a:latin typeface="Arial"/>
              <a:ea typeface="Arial"/>
              <a:cs typeface="Arial"/>
              <a:sym typeface="Arial"/>
            </a:endParaRPr>
          </a:p>
        </p:txBody>
      </p:sp>
      <p:sp>
        <p:nvSpPr>
          <p:cNvPr id="563" name="Google Shape;563;p16"/>
          <p:cNvSpPr/>
          <p:nvPr/>
        </p:nvSpPr>
        <p:spPr>
          <a:xfrm>
            <a:off x="3285243" y="6471872"/>
            <a:ext cx="660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Solution</a:t>
            </a:r>
            <a:endParaRPr b="0" i="0" sz="1200" u="none" cap="none" strike="noStrike">
              <a:solidFill>
                <a:schemeClr val="dk1"/>
              </a:solidFill>
              <a:latin typeface="Arial"/>
              <a:ea typeface="Arial"/>
              <a:cs typeface="Arial"/>
              <a:sym typeface="Arial"/>
            </a:endParaRPr>
          </a:p>
        </p:txBody>
      </p:sp>
      <p:sp>
        <p:nvSpPr>
          <p:cNvPr id="564" name="Google Shape;564;p16"/>
          <p:cNvSpPr/>
          <p:nvPr/>
        </p:nvSpPr>
        <p:spPr>
          <a:xfrm>
            <a:off x="4140674" y="6471872"/>
            <a:ext cx="924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Evaluation</a:t>
            </a:r>
            <a:endParaRPr b="0" i="0" sz="1200" u="none" cap="none" strike="noStrike">
              <a:solidFill>
                <a:schemeClr val="dk1"/>
              </a:solidFill>
              <a:latin typeface="Arial"/>
              <a:ea typeface="Arial"/>
              <a:cs typeface="Arial"/>
              <a:sym typeface="Arial"/>
            </a:endParaRPr>
          </a:p>
        </p:txBody>
      </p:sp>
      <p:sp>
        <p:nvSpPr>
          <p:cNvPr id="565" name="Google Shape;565;p16"/>
          <p:cNvSpPr/>
          <p:nvPr/>
        </p:nvSpPr>
        <p:spPr>
          <a:xfrm>
            <a:off x="5215930" y="6471872"/>
            <a:ext cx="904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Conclusion</a:t>
            </a:r>
            <a:endParaRPr b="0" i="0" sz="1200" u="none" cap="none" strike="noStrike">
              <a:solidFill>
                <a:schemeClr val="dk1"/>
              </a:solidFill>
              <a:latin typeface="Arial"/>
              <a:ea typeface="Arial"/>
              <a:cs typeface="Arial"/>
              <a:sym typeface="Arial"/>
            </a:endParaRPr>
          </a:p>
        </p:txBody>
      </p:sp>
      <p:sp>
        <p:nvSpPr>
          <p:cNvPr id="566" name="Google Shape;566;p16"/>
          <p:cNvSpPr/>
          <p:nvPr/>
        </p:nvSpPr>
        <p:spPr>
          <a:xfrm>
            <a:off x="6274539" y="6471872"/>
            <a:ext cx="965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Future work</a:t>
            </a:r>
            <a:endParaRPr b="0" i="0" sz="1200" u="none" cap="none" strike="noStrike">
              <a:solidFill>
                <a:schemeClr val="dk1"/>
              </a:solidFill>
              <a:latin typeface="Arial"/>
              <a:ea typeface="Arial"/>
              <a:cs typeface="Arial"/>
              <a:sym typeface="Arial"/>
            </a:endParaRPr>
          </a:p>
        </p:txBody>
      </p:sp>
      <p:sp>
        <p:nvSpPr>
          <p:cNvPr id="567" name="Google Shape;567;p16"/>
          <p:cNvSpPr/>
          <p:nvPr/>
        </p:nvSpPr>
        <p:spPr>
          <a:xfrm>
            <a:off x="11209680" y="6471872"/>
            <a:ext cx="2202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lang="en-US" sz="1200">
                <a:solidFill>
                  <a:srgbClr val="FFFFFF"/>
                </a:solidFill>
              </a:rPr>
              <a:t>11</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17"/>
          <p:cNvSpPr txBox="1"/>
          <p:nvPr>
            <p:ph idx="1" type="body"/>
          </p:nvPr>
        </p:nvSpPr>
        <p:spPr>
          <a:xfrm>
            <a:off x="813816" y="566928"/>
            <a:ext cx="10561200" cy="29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1200"/>
              <a:buNone/>
            </a:pPr>
            <a:r>
              <a:rPr b="1" lang="en-US" sz="1500">
                <a:solidFill>
                  <a:srgbClr val="A64D79"/>
                </a:solidFill>
                <a:latin typeface="Calibri"/>
                <a:ea typeface="Calibri"/>
                <a:cs typeface="Calibri"/>
                <a:sym typeface="Calibri"/>
              </a:rPr>
              <a:t>COMMUNICATION EVALUATION</a:t>
            </a:r>
            <a:endParaRPr sz="1500">
              <a:solidFill>
                <a:srgbClr val="A64D79"/>
              </a:solidFill>
            </a:endParaRPr>
          </a:p>
        </p:txBody>
      </p:sp>
      <p:sp>
        <p:nvSpPr>
          <p:cNvPr id="574" name="Google Shape;574;p17"/>
          <p:cNvSpPr txBox="1"/>
          <p:nvPr>
            <p:ph type="title"/>
          </p:nvPr>
        </p:nvSpPr>
        <p:spPr>
          <a:xfrm>
            <a:off x="813826" y="896100"/>
            <a:ext cx="11295900" cy="64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200"/>
              <a:buFont typeface="Cambria"/>
              <a:buNone/>
            </a:pPr>
            <a:r>
              <a:rPr lang="en-US" sz="3200">
                <a:solidFill>
                  <a:schemeClr val="dk1"/>
                </a:solidFill>
                <a:latin typeface="Georgia"/>
                <a:ea typeface="Georgia"/>
                <a:cs typeface="Georgia"/>
                <a:sym typeface="Georgia"/>
              </a:rPr>
              <a:t>32× smaller payload, 3.4× lower latency on a slow link</a:t>
            </a:r>
            <a:endParaRPr sz="3200">
              <a:latin typeface="Georgia"/>
              <a:ea typeface="Georgia"/>
              <a:cs typeface="Georgia"/>
              <a:sym typeface="Georgia"/>
            </a:endParaRPr>
          </a:p>
        </p:txBody>
      </p:sp>
      <p:pic>
        <p:nvPicPr>
          <p:cNvPr descr="fig2.png" id="575" name="Google Shape;575;p17"/>
          <p:cNvPicPr preferRelativeResize="0"/>
          <p:nvPr/>
        </p:nvPicPr>
        <p:blipFill rotWithShape="1">
          <a:blip r:embed="rId3">
            <a:alphaModFix/>
          </a:blip>
          <a:srcRect b="0" l="0" r="0" t="0"/>
          <a:stretch/>
        </p:blipFill>
        <p:spPr>
          <a:xfrm>
            <a:off x="812800" y="1587500"/>
            <a:ext cx="10566402" cy="3244849"/>
          </a:xfrm>
          <a:prstGeom prst="rect">
            <a:avLst/>
          </a:prstGeom>
          <a:noFill/>
          <a:ln>
            <a:noFill/>
          </a:ln>
        </p:spPr>
      </p:pic>
      <p:sp>
        <p:nvSpPr>
          <p:cNvPr id="576" name="Google Shape;576;p17"/>
          <p:cNvSpPr txBox="1"/>
          <p:nvPr/>
        </p:nvSpPr>
        <p:spPr>
          <a:xfrm>
            <a:off x="812800" y="4895850"/>
            <a:ext cx="10566300" cy="19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7280"/>
              </a:buClr>
              <a:buSzPts val="1200"/>
              <a:buFont typeface="Calibri"/>
              <a:buNone/>
            </a:pPr>
            <a:r>
              <a:rPr b="0" i="1" lang="en-US" sz="1200" u="none" cap="none" strike="noStrike">
                <a:solidFill>
                  <a:srgbClr val="6A7280"/>
                </a:solidFill>
                <a:latin typeface="Calibri"/>
                <a:ea typeface="Calibri"/>
                <a:cs typeface="Calibri"/>
                <a:sym typeface="Calibri"/>
              </a:rPr>
              <a:t>Payload 8,192 B → 256 B. Compute is measured (edge: 1 CPU thread proxy; server: RTX 6000); transmission is payload ÷ bandwidth, so totals are estimated.</a:t>
            </a:r>
            <a:endParaRPr b="0" i="0" sz="1200" u="none" cap="none" strike="noStrike">
              <a:solidFill>
                <a:schemeClr val="dk1"/>
              </a:solidFill>
              <a:latin typeface="Calibri"/>
              <a:ea typeface="Calibri"/>
              <a:cs typeface="Calibri"/>
              <a:sym typeface="Calibri"/>
            </a:endParaRPr>
          </a:p>
        </p:txBody>
      </p:sp>
      <p:sp>
        <p:nvSpPr>
          <p:cNvPr id="577" name="Google Shape;577;p17"/>
          <p:cNvSpPr/>
          <p:nvPr/>
        </p:nvSpPr>
        <p:spPr>
          <a:xfrm>
            <a:off x="812800" y="5308600"/>
            <a:ext cx="50700" cy="711300"/>
          </a:xfrm>
          <a:prstGeom prst="rect">
            <a:avLst/>
          </a:prstGeom>
          <a:solidFill>
            <a:srgbClr val="8E2463"/>
          </a:solidFill>
          <a:ln cap="flat" cmpd="sng" w="12700">
            <a:solidFill>
              <a:srgbClr val="8E2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7"/>
          <p:cNvSpPr txBox="1"/>
          <p:nvPr/>
        </p:nvSpPr>
        <p:spPr>
          <a:xfrm>
            <a:off x="990600" y="5308600"/>
            <a:ext cx="4953000" cy="15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2463"/>
              </a:buClr>
              <a:buSzPts val="1000"/>
              <a:buFont typeface="Calibri"/>
              <a:buNone/>
            </a:pPr>
            <a:r>
              <a:rPr b="1" i="0" lang="en-US" sz="1000" u="none" cap="none" strike="noStrike">
                <a:solidFill>
                  <a:srgbClr val="8E2463"/>
                </a:solidFill>
                <a:latin typeface="Calibri"/>
                <a:ea typeface="Calibri"/>
                <a:cs typeface="Calibri"/>
                <a:sym typeface="Calibri"/>
              </a:rPr>
              <a:t>OBSERVATION 1</a:t>
            </a:r>
            <a:endParaRPr b="0" i="0" sz="1000" u="none" cap="none" strike="noStrike">
              <a:solidFill>
                <a:schemeClr val="dk1"/>
              </a:solidFill>
              <a:latin typeface="Calibri"/>
              <a:ea typeface="Calibri"/>
              <a:cs typeface="Calibri"/>
              <a:sym typeface="Calibri"/>
            </a:endParaRPr>
          </a:p>
        </p:txBody>
      </p:sp>
      <p:sp>
        <p:nvSpPr>
          <p:cNvPr id="579" name="Google Shape;579;p17"/>
          <p:cNvSpPr txBox="1"/>
          <p:nvPr/>
        </p:nvSpPr>
        <p:spPr>
          <a:xfrm>
            <a:off x="990600" y="5461000"/>
            <a:ext cx="4953000" cy="20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600"/>
              <a:buFont typeface="Calibri"/>
              <a:buNone/>
            </a:pPr>
            <a:r>
              <a:rPr b="1" i="0" lang="en-US" sz="1600" u="none" cap="none" strike="noStrike">
                <a:solidFill>
                  <a:srgbClr val="14213D"/>
                </a:solidFill>
                <a:latin typeface="Calibri"/>
                <a:ea typeface="Calibri"/>
                <a:cs typeface="Calibri"/>
                <a:sym typeface="Calibri"/>
              </a:rPr>
              <a:t>On a slow link, the payload dominates</a:t>
            </a:r>
            <a:endParaRPr b="0" i="0" sz="1600" u="none" cap="none" strike="noStrike">
              <a:solidFill>
                <a:schemeClr val="dk1"/>
              </a:solidFill>
              <a:latin typeface="Calibri"/>
              <a:ea typeface="Calibri"/>
              <a:cs typeface="Calibri"/>
              <a:sym typeface="Calibri"/>
            </a:endParaRPr>
          </a:p>
        </p:txBody>
      </p:sp>
      <p:sp>
        <p:nvSpPr>
          <p:cNvPr id="580" name="Google Shape;580;p17"/>
          <p:cNvSpPr txBox="1"/>
          <p:nvPr/>
        </p:nvSpPr>
        <p:spPr>
          <a:xfrm>
            <a:off x="990600" y="5676900"/>
            <a:ext cx="4826100" cy="35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656"/>
              </a:buClr>
              <a:buSzPts val="1300"/>
              <a:buFont typeface="Calibri"/>
              <a:buNone/>
            </a:pPr>
            <a:r>
              <a:rPr b="0" i="0" lang="en-US" sz="1300" u="none" cap="none" strike="noStrike">
                <a:solidFill>
                  <a:srgbClr val="3D4656"/>
                </a:solidFill>
                <a:latin typeface="Calibri"/>
                <a:ea typeface="Calibri"/>
                <a:cs typeface="Calibri"/>
                <a:sym typeface="Calibri"/>
              </a:rPr>
              <a:t>Transmission is ~73% of uncompressed latency; EMMI cuts it from 655 to 20 ms.</a:t>
            </a:r>
            <a:endParaRPr b="0" i="0" sz="1300" u="none" cap="none" strike="noStrike">
              <a:solidFill>
                <a:schemeClr val="dk1"/>
              </a:solidFill>
              <a:latin typeface="Calibri"/>
              <a:ea typeface="Calibri"/>
              <a:cs typeface="Calibri"/>
              <a:sym typeface="Calibri"/>
            </a:endParaRPr>
          </a:p>
        </p:txBody>
      </p:sp>
      <p:sp>
        <p:nvSpPr>
          <p:cNvPr id="581" name="Google Shape;581;p17"/>
          <p:cNvSpPr/>
          <p:nvPr/>
        </p:nvSpPr>
        <p:spPr>
          <a:xfrm>
            <a:off x="6146800" y="5308600"/>
            <a:ext cx="50700" cy="711300"/>
          </a:xfrm>
          <a:prstGeom prst="rect">
            <a:avLst/>
          </a:prstGeom>
          <a:solidFill>
            <a:srgbClr val="8E2463"/>
          </a:solidFill>
          <a:ln cap="flat" cmpd="sng" w="12700">
            <a:solidFill>
              <a:srgbClr val="8E2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7"/>
          <p:cNvSpPr txBox="1"/>
          <p:nvPr/>
        </p:nvSpPr>
        <p:spPr>
          <a:xfrm>
            <a:off x="6324600" y="5308600"/>
            <a:ext cx="4953000" cy="15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2463"/>
              </a:buClr>
              <a:buSzPts val="1000"/>
              <a:buFont typeface="Calibri"/>
              <a:buNone/>
            </a:pPr>
            <a:r>
              <a:rPr b="1" i="0" lang="en-US" sz="1000" u="none" cap="none" strike="noStrike">
                <a:solidFill>
                  <a:srgbClr val="8E2463"/>
                </a:solidFill>
                <a:latin typeface="Calibri"/>
                <a:ea typeface="Calibri"/>
                <a:cs typeface="Calibri"/>
                <a:sym typeface="Calibri"/>
              </a:rPr>
              <a:t>OBSERVATION 2</a:t>
            </a:r>
            <a:endParaRPr b="0" i="0" sz="1000" u="none" cap="none" strike="noStrike">
              <a:solidFill>
                <a:schemeClr val="dk1"/>
              </a:solidFill>
              <a:latin typeface="Calibri"/>
              <a:ea typeface="Calibri"/>
              <a:cs typeface="Calibri"/>
              <a:sym typeface="Calibri"/>
            </a:endParaRPr>
          </a:p>
        </p:txBody>
      </p:sp>
      <p:sp>
        <p:nvSpPr>
          <p:cNvPr id="583" name="Google Shape;583;p17"/>
          <p:cNvSpPr txBox="1"/>
          <p:nvPr/>
        </p:nvSpPr>
        <p:spPr>
          <a:xfrm>
            <a:off x="6324600" y="5461000"/>
            <a:ext cx="4953000" cy="20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600"/>
              <a:buFont typeface="Calibri"/>
              <a:buNone/>
            </a:pPr>
            <a:r>
              <a:rPr b="1" i="0" lang="en-US" sz="1600" u="none" cap="none" strike="noStrike">
                <a:solidFill>
                  <a:srgbClr val="14213D"/>
                </a:solidFill>
                <a:latin typeface="Calibri"/>
                <a:ea typeface="Calibri"/>
                <a:cs typeface="Calibri"/>
                <a:sym typeface="Calibri"/>
              </a:rPr>
              <a:t>The bottleneck shifts to the encoders</a:t>
            </a:r>
            <a:endParaRPr b="0" i="0" sz="1600" u="none" cap="none" strike="noStrike">
              <a:solidFill>
                <a:schemeClr val="dk1"/>
              </a:solidFill>
              <a:latin typeface="Calibri"/>
              <a:ea typeface="Calibri"/>
              <a:cs typeface="Calibri"/>
              <a:sym typeface="Calibri"/>
            </a:endParaRPr>
          </a:p>
        </p:txBody>
      </p:sp>
      <p:sp>
        <p:nvSpPr>
          <p:cNvPr id="584" name="Google Shape;584;p17"/>
          <p:cNvSpPr txBox="1"/>
          <p:nvPr/>
        </p:nvSpPr>
        <p:spPr>
          <a:xfrm>
            <a:off x="6324600" y="5676900"/>
            <a:ext cx="4826100" cy="35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656"/>
              </a:buClr>
              <a:buSzPts val="1300"/>
              <a:buFont typeface="Calibri"/>
              <a:buNone/>
            </a:pPr>
            <a:r>
              <a:rPr b="0" i="0" lang="en-US" sz="1300" u="none" cap="none" strike="noStrike">
                <a:solidFill>
                  <a:srgbClr val="3D4656"/>
                </a:solidFill>
                <a:latin typeface="Calibri"/>
                <a:ea typeface="Calibri"/>
                <a:cs typeface="Calibri"/>
                <a:sym typeface="Calibri"/>
              </a:rPr>
              <a:t>With EMMI, encoding (214 ms) is now most of the latency, and compression adds only 0.64 ms.</a:t>
            </a:r>
            <a:endParaRPr b="0" i="0" sz="1300" u="none" cap="none" strike="noStrike">
              <a:solidFill>
                <a:schemeClr val="dk1"/>
              </a:solidFill>
              <a:latin typeface="Calibri"/>
              <a:ea typeface="Calibri"/>
              <a:cs typeface="Calibri"/>
              <a:sym typeface="Calibri"/>
            </a:endParaRPr>
          </a:p>
        </p:txBody>
      </p:sp>
      <p:sp>
        <p:nvSpPr>
          <p:cNvPr id="585" name="Google Shape;585;p17"/>
          <p:cNvSpPr/>
          <p:nvPr/>
        </p:nvSpPr>
        <p:spPr>
          <a:xfrm>
            <a:off x="1117589" y="533357"/>
            <a:ext cx="762000" cy="507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7"/>
          <p:cNvSpPr/>
          <p:nvPr/>
        </p:nvSpPr>
        <p:spPr>
          <a:xfrm>
            <a:off x="0" y="0"/>
            <a:ext cx="304800" cy="68580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7"/>
          <p:cNvSpPr/>
          <p:nvPr/>
        </p:nvSpPr>
        <p:spPr>
          <a:xfrm>
            <a:off x="304767" y="6299181"/>
            <a:ext cx="11887200" cy="5589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7"/>
          <p:cNvSpPr/>
          <p:nvPr/>
        </p:nvSpPr>
        <p:spPr>
          <a:xfrm>
            <a:off x="1117534" y="6471872"/>
            <a:ext cx="955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Introduction</a:t>
            </a:r>
            <a:endParaRPr b="0" i="0" sz="1200" u="none" cap="none" strike="noStrike">
              <a:solidFill>
                <a:schemeClr val="dk1"/>
              </a:solidFill>
              <a:latin typeface="Arial"/>
              <a:ea typeface="Arial"/>
              <a:cs typeface="Arial"/>
              <a:sym typeface="Arial"/>
            </a:endParaRPr>
          </a:p>
        </p:txBody>
      </p:sp>
      <p:sp>
        <p:nvSpPr>
          <p:cNvPr id="589" name="Google Shape;589;p17"/>
          <p:cNvSpPr/>
          <p:nvPr/>
        </p:nvSpPr>
        <p:spPr>
          <a:xfrm>
            <a:off x="2218531" y="6471872"/>
            <a:ext cx="914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Framework</a:t>
            </a:r>
            <a:endParaRPr b="0" i="0" sz="1200" u="none" cap="none" strike="noStrike">
              <a:solidFill>
                <a:schemeClr val="dk1"/>
              </a:solidFill>
              <a:latin typeface="Arial"/>
              <a:ea typeface="Arial"/>
              <a:cs typeface="Arial"/>
              <a:sym typeface="Arial"/>
            </a:endParaRPr>
          </a:p>
        </p:txBody>
      </p:sp>
      <p:sp>
        <p:nvSpPr>
          <p:cNvPr id="590" name="Google Shape;590;p17"/>
          <p:cNvSpPr/>
          <p:nvPr/>
        </p:nvSpPr>
        <p:spPr>
          <a:xfrm>
            <a:off x="3285243" y="6471872"/>
            <a:ext cx="660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Solution</a:t>
            </a:r>
            <a:endParaRPr b="0" i="0" sz="1200" u="none" cap="none" strike="noStrike">
              <a:solidFill>
                <a:schemeClr val="dk1"/>
              </a:solidFill>
              <a:latin typeface="Arial"/>
              <a:ea typeface="Arial"/>
              <a:cs typeface="Arial"/>
              <a:sym typeface="Arial"/>
            </a:endParaRPr>
          </a:p>
        </p:txBody>
      </p:sp>
      <p:sp>
        <p:nvSpPr>
          <p:cNvPr id="591" name="Google Shape;591;p17"/>
          <p:cNvSpPr/>
          <p:nvPr/>
        </p:nvSpPr>
        <p:spPr>
          <a:xfrm>
            <a:off x="4140674" y="6471872"/>
            <a:ext cx="924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Evaluation</a:t>
            </a:r>
            <a:endParaRPr b="0" i="0" sz="1200" u="none" cap="none" strike="noStrike">
              <a:solidFill>
                <a:schemeClr val="dk1"/>
              </a:solidFill>
              <a:latin typeface="Arial"/>
              <a:ea typeface="Arial"/>
              <a:cs typeface="Arial"/>
              <a:sym typeface="Arial"/>
            </a:endParaRPr>
          </a:p>
        </p:txBody>
      </p:sp>
      <p:sp>
        <p:nvSpPr>
          <p:cNvPr id="592" name="Google Shape;592;p17"/>
          <p:cNvSpPr/>
          <p:nvPr/>
        </p:nvSpPr>
        <p:spPr>
          <a:xfrm>
            <a:off x="5215930" y="6471872"/>
            <a:ext cx="904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Conclusion</a:t>
            </a:r>
            <a:endParaRPr b="0" i="0" sz="1200" u="none" cap="none" strike="noStrike">
              <a:solidFill>
                <a:schemeClr val="dk1"/>
              </a:solidFill>
              <a:latin typeface="Arial"/>
              <a:ea typeface="Arial"/>
              <a:cs typeface="Arial"/>
              <a:sym typeface="Arial"/>
            </a:endParaRPr>
          </a:p>
        </p:txBody>
      </p:sp>
      <p:sp>
        <p:nvSpPr>
          <p:cNvPr id="593" name="Google Shape;593;p17"/>
          <p:cNvSpPr/>
          <p:nvPr/>
        </p:nvSpPr>
        <p:spPr>
          <a:xfrm>
            <a:off x="6274539" y="6471872"/>
            <a:ext cx="965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Future work</a:t>
            </a:r>
            <a:endParaRPr b="0" i="0" sz="1200" u="none" cap="none" strike="noStrike">
              <a:solidFill>
                <a:schemeClr val="dk1"/>
              </a:solidFill>
              <a:latin typeface="Arial"/>
              <a:ea typeface="Arial"/>
              <a:cs typeface="Arial"/>
              <a:sym typeface="Arial"/>
            </a:endParaRPr>
          </a:p>
        </p:txBody>
      </p:sp>
      <p:sp>
        <p:nvSpPr>
          <p:cNvPr id="594" name="Google Shape;594;p17"/>
          <p:cNvSpPr/>
          <p:nvPr/>
        </p:nvSpPr>
        <p:spPr>
          <a:xfrm>
            <a:off x="11209680" y="6471872"/>
            <a:ext cx="2202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lang="en-US" sz="1200">
                <a:solidFill>
                  <a:srgbClr val="FFFFFF"/>
                </a:solidFill>
              </a:rPr>
              <a:t>12</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18"/>
          <p:cNvSpPr txBox="1"/>
          <p:nvPr>
            <p:ph idx="1" type="body"/>
          </p:nvPr>
        </p:nvSpPr>
        <p:spPr>
          <a:xfrm>
            <a:off x="813816" y="566928"/>
            <a:ext cx="10561200" cy="29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1200"/>
              <a:buNone/>
            </a:pPr>
            <a:r>
              <a:rPr b="1" lang="en-US" sz="1500">
                <a:solidFill>
                  <a:srgbClr val="A64D79"/>
                </a:solidFill>
                <a:latin typeface="Calibri"/>
                <a:ea typeface="Calibri"/>
                <a:cs typeface="Calibri"/>
                <a:sym typeface="Calibri"/>
              </a:rPr>
              <a:t>COMMUNICATION EVALUATION</a:t>
            </a:r>
            <a:endParaRPr sz="1500">
              <a:solidFill>
                <a:srgbClr val="A64D79"/>
              </a:solidFill>
            </a:endParaRPr>
          </a:p>
        </p:txBody>
      </p:sp>
      <p:sp>
        <p:nvSpPr>
          <p:cNvPr id="601" name="Google Shape;601;p18"/>
          <p:cNvSpPr txBox="1"/>
          <p:nvPr>
            <p:ph type="title"/>
          </p:nvPr>
        </p:nvSpPr>
        <p:spPr>
          <a:xfrm>
            <a:off x="813825" y="896100"/>
            <a:ext cx="11378100" cy="64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200"/>
              <a:buFont typeface="Cambria"/>
              <a:buNone/>
            </a:pPr>
            <a:r>
              <a:rPr lang="en-US" sz="3200">
                <a:solidFill>
                  <a:schemeClr val="dk1"/>
                </a:solidFill>
                <a:latin typeface="Georgia"/>
                <a:ea typeface="Georgia"/>
                <a:cs typeface="Georgia"/>
                <a:sym typeface="Georgia"/>
              </a:rPr>
              <a:t>32× smaller payload, 3.4× lower latency on a slow link</a:t>
            </a:r>
            <a:endParaRPr sz="3200">
              <a:latin typeface="Georgia"/>
              <a:ea typeface="Georgia"/>
              <a:cs typeface="Georgia"/>
              <a:sym typeface="Georgia"/>
            </a:endParaRPr>
          </a:p>
        </p:txBody>
      </p:sp>
      <p:sp>
        <p:nvSpPr>
          <p:cNvPr id="602" name="Google Shape;602;p18"/>
          <p:cNvSpPr txBox="1"/>
          <p:nvPr/>
        </p:nvSpPr>
        <p:spPr>
          <a:xfrm>
            <a:off x="812800" y="1574800"/>
            <a:ext cx="4064100" cy="19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Transmission time saved</a:t>
            </a:r>
            <a:r>
              <a:rPr b="0" i="0" lang="en-US" sz="1300" u="none" cap="none" strike="noStrike">
                <a:solidFill>
                  <a:srgbClr val="6A7280"/>
                </a:solidFill>
                <a:latin typeface="Calibri"/>
                <a:ea typeface="Calibri"/>
                <a:cs typeface="Calibri"/>
                <a:sym typeface="Calibri"/>
              </a:rPr>
              <a:t>  ·  ms per inference</a:t>
            </a:r>
            <a:endParaRPr b="0" i="0" sz="1300" u="none" cap="none" strike="noStrike">
              <a:solidFill>
                <a:schemeClr val="dk1"/>
              </a:solidFill>
              <a:latin typeface="Calibri"/>
              <a:ea typeface="Calibri"/>
              <a:cs typeface="Calibri"/>
              <a:sym typeface="Calibri"/>
            </a:endParaRPr>
          </a:p>
        </p:txBody>
      </p:sp>
      <p:sp>
        <p:nvSpPr>
          <p:cNvPr id="603" name="Google Shape;603;p18"/>
          <p:cNvSpPr txBox="1"/>
          <p:nvPr/>
        </p:nvSpPr>
        <p:spPr>
          <a:xfrm>
            <a:off x="812800" y="1866900"/>
            <a:ext cx="1016100" cy="19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IoT</a:t>
            </a:r>
            <a:endParaRPr b="0" i="0" sz="1400" u="none" cap="none" strike="noStrike">
              <a:solidFill>
                <a:schemeClr val="dk1"/>
              </a:solidFill>
              <a:latin typeface="Calibri"/>
              <a:ea typeface="Calibri"/>
              <a:cs typeface="Calibri"/>
              <a:sym typeface="Calibri"/>
            </a:endParaRPr>
          </a:p>
        </p:txBody>
      </p:sp>
      <p:sp>
        <p:nvSpPr>
          <p:cNvPr id="604" name="Google Shape;604;p18"/>
          <p:cNvSpPr txBox="1"/>
          <p:nvPr/>
        </p:nvSpPr>
        <p:spPr>
          <a:xfrm>
            <a:off x="812800" y="2032000"/>
            <a:ext cx="1016100" cy="15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7280"/>
              </a:buClr>
              <a:buSzPts val="1100"/>
              <a:buFont typeface="Calibri"/>
              <a:buNone/>
            </a:pPr>
            <a:r>
              <a:rPr b="0" i="0" lang="en-US" sz="1100" u="none" cap="none" strike="noStrike">
                <a:solidFill>
                  <a:srgbClr val="6A7280"/>
                </a:solidFill>
                <a:latin typeface="Calibri"/>
                <a:ea typeface="Calibri"/>
                <a:cs typeface="Calibri"/>
                <a:sym typeface="Calibri"/>
              </a:rPr>
              <a:t>0.1 Mbps</a:t>
            </a:r>
            <a:endParaRPr b="0" i="0" sz="1100" u="none" cap="none" strike="noStrike">
              <a:solidFill>
                <a:schemeClr val="dk1"/>
              </a:solidFill>
              <a:latin typeface="Calibri"/>
              <a:ea typeface="Calibri"/>
              <a:cs typeface="Calibri"/>
              <a:sym typeface="Calibri"/>
            </a:endParaRPr>
          </a:p>
        </p:txBody>
      </p:sp>
      <p:sp>
        <p:nvSpPr>
          <p:cNvPr id="605" name="Google Shape;605;p18"/>
          <p:cNvSpPr/>
          <p:nvPr/>
        </p:nvSpPr>
        <p:spPr>
          <a:xfrm>
            <a:off x="1905000" y="1905000"/>
            <a:ext cx="2393700" cy="254100"/>
          </a:xfrm>
          <a:prstGeom prst="rect">
            <a:avLst/>
          </a:prstGeom>
          <a:solidFill>
            <a:srgbClr val="8E2463"/>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8"/>
          <p:cNvSpPr txBox="1"/>
          <p:nvPr/>
        </p:nvSpPr>
        <p:spPr>
          <a:xfrm>
            <a:off x="4362196" y="1905000"/>
            <a:ext cx="7620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635</a:t>
            </a:r>
            <a:endParaRPr b="0" i="0" sz="1400" u="none" cap="none" strike="noStrike">
              <a:solidFill>
                <a:schemeClr val="dk1"/>
              </a:solidFill>
              <a:latin typeface="Calibri"/>
              <a:ea typeface="Calibri"/>
              <a:cs typeface="Calibri"/>
              <a:sym typeface="Calibri"/>
            </a:endParaRPr>
          </a:p>
        </p:txBody>
      </p:sp>
      <p:sp>
        <p:nvSpPr>
          <p:cNvPr id="607" name="Google Shape;607;p18"/>
          <p:cNvSpPr txBox="1"/>
          <p:nvPr/>
        </p:nvSpPr>
        <p:spPr>
          <a:xfrm>
            <a:off x="812800" y="2387600"/>
            <a:ext cx="1016100" cy="19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LTE</a:t>
            </a:r>
            <a:endParaRPr b="0" i="0" sz="1400" u="none" cap="none" strike="noStrike">
              <a:solidFill>
                <a:schemeClr val="dk1"/>
              </a:solidFill>
              <a:latin typeface="Calibri"/>
              <a:ea typeface="Calibri"/>
              <a:cs typeface="Calibri"/>
              <a:sym typeface="Calibri"/>
            </a:endParaRPr>
          </a:p>
        </p:txBody>
      </p:sp>
      <p:sp>
        <p:nvSpPr>
          <p:cNvPr id="608" name="Google Shape;608;p18"/>
          <p:cNvSpPr txBox="1"/>
          <p:nvPr/>
        </p:nvSpPr>
        <p:spPr>
          <a:xfrm>
            <a:off x="812800" y="2552700"/>
            <a:ext cx="1016100" cy="15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7280"/>
              </a:buClr>
              <a:buSzPts val="1100"/>
              <a:buFont typeface="Calibri"/>
              <a:buNone/>
            </a:pPr>
            <a:r>
              <a:rPr b="0" i="0" lang="en-US" sz="1100" u="none" cap="none" strike="noStrike">
                <a:solidFill>
                  <a:srgbClr val="6A7280"/>
                </a:solidFill>
                <a:latin typeface="Calibri"/>
                <a:ea typeface="Calibri"/>
                <a:cs typeface="Calibri"/>
                <a:sym typeface="Calibri"/>
              </a:rPr>
              <a:t>10 Mbps</a:t>
            </a:r>
            <a:endParaRPr b="0" i="0" sz="1100" u="none" cap="none" strike="noStrike">
              <a:solidFill>
                <a:schemeClr val="dk1"/>
              </a:solidFill>
              <a:latin typeface="Calibri"/>
              <a:ea typeface="Calibri"/>
              <a:cs typeface="Calibri"/>
              <a:sym typeface="Calibri"/>
            </a:endParaRPr>
          </a:p>
        </p:txBody>
      </p:sp>
      <p:sp>
        <p:nvSpPr>
          <p:cNvPr id="609" name="Google Shape;609;p18"/>
          <p:cNvSpPr/>
          <p:nvPr/>
        </p:nvSpPr>
        <p:spPr>
          <a:xfrm>
            <a:off x="1905000" y="2425700"/>
            <a:ext cx="24000" cy="254100"/>
          </a:xfrm>
          <a:prstGeom prst="rect">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8"/>
          <p:cNvSpPr txBox="1"/>
          <p:nvPr/>
        </p:nvSpPr>
        <p:spPr>
          <a:xfrm>
            <a:off x="1992437" y="2425700"/>
            <a:ext cx="7620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6.35</a:t>
            </a:r>
            <a:endParaRPr b="0" i="0" sz="1400" u="none" cap="none" strike="noStrike">
              <a:solidFill>
                <a:schemeClr val="dk1"/>
              </a:solidFill>
              <a:latin typeface="Calibri"/>
              <a:ea typeface="Calibri"/>
              <a:cs typeface="Calibri"/>
              <a:sym typeface="Calibri"/>
            </a:endParaRPr>
          </a:p>
        </p:txBody>
      </p:sp>
      <p:sp>
        <p:nvSpPr>
          <p:cNvPr id="611" name="Google Shape;611;p18"/>
          <p:cNvSpPr txBox="1"/>
          <p:nvPr/>
        </p:nvSpPr>
        <p:spPr>
          <a:xfrm>
            <a:off x="812800" y="2908300"/>
            <a:ext cx="1016100" cy="19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WiFi</a:t>
            </a:r>
            <a:endParaRPr b="0" i="0" sz="1400" u="none" cap="none" strike="noStrike">
              <a:solidFill>
                <a:schemeClr val="dk1"/>
              </a:solidFill>
              <a:latin typeface="Calibri"/>
              <a:ea typeface="Calibri"/>
              <a:cs typeface="Calibri"/>
              <a:sym typeface="Calibri"/>
            </a:endParaRPr>
          </a:p>
        </p:txBody>
      </p:sp>
      <p:sp>
        <p:nvSpPr>
          <p:cNvPr id="612" name="Google Shape;612;p18"/>
          <p:cNvSpPr txBox="1"/>
          <p:nvPr/>
        </p:nvSpPr>
        <p:spPr>
          <a:xfrm>
            <a:off x="812800" y="3073400"/>
            <a:ext cx="1016100" cy="15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7280"/>
              </a:buClr>
              <a:buSzPts val="1100"/>
              <a:buFont typeface="Calibri"/>
              <a:buNone/>
            </a:pPr>
            <a:r>
              <a:rPr b="0" i="0" lang="en-US" sz="1100" u="none" cap="none" strike="noStrike">
                <a:solidFill>
                  <a:srgbClr val="6A7280"/>
                </a:solidFill>
                <a:latin typeface="Calibri"/>
                <a:ea typeface="Calibri"/>
                <a:cs typeface="Calibri"/>
                <a:sym typeface="Calibri"/>
              </a:rPr>
              <a:t>50 Mbps</a:t>
            </a:r>
            <a:endParaRPr b="0" i="0" sz="1100" u="none" cap="none" strike="noStrike">
              <a:solidFill>
                <a:schemeClr val="dk1"/>
              </a:solidFill>
              <a:latin typeface="Calibri"/>
              <a:ea typeface="Calibri"/>
              <a:cs typeface="Calibri"/>
              <a:sym typeface="Calibri"/>
            </a:endParaRPr>
          </a:p>
        </p:txBody>
      </p:sp>
      <p:sp>
        <p:nvSpPr>
          <p:cNvPr id="613" name="Google Shape;613;p18"/>
          <p:cNvSpPr/>
          <p:nvPr/>
        </p:nvSpPr>
        <p:spPr>
          <a:xfrm>
            <a:off x="1905000" y="2946400"/>
            <a:ext cx="19200" cy="254100"/>
          </a:xfrm>
          <a:prstGeom prst="rect">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8"/>
          <p:cNvSpPr txBox="1"/>
          <p:nvPr/>
        </p:nvSpPr>
        <p:spPr>
          <a:xfrm>
            <a:off x="1987550" y="2946400"/>
            <a:ext cx="7620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1.27</a:t>
            </a:r>
            <a:endParaRPr b="0" i="0" sz="1400" u="none" cap="none" strike="noStrike">
              <a:solidFill>
                <a:schemeClr val="dk1"/>
              </a:solidFill>
              <a:latin typeface="Calibri"/>
              <a:ea typeface="Calibri"/>
              <a:cs typeface="Calibri"/>
              <a:sym typeface="Calibri"/>
            </a:endParaRPr>
          </a:p>
        </p:txBody>
      </p:sp>
      <p:sp>
        <p:nvSpPr>
          <p:cNvPr id="615" name="Google Shape;615;p18"/>
          <p:cNvSpPr txBox="1"/>
          <p:nvPr/>
        </p:nvSpPr>
        <p:spPr>
          <a:xfrm>
            <a:off x="812800" y="3429000"/>
            <a:ext cx="1016100" cy="19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5G</a:t>
            </a:r>
            <a:endParaRPr b="0" i="0" sz="1400" u="none" cap="none" strike="noStrike">
              <a:solidFill>
                <a:schemeClr val="dk1"/>
              </a:solidFill>
              <a:latin typeface="Calibri"/>
              <a:ea typeface="Calibri"/>
              <a:cs typeface="Calibri"/>
              <a:sym typeface="Calibri"/>
            </a:endParaRPr>
          </a:p>
        </p:txBody>
      </p:sp>
      <p:sp>
        <p:nvSpPr>
          <p:cNvPr id="616" name="Google Shape;616;p18"/>
          <p:cNvSpPr txBox="1"/>
          <p:nvPr/>
        </p:nvSpPr>
        <p:spPr>
          <a:xfrm>
            <a:off x="812800" y="3594100"/>
            <a:ext cx="1016100" cy="15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7280"/>
              </a:buClr>
              <a:buSzPts val="1100"/>
              <a:buFont typeface="Calibri"/>
              <a:buNone/>
            </a:pPr>
            <a:r>
              <a:rPr b="0" i="0" lang="en-US" sz="1100" u="none" cap="none" strike="noStrike">
                <a:solidFill>
                  <a:srgbClr val="6A7280"/>
                </a:solidFill>
                <a:latin typeface="Calibri"/>
                <a:ea typeface="Calibri"/>
                <a:cs typeface="Calibri"/>
                <a:sym typeface="Calibri"/>
              </a:rPr>
              <a:t>100 Mbps</a:t>
            </a:r>
            <a:endParaRPr b="0" i="0" sz="1100" u="none" cap="none" strike="noStrike">
              <a:solidFill>
                <a:schemeClr val="dk1"/>
              </a:solidFill>
              <a:latin typeface="Calibri"/>
              <a:ea typeface="Calibri"/>
              <a:cs typeface="Calibri"/>
              <a:sym typeface="Calibri"/>
            </a:endParaRPr>
          </a:p>
        </p:txBody>
      </p:sp>
      <p:sp>
        <p:nvSpPr>
          <p:cNvPr id="617" name="Google Shape;617;p18"/>
          <p:cNvSpPr/>
          <p:nvPr/>
        </p:nvSpPr>
        <p:spPr>
          <a:xfrm>
            <a:off x="1905000" y="3467100"/>
            <a:ext cx="19200" cy="254100"/>
          </a:xfrm>
          <a:prstGeom prst="rect">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8"/>
          <p:cNvSpPr txBox="1"/>
          <p:nvPr/>
        </p:nvSpPr>
        <p:spPr>
          <a:xfrm>
            <a:off x="1987550" y="3467100"/>
            <a:ext cx="762000" cy="2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0.63</a:t>
            </a:r>
            <a:endParaRPr b="0" i="0" sz="1400" u="none" cap="none" strike="noStrike">
              <a:solidFill>
                <a:schemeClr val="dk1"/>
              </a:solidFill>
              <a:latin typeface="Calibri"/>
              <a:ea typeface="Calibri"/>
              <a:cs typeface="Calibri"/>
              <a:sym typeface="Calibri"/>
            </a:endParaRPr>
          </a:p>
        </p:txBody>
      </p:sp>
      <p:sp>
        <p:nvSpPr>
          <p:cNvPr id="619" name="Google Shape;619;p18"/>
          <p:cNvSpPr txBox="1"/>
          <p:nvPr/>
        </p:nvSpPr>
        <p:spPr>
          <a:xfrm>
            <a:off x="812800" y="4025900"/>
            <a:ext cx="4191000" cy="35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280"/>
              </a:buClr>
              <a:buSzPts val="1300"/>
              <a:buFont typeface="Calibri"/>
              <a:buNone/>
            </a:pPr>
            <a:r>
              <a:rPr b="0" i="0" lang="en-US" sz="1300" u="none" cap="none" strike="noStrike">
                <a:solidFill>
                  <a:srgbClr val="6A7280"/>
                </a:solidFill>
                <a:latin typeface="Calibri"/>
                <a:ea typeface="Calibri"/>
                <a:cs typeface="Calibri"/>
                <a:sym typeface="Calibri"/>
              </a:rPr>
              <a:t>Edge cost of fusion + compression: </a:t>
            </a:r>
            <a:r>
              <a:rPr b="1" i="0" lang="en-US" sz="1300" u="none" cap="none" strike="noStrike">
                <a:solidFill>
                  <a:srgbClr val="14213D"/>
                </a:solidFill>
                <a:latin typeface="Calibri"/>
                <a:ea typeface="Calibri"/>
                <a:cs typeface="Calibri"/>
                <a:sym typeface="Calibri"/>
              </a:rPr>
              <a:t>0.65 ms</a:t>
            </a:r>
            <a:r>
              <a:rPr b="0" i="0" lang="en-US" sz="1300" u="none" cap="none" strike="noStrike">
                <a:solidFill>
                  <a:srgbClr val="6A7280"/>
                </a:solidFill>
                <a:latin typeface="Calibri"/>
                <a:ea typeface="Calibri"/>
                <a:cs typeface="Calibri"/>
                <a:sym typeface="Calibri"/>
              </a:rPr>
              <a:t>, vs 213.7 ms of encoding (Table II)</a:t>
            </a:r>
            <a:endParaRPr b="0" i="0" sz="1300" u="none" cap="none" strike="noStrike">
              <a:solidFill>
                <a:schemeClr val="dk1"/>
              </a:solidFill>
              <a:latin typeface="Calibri"/>
              <a:ea typeface="Calibri"/>
              <a:cs typeface="Calibri"/>
              <a:sym typeface="Calibri"/>
            </a:endParaRPr>
          </a:p>
        </p:txBody>
      </p:sp>
      <p:cxnSp>
        <p:nvCxnSpPr>
          <p:cNvPr id="620" name="Google Shape;620;p18"/>
          <p:cNvCxnSpPr/>
          <p:nvPr/>
        </p:nvCxnSpPr>
        <p:spPr>
          <a:xfrm>
            <a:off x="5080000" y="1587500"/>
            <a:ext cx="0" cy="2844900"/>
          </a:xfrm>
          <a:prstGeom prst="straightConnector1">
            <a:avLst/>
          </a:prstGeom>
          <a:noFill/>
          <a:ln cap="flat" cmpd="sng" w="9525">
            <a:solidFill>
              <a:srgbClr val="DCD9D0"/>
            </a:solidFill>
            <a:prstDash val="solid"/>
            <a:round/>
            <a:headEnd len="sm" w="sm" type="none"/>
            <a:tailEnd len="sm" w="sm" type="none"/>
          </a:ln>
        </p:spPr>
      </p:cxnSp>
      <p:sp>
        <p:nvSpPr>
          <p:cNvPr id="621" name="Google Shape;621;p18"/>
          <p:cNvSpPr txBox="1"/>
          <p:nvPr/>
        </p:nvSpPr>
        <p:spPr>
          <a:xfrm>
            <a:off x="5397500" y="1562100"/>
            <a:ext cx="5981700" cy="17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100"/>
              <a:buFont typeface="Calibri"/>
              <a:buNone/>
            </a:pPr>
            <a:r>
              <a:rPr b="1" i="0" lang="en-US" sz="1100" u="none" cap="none" strike="noStrike">
                <a:solidFill>
                  <a:srgbClr val="14213D"/>
                </a:solidFill>
                <a:latin typeface="Calibri"/>
                <a:ea typeface="Calibri"/>
                <a:cs typeface="Calibri"/>
                <a:sym typeface="Calibri"/>
              </a:rPr>
              <a:t>TAKEAWAYS</a:t>
            </a:r>
            <a:endParaRPr b="0" i="0" sz="1100" u="none" cap="none" strike="noStrike">
              <a:solidFill>
                <a:schemeClr val="dk1"/>
              </a:solidFill>
              <a:latin typeface="Calibri"/>
              <a:ea typeface="Calibri"/>
              <a:cs typeface="Calibri"/>
              <a:sym typeface="Calibri"/>
            </a:endParaRPr>
          </a:p>
        </p:txBody>
      </p:sp>
      <p:sp>
        <p:nvSpPr>
          <p:cNvPr id="622" name="Google Shape;622;p18"/>
          <p:cNvSpPr/>
          <p:nvPr/>
        </p:nvSpPr>
        <p:spPr>
          <a:xfrm>
            <a:off x="5397500" y="1866900"/>
            <a:ext cx="88800" cy="88800"/>
          </a:xfrm>
          <a:prstGeom prst="ellipse">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8"/>
          <p:cNvSpPr txBox="1"/>
          <p:nvPr/>
        </p:nvSpPr>
        <p:spPr>
          <a:xfrm>
            <a:off x="5600700" y="1816100"/>
            <a:ext cx="5778600" cy="20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700"/>
              <a:buFont typeface="Calibri"/>
              <a:buNone/>
            </a:pPr>
            <a:r>
              <a:rPr b="1" i="0" lang="en-US" sz="1700" u="none" cap="none" strike="noStrike">
                <a:solidFill>
                  <a:srgbClr val="14213D"/>
                </a:solidFill>
                <a:latin typeface="Times New Roman"/>
                <a:ea typeface="Times New Roman"/>
                <a:cs typeface="Times New Roman"/>
                <a:sym typeface="Times New Roman"/>
              </a:rPr>
              <a:t>Faster uplinks shrink the latency gain</a:t>
            </a:r>
            <a:endParaRPr i="0" sz="1700" u="none" cap="none" strike="noStrike">
              <a:solidFill>
                <a:schemeClr val="dk1"/>
              </a:solidFill>
              <a:latin typeface="Times New Roman"/>
              <a:ea typeface="Times New Roman"/>
              <a:cs typeface="Times New Roman"/>
              <a:sym typeface="Times New Roman"/>
            </a:endParaRPr>
          </a:p>
        </p:txBody>
      </p:sp>
      <p:sp>
        <p:nvSpPr>
          <p:cNvPr id="624" name="Google Shape;624;p18"/>
          <p:cNvSpPr txBox="1"/>
          <p:nvPr/>
        </p:nvSpPr>
        <p:spPr>
          <a:xfrm>
            <a:off x="5600700" y="2032000"/>
            <a:ext cx="5651400" cy="36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656"/>
              </a:buClr>
              <a:buSzPts val="1350"/>
              <a:buFont typeface="Calibri"/>
              <a:buNone/>
            </a:pPr>
            <a:r>
              <a:rPr i="0" lang="en-US" sz="1350" u="none" cap="none" strike="noStrike">
                <a:solidFill>
                  <a:srgbClr val="3D4656"/>
                </a:solidFill>
                <a:latin typeface="Times New Roman"/>
                <a:ea typeface="Times New Roman"/>
                <a:cs typeface="Times New Roman"/>
                <a:sym typeface="Times New Roman"/>
              </a:rPr>
              <a:t>Time saved falls as 1/bandwidth: 635 ms at 0.1 Mbps, 6 ms on LTE, break-even near 100 Mbps.</a:t>
            </a:r>
            <a:endParaRPr i="0" sz="1350" u="none" cap="none" strike="noStrike">
              <a:solidFill>
                <a:schemeClr val="dk1"/>
              </a:solidFill>
              <a:latin typeface="Times New Roman"/>
              <a:ea typeface="Times New Roman"/>
              <a:cs typeface="Times New Roman"/>
              <a:sym typeface="Times New Roman"/>
            </a:endParaRPr>
          </a:p>
        </p:txBody>
      </p:sp>
      <p:sp>
        <p:nvSpPr>
          <p:cNvPr id="625" name="Google Shape;625;p18"/>
          <p:cNvSpPr/>
          <p:nvPr/>
        </p:nvSpPr>
        <p:spPr>
          <a:xfrm>
            <a:off x="5397500" y="2641600"/>
            <a:ext cx="88800" cy="88800"/>
          </a:xfrm>
          <a:prstGeom prst="ellipse">
            <a:avLst/>
          </a:prstGeom>
          <a:solidFill>
            <a:srgbClr val="8E2463"/>
          </a:solidFill>
          <a:ln cap="flat" cmpd="sng" w="12700">
            <a:solidFill>
              <a:srgbClr val="8E2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8"/>
          <p:cNvSpPr txBox="1"/>
          <p:nvPr/>
        </p:nvSpPr>
        <p:spPr>
          <a:xfrm>
            <a:off x="5600700" y="2590800"/>
            <a:ext cx="5778600" cy="20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700"/>
              <a:buFont typeface="Calibri"/>
              <a:buNone/>
            </a:pPr>
            <a:r>
              <a:rPr b="1" i="0" lang="en-US" sz="1700" u="none" cap="none" strike="noStrike">
                <a:solidFill>
                  <a:srgbClr val="14213D"/>
                </a:solidFill>
                <a:latin typeface="Times New Roman"/>
                <a:ea typeface="Times New Roman"/>
                <a:cs typeface="Times New Roman"/>
                <a:sym typeface="Times New Roman"/>
              </a:rPr>
              <a:t>More modalities should make it matter more</a:t>
            </a:r>
            <a:r>
              <a:rPr i="1" lang="en-US" sz="1150" u="none" cap="none" strike="noStrike">
                <a:solidFill>
                  <a:srgbClr val="8A96AD"/>
                </a:solidFill>
                <a:latin typeface="Times New Roman"/>
                <a:ea typeface="Times New Roman"/>
                <a:cs typeface="Times New Roman"/>
                <a:sym typeface="Times New Roman"/>
              </a:rPr>
              <a:t>   </a:t>
            </a:r>
            <a:r>
              <a:rPr i="1" lang="en-US" sz="1150">
                <a:solidFill>
                  <a:srgbClr val="8A96AD"/>
                </a:solidFill>
                <a:latin typeface="Times New Roman"/>
                <a:ea typeface="Times New Roman"/>
                <a:cs typeface="Times New Roman"/>
                <a:sym typeface="Times New Roman"/>
              </a:rPr>
              <a:t>expected</a:t>
            </a:r>
            <a:endParaRPr i="0" sz="1700" u="none" cap="none" strike="noStrike">
              <a:solidFill>
                <a:schemeClr val="dk1"/>
              </a:solidFill>
              <a:latin typeface="Times New Roman"/>
              <a:ea typeface="Times New Roman"/>
              <a:cs typeface="Times New Roman"/>
              <a:sym typeface="Times New Roman"/>
            </a:endParaRPr>
          </a:p>
        </p:txBody>
      </p:sp>
      <p:sp>
        <p:nvSpPr>
          <p:cNvPr id="627" name="Google Shape;627;p18"/>
          <p:cNvSpPr txBox="1"/>
          <p:nvPr/>
        </p:nvSpPr>
        <p:spPr>
          <a:xfrm>
            <a:off x="5600700" y="2806700"/>
            <a:ext cx="5651400" cy="36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656"/>
              </a:buClr>
              <a:buSzPts val="1350"/>
              <a:buFont typeface="Calibri"/>
              <a:buNone/>
            </a:pPr>
            <a:r>
              <a:rPr i="0" lang="en-US" sz="1350" u="none" cap="none" strike="noStrike">
                <a:solidFill>
                  <a:srgbClr val="3D4656"/>
                </a:solidFill>
                <a:latin typeface="Times New Roman"/>
                <a:ea typeface="Times New Roman"/>
                <a:cs typeface="Times New Roman"/>
                <a:sym typeface="Times New Roman"/>
              </a:rPr>
              <a:t>Uncompressed payloads grow with every added sensor (RGB, thermal, LiDAR, GPS, text), so the gain from compressing at the edge should grow too.</a:t>
            </a:r>
            <a:endParaRPr i="0" sz="1350" u="none" cap="none" strike="noStrike">
              <a:solidFill>
                <a:schemeClr val="dk1"/>
              </a:solidFill>
              <a:latin typeface="Times New Roman"/>
              <a:ea typeface="Times New Roman"/>
              <a:cs typeface="Times New Roman"/>
              <a:sym typeface="Times New Roman"/>
            </a:endParaRPr>
          </a:p>
        </p:txBody>
      </p:sp>
      <p:sp>
        <p:nvSpPr>
          <p:cNvPr id="628" name="Google Shape;628;p18"/>
          <p:cNvSpPr/>
          <p:nvPr/>
        </p:nvSpPr>
        <p:spPr>
          <a:xfrm>
            <a:off x="5397500" y="3416300"/>
            <a:ext cx="88800" cy="88800"/>
          </a:xfrm>
          <a:prstGeom prst="ellipse">
            <a:avLst/>
          </a:prstGeom>
          <a:solidFill>
            <a:srgbClr val="8E2463"/>
          </a:solidFill>
          <a:ln cap="flat" cmpd="sng" w="12700">
            <a:solidFill>
              <a:srgbClr val="8E2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8"/>
          <p:cNvSpPr txBox="1"/>
          <p:nvPr/>
        </p:nvSpPr>
        <p:spPr>
          <a:xfrm>
            <a:off x="5600700" y="3365500"/>
            <a:ext cx="5778600" cy="20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700"/>
              <a:buFont typeface="Calibri"/>
              <a:buNone/>
            </a:pPr>
            <a:r>
              <a:rPr b="1" i="0" lang="en-US" sz="1700" u="none" cap="none" strike="noStrike">
                <a:solidFill>
                  <a:srgbClr val="14213D"/>
                </a:solidFill>
                <a:latin typeface="Times New Roman"/>
                <a:ea typeface="Times New Roman"/>
                <a:cs typeface="Times New Roman"/>
                <a:sym typeface="Times New Roman"/>
              </a:rPr>
              <a:t>Many devices sharing one link or server</a:t>
            </a:r>
            <a:r>
              <a:rPr i="1" lang="en-US" sz="1150" u="none" cap="none" strike="noStrike">
                <a:solidFill>
                  <a:srgbClr val="8A96AD"/>
                </a:solidFill>
                <a:latin typeface="Times New Roman"/>
                <a:ea typeface="Times New Roman"/>
                <a:cs typeface="Times New Roman"/>
                <a:sym typeface="Times New Roman"/>
              </a:rPr>
              <a:t>   expected</a:t>
            </a:r>
            <a:endParaRPr i="0" sz="1700" u="none" cap="none" strike="noStrike">
              <a:solidFill>
                <a:schemeClr val="dk1"/>
              </a:solidFill>
              <a:latin typeface="Times New Roman"/>
              <a:ea typeface="Times New Roman"/>
              <a:cs typeface="Times New Roman"/>
              <a:sym typeface="Times New Roman"/>
            </a:endParaRPr>
          </a:p>
        </p:txBody>
      </p:sp>
      <p:sp>
        <p:nvSpPr>
          <p:cNvPr id="630" name="Google Shape;630;p18"/>
          <p:cNvSpPr txBox="1"/>
          <p:nvPr/>
        </p:nvSpPr>
        <p:spPr>
          <a:xfrm>
            <a:off x="5600700" y="3581400"/>
            <a:ext cx="5651400" cy="36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656"/>
              </a:buClr>
              <a:buSzPts val="1350"/>
              <a:buFont typeface="Calibri"/>
              <a:buNone/>
            </a:pPr>
            <a:r>
              <a:rPr i="0" lang="en-US" sz="1350" u="none" cap="none" strike="noStrike">
                <a:solidFill>
                  <a:srgbClr val="3D4656"/>
                </a:solidFill>
                <a:latin typeface="Times New Roman"/>
                <a:ea typeface="Times New Roman"/>
                <a:cs typeface="Times New Roman"/>
                <a:sym typeface="Times New Roman"/>
              </a:rPr>
              <a:t>A shared 10 Mbps uplink carries ~150 inferences/s at 8 KB, but ~4,900/s at 256 B.</a:t>
            </a:r>
            <a:endParaRPr i="0" sz="1350" u="none" cap="none" strike="noStrike">
              <a:solidFill>
                <a:schemeClr val="dk1"/>
              </a:solidFill>
              <a:latin typeface="Times New Roman"/>
              <a:ea typeface="Times New Roman"/>
              <a:cs typeface="Times New Roman"/>
              <a:sym typeface="Times New Roman"/>
            </a:endParaRPr>
          </a:p>
        </p:txBody>
      </p:sp>
      <p:sp>
        <p:nvSpPr>
          <p:cNvPr id="631" name="Google Shape;631;p18"/>
          <p:cNvSpPr/>
          <p:nvPr/>
        </p:nvSpPr>
        <p:spPr>
          <a:xfrm>
            <a:off x="1117589" y="533357"/>
            <a:ext cx="762000" cy="507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8"/>
          <p:cNvSpPr/>
          <p:nvPr/>
        </p:nvSpPr>
        <p:spPr>
          <a:xfrm>
            <a:off x="0" y="0"/>
            <a:ext cx="304800" cy="68580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8"/>
          <p:cNvSpPr/>
          <p:nvPr/>
        </p:nvSpPr>
        <p:spPr>
          <a:xfrm>
            <a:off x="304767" y="6299181"/>
            <a:ext cx="11887200" cy="5589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8"/>
          <p:cNvSpPr/>
          <p:nvPr/>
        </p:nvSpPr>
        <p:spPr>
          <a:xfrm>
            <a:off x="1117534" y="6471872"/>
            <a:ext cx="955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Introduction</a:t>
            </a:r>
            <a:endParaRPr b="0" i="0" sz="1200" u="none" cap="none" strike="noStrike">
              <a:solidFill>
                <a:schemeClr val="dk1"/>
              </a:solidFill>
              <a:latin typeface="Arial"/>
              <a:ea typeface="Arial"/>
              <a:cs typeface="Arial"/>
              <a:sym typeface="Arial"/>
            </a:endParaRPr>
          </a:p>
        </p:txBody>
      </p:sp>
      <p:sp>
        <p:nvSpPr>
          <p:cNvPr id="635" name="Google Shape;635;p18"/>
          <p:cNvSpPr/>
          <p:nvPr/>
        </p:nvSpPr>
        <p:spPr>
          <a:xfrm>
            <a:off x="2218531" y="6471872"/>
            <a:ext cx="914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Framework</a:t>
            </a:r>
            <a:endParaRPr b="0" i="0" sz="1200" u="none" cap="none" strike="noStrike">
              <a:solidFill>
                <a:schemeClr val="dk1"/>
              </a:solidFill>
              <a:latin typeface="Arial"/>
              <a:ea typeface="Arial"/>
              <a:cs typeface="Arial"/>
              <a:sym typeface="Arial"/>
            </a:endParaRPr>
          </a:p>
        </p:txBody>
      </p:sp>
      <p:sp>
        <p:nvSpPr>
          <p:cNvPr id="636" name="Google Shape;636;p18"/>
          <p:cNvSpPr/>
          <p:nvPr/>
        </p:nvSpPr>
        <p:spPr>
          <a:xfrm>
            <a:off x="3285243" y="6471872"/>
            <a:ext cx="660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Solution</a:t>
            </a:r>
            <a:endParaRPr b="0" i="0" sz="1200" u="none" cap="none" strike="noStrike">
              <a:solidFill>
                <a:schemeClr val="dk1"/>
              </a:solidFill>
              <a:latin typeface="Arial"/>
              <a:ea typeface="Arial"/>
              <a:cs typeface="Arial"/>
              <a:sym typeface="Arial"/>
            </a:endParaRPr>
          </a:p>
        </p:txBody>
      </p:sp>
      <p:sp>
        <p:nvSpPr>
          <p:cNvPr id="637" name="Google Shape;637;p18"/>
          <p:cNvSpPr/>
          <p:nvPr/>
        </p:nvSpPr>
        <p:spPr>
          <a:xfrm>
            <a:off x="4140674" y="6471872"/>
            <a:ext cx="924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Evaluation</a:t>
            </a:r>
            <a:endParaRPr b="0" i="0" sz="1200" u="none" cap="none" strike="noStrike">
              <a:solidFill>
                <a:schemeClr val="dk1"/>
              </a:solidFill>
              <a:latin typeface="Arial"/>
              <a:ea typeface="Arial"/>
              <a:cs typeface="Arial"/>
              <a:sym typeface="Arial"/>
            </a:endParaRPr>
          </a:p>
        </p:txBody>
      </p:sp>
      <p:sp>
        <p:nvSpPr>
          <p:cNvPr id="638" name="Google Shape;638;p18"/>
          <p:cNvSpPr/>
          <p:nvPr/>
        </p:nvSpPr>
        <p:spPr>
          <a:xfrm>
            <a:off x="5215930" y="6471872"/>
            <a:ext cx="904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Conclusion</a:t>
            </a:r>
            <a:endParaRPr b="0" i="0" sz="1200" u="none" cap="none" strike="noStrike">
              <a:solidFill>
                <a:schemeClr val="dk1"/>
              </a:solidFill>
              <a:latin typeface="Arial"/>
              <a:ea typeface="Arial"/>
              <a:cs typeface="Arial"/>
              <a:sym typeface="Arial"/>
            </a:endParaRPr>
          </a:p>
        </p:txBody>
      </p:sp>
      <p:sp>
        <p:nvSpPr>
          <p:cNvPr id="639" name="Google Shape;639;p18"/>
          <p:cNvSpPr/>
          <p:nvPr/>
        </p:nvSpPr>
        <p:spPr>
          <a:xfrm>
            <a:off x="6274539" y="6471872"/>
            <a:ext cx="965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Future work</a:t>
            </a:r>
            <a:endParaRPr b="0" i="0" sz="1200" u="none" cap="none" strike="noStrike">
              <a:solidFill>
                <a:schemeClr val="dk1"/>
              </a:solidFill>
              <a:latin typeface="Arial"/>
              <a:ea typeface="Arial"/>
              <a:cs typeface="Arial"/>
              <a:sym typeface="Arial"/>
            </a:endParaRPr>
          </a:p>
        </p:txBody>
      </p:sp>
      <p:sp>
        <p:nvSpPr>
          <p:cNvPr id="640" name="Google Shape;640;p18"/>
          <p:cNvSpPr/>
          <p:nvPr/>
        </p:nvSpPr>
        <p:spPr>
          <a:xfrm>
            <a:off x="11209680" y="6471872"/>
            <a:ext cx="2202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lang="en-US" sz="1200">
                <a:solidFill>
                  <a:srgbClr val="FFFFFF"/>
                </a:solidFill>
              </a:rPr>
              <a:t>13</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5" name="Shape 645"/>
        <p:cNvGrpSpPr/>
        <p:nvPr/>
      </p:nvGrpSpPr>
      <p:grpSpPr>
        <a:xfrm>
          <a:off x="0" y="0"/>
          <a:ext cx="0" cy="0"/>
          <a:chOff x="0" y="0"/>
          <a:chExt cx="0" cy="0"/>
        </a:xfrm>
      </p:grpSpPr>
      <p:sp>
        <p:nvSpPr>
          <p:cNvPr id="646" name="Google Shape;646;p19"/>
          <p:cNvSpPr/>
          <p:nvPr/>
        </p:nvSpPr>
        <p:spPr>
          <a:xfrm>
            <a:off x="0" y="0"/>
            <a:ext cx="304767" cy="68580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9"/>
          <p:cNvSpPr/>
          <p:nvPr/>
        </p:nvSpPr>
        <p:spPr>
          <a:xfrm>
            <a:off x="1117589" y="533350"/>
            <a:ext cx="762000" cy="50767"/>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9"/>
          <p:cNvSpPr txBox="1"/>
          <p:nvPr>
            <p:ph type="title"/>
          </p:nvPr>
        </p:nvSpPr>
        <p:spPr>
          <a:xfrm>
            <a:off x="1117589" y="762000"/>
            <a:ext cx="10569494" cy="528274"/>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A5F"/>
              </a:buClr>
              <a:buSzPct val="100000"/>
              <a:buFont typeface="Georgia"/>
              <a:buNone/>
            </a:pPr>
            <a:r>
              <a:rPr b="1" i="0" lang="en-US" sz="3600">
                <a:solidFill>
                  <a:srgbClr val="1F3A5F"/>
                </a:solidFill>
                <a:latin typeface="Georgia"/>
                <a:ea typeface="Georgia"/>
                <a:cs typeface="Georgia"/>
                <a:sym typeface="Georgia"/>
              </a:rPr>
              <a:t>Conclusion and F</a:t>
            </a:r>
            <a:r>
              <a:rPr b="1" lang="en-US"/>
              <a:t>uture work</a:t>
            </a:r>
            <a:endParaRPr sz="3600"/>
          </a:p>
        </p:txBody>
      </p:sp>
      <p:sp>
        <p:nvSpPr>
          <p:cNvPr id="649" name="Google Shape;649;p19"/>
          <p:cNvSpPr/>
          <p:nvPr/>
        </p:nvSpPr>
        <p:spPr>
          <a:xfrm>
            <a:off x="1151325" y="1610300"/>
            <a:ext cx="10910700" cy="4375200"/>
          </a:xfrm>
          <a:prstGeom prst="rect">
            <a:avLst/>
          </a:prstGeom>
          <a:noFill/>
          <a:ln>
            <a:noFill/>
          </a:ln>
        </p:spPr>
        <p:txBody>
          <a:bodyPr anchorCtr="0" anchor="t" bIns="0" lIns="0" spcFirstLastPara="1" rIns="0" wrap="square" tIns="0">
            <a:noAutofit/>
          </a:bodyPr>
          <a:lstStyle/>
          <a:p>
            <a:pPr indent="0" lvl="0" marL="0" marR="1219200" rtl="0" algn="l">
              <a:lnSpc>
                <a:spcPct val="145000"/>
              </a:lnSpc>
              <a:spcBef>
                <a:spcPts val="0"/>
              </a:spcBef>
              <a:spcAft>
                <a:spcPts val="0"/>
              </a:spcAft>
              <a:buNone/>
            </a:pPr>
            <a:r>
              <a:rPr lang="en-US" sz="1800">
                <a:solidFill>
                  <a:srgbClr val="14213D"/>
                </a:solidFill>
                <a:highlight>
                  <a:schemeClr val="lt1"/>
                </a:highlight>
                <a:latin typeface="Times New Roman"/>
                <a:ea typeface="Times New Roman"/>
                <a:cs typeface="Times New Roman"/>
                <a:sym typeface="Times New Roman"/>
              </a:rPr>
              <a:t>We propose </a:t>
            </a:r>
            <a:r>
              <a:rPr b="1" lang="en-US" sz="1800">
                <a:solidFill>
                  <a:srgbClr val="14213D"/>
                </a:solidFill>
                <a:highlight>
                  <a:schemeClr val="lt1"/>
                </a:highlight>
                <a:latin typeface="Times New Roman"/>
                <a:ea typeface="Times New Roman"/>
                <a:cs typeface="Times New Roman"/>
                <a:sym typeface="Times New Roman"/>
              </a:rPr>
              <a:t>EMMI</a:t>
            </a:r>
            <a:r>
              <a:rPr lang="en-US" sz="1800">
                <a:solidFill>
                  <a:srgbClr val="14213D"/>
                </a:solidFill>
                <a:highlight>
                  <a:schemeClr val="lt1"/>
                </a:highlight>
                <a:latin typeface="Times New Roman"/>
                <a:ea typeface="Times New Roman"/>
                <a:cs typeface="Times New Roman"/>
                <a:sym typeface="Times New Roman"/>
              </a:rPr>
              <a:t> to bring MLLM reasoning to edge devices. EMMI shifts the communication from raw data or intermediate activations to a </a:t>
            </a:r>
            <a:r>
              <a:rPr b="1" lang="en-US" sz="1800">
                <a:solidFill>
                  <a:srgbClr val="14213D"/>
                </a:solidFill>
                <a:highlight>
                  <a:schemeClr val="lt1"/>
                </a:highlight>
                <a:latin typeface="Times New Roman"/>
                <a:ea typeface="Times New Roman"/>
                <a:cs typeface="Times New Roman"/>
                <a:sym typeface="Times New Roman"/>
              </a:rPr>
              <a:t>single fused, compressed latent</a:t>
            </a:r>
            <a:r>
              <a:rPr lang="en-US" sz="1800">
                <a:solidFill>
                  <a:srgbClr val="14213D"/>
                </a:solidFill>
                <a:highlight>
                  <a:schemeClr val="lt1"/>
                </a:highlight>
                <a:latin typeface="Times New Roman"/>
                <a:ea typeface="Times New Roman"/>
                <a:cs typeface="Times New Roman"/>
                <a:sym typeface="Times New Roman"/>
              </a:rPr>
              <a:t>. On a simple task:</a:t>
            </a:r>
            <a:endParaRPr sz="1800">
              <a:solidFill>
                <a:srgbClr val="14213D"/>
              </a:solidFill>
              <a:highlight>
                <a:schemeClr val="lt1"/>
              </a:highlight>
              <a:latin typeface="Times New Roman"/>
              <a:ea typeface="Times New Roman"/>
              <a:cs typeface="Times New Roman"/>
              <a:sym typeface="Times New Roman"/>
            </a:endParaRPr>
          </a:p>
          <a:p>
            <a:pPr indent="457200" lvl="0" marL="0" marR="1219200" rtl="0" algn="l">
              <a:lnSpc>
                <a:spcPct val="145000"/>
              </a:lnSpc>
              <a:spcBef>
                <a:spcPts val="0"/>
              </a:spcBef>
              <a:spcAft>
                <a:spcPts val="0"/>
              </a:spcAft>
              <a:buNone/>
            </a:pPr>
            <a:r>
              <a:rPr b="1" lang="en-US" sz="1800">
                <a:solidFill>
                  <a:srgbClr val="14213D"/>
                </a:solidFill>
                <a:highlight>
                  <a:schemeClr val="lt1"/>
                </a:highlight>
                <a:latin typeface="Times New Roman"/>
                <a:ea typeface="Times New Roman"/>
                <a:cs typeface="Times New Roman"/>
                <a:sym typeface="Times New Roman"/>
              </a:rPr>
              <a:t>32× smaller payload</a:t>
            </a:r>
            <a:r>
              <a:rPr lang="en-US" sz="1800">
                <a:solidFill>
                  <a:srgbClr val="14213D"/>
                </a:solidFill>
                <a:highlight>
                  <a:schemeClr val="lt1"/>
                </a:highlight>
                <a:latin typeface="Times New Roman"/>
                <a:ea typeface="Times New Roman"/>
                <a:cs typeface="Times New Roman"/>
                <a:sym typeface="Times New Roman"/>
              </a:rPr>
              <a:t> (8,192 B → 256 B) at ≈ uncompressed accuracy (98.32% vs 98.41%)</a:t>
            </a:r>
            <a:endParaRPr sz="1800">
              <a:solidFill>
                <a:srgbClr val="14213D"/>
              </a:solidFill>
              <a:highlight>
                <a:schemeClr val="lt1"/>
              </a:highlight>
              <a:latin typeface="Times New Roman"/>
              <a:ea typeface="Times New Roman"/>
              <a:cs typeface="Times New Roman"/>
              <a:sym typeface="Times New Roman"/>
            </a:endParaRPr>
          </a:p>
          <a:p>
            <a:pPr indent="457200" lvl="0" marL="0" marR="1219200" rtl="0" algn="l">
              <a:lnSpc>
                <a:spcPct val="115000"/>
              </a:lnSpc>
              <a:spcBef>
                <a:spcPts val="0"/>
              </a:spcBef>
              <a:spcAft>
                <a:spcPts val="0"/>
              </a:spcAft>
              <a:buNone/>
            </a:pPr>
            <a:r>
              <a:rPr b="1" lang="en-US" sz="1800">
                <a:solidFill>
                  <a:srgbClr val="14213D"/>
                </a:solidFill>
                <a:highlight>
                  <a:schemeClr val="lt1"/>
                </a:highlight>
                <a:latin typeface="Times New Roman"/>
                <a:ea typeface="Times New Roman"/>
                <a:cs typeface="Times New Roman"/>
                <a:sym typeface="Times New Roman"/>
              </a:rPr>
              <a:t>3.4× lower</a:t>
            </a:r>
            <a:r>
              <a:rPr lang="en-US" sz="1800">
                <a:solidFill>
                  <a:srgbClr val="14213D"/>
                </a:solidFill>
                <a:highlight>
                  <a:schemeClr val="lt1"/>
                </a:highlight>
                <a:latin typeface="Times New Roman"/>
                <a:ea typeface="Times New Roman"/>
                <a:cs typeface="Times New Roman"/>
                <a:sym typeface="Times New Roman"/>
              </a:rPr>
              <a:t> estimated end-to-end latency on a 0.1 Mbps link</a:t>
            </a:r>
            <a:br>
              <a:rPr lang="en-US" sz="1800">
                <a:solidFill>
                  <a:srgbClr val="14213D"/>
                </a:solidFill>
                <a:highlight>
                  <a:schemeClr val="lt1"/>
                </a:highlight>
                <a:latin typeface="Times New Roman"/>
                <a:ea typeface="Times New Roman"/>
                <a:cs typeface="Times New Roman"/>
                <a:sym typeface="Times New Roman"/>
              </a:rPr>
            </a:br>
            <a:endParaRPr sz="1800">
              <a:solidFill>
                <a:srgbClr val="14213D"/>
              </a:solidFill>
              <a:highlight>
                <a:schemeClr val="lt1"/>
              </a:highlight>
              <a:latin typeface="Times New Roman"/>
              <a:ea typeface="Times New Roman"/>
              <a:cs typeface="Times New Roman"/>
              <a:sym typeface="Times New Roman"/>
            </a:endParaRPr>
          </a:p>
          <a:p>
            <a:pPr indent="0" lvl="0" marL="0" marR="1219200" rtl="0" algn="l">
              <a:lnSpc>
                <a:spcPct val="115000"/>
              </a:lnSpc>
              <a:spcBef>
                <a:spcPts val="0"/>
              </a:spcBef>
              <a:spcAft>
                <a:spcPts val="0"/>
              </a:spcAft>
              <a:buNone/>
            </a:pPr>
            <a:r>
              <a:rPr b="1" i="1" lang="en-US" sz="2300">
                <a:solidFill>
                  <a:srgbClr val="A64D79"/>
                </a:solidFill>
                <a:highlight>
                  <a:schemeClr val="lt1"/>
                </a:highlight>
                <a:latin typeface="Times New Roman"/>
                <a:ea typeface="Times New Roman"/>
                <a:cs typeface="Times New Roman"/>
                <a:sym typeface="Times New Roman"/>
              </a:rPr>
              <a:t>Future directions:</a:t>
            </a:r>
            <a:endParaRPr b="1" i="1" sz="2300">
              <a:solidFill>
                <a:srgbClr val="A64D79"/>
              </a:solidFill>
              <a:highlight>
                <a:schemeClr val="lt1"/>
              </a:highlight>
              <a:latin typeface="Times New Roman"/>
              <a:ea typeface="Times New Roman"/>
              <a:cs typeface="Times New Roman"/>
              <a:sym typeface="Times New Roman"/>
            </a:endParaRPr>
          </a:p>
          <a:p>
            <a:pPr indent="-342900" lvl="0" marL="457200" rtl="0" algn="l">
              <a:lnSpc>
                <a:spcPct val="160000"/>
              </a:lnSpc>
              <a:spcBef>
                <a:spcPts val="0"/>
              </a:spcBef>
              <a:spcAft>
                <a:spcPts val="0"/>
              </a:spcAft>
              <a:buClr>
                <a:schemeClr val="accent3"/>
              </a:buClr>
              <a:buSzPts val="1800"/>
              <a:buFont typeface="Times New Roman"/>
              <a:buChar char="-"/>
            </a:pPr>
            <a:r>
              <a:rPr b="1" i="1" lang="en-US" sz="1800">
                <a:solidFill>
                  <a:schemeClr val="accent3"/>
                </a:solidFill>
                <a:highlight>
                  <a:schemeClr val="lt1"/>
                </a:highlight>
                <a:latin typeface="Times New Roman"/>
                <a:ea typeface="Times New Roman"/>
                <a:cs typeface="Times New Roman"/>
                <a:sym typeface="Times New Roman"/>
              </a:rPr>
              <a:t>More modalities and heterogeneous devices:</a:t>
            </a:r>
            <a:r>
              <a:rPr i="1" lang="en-US" sz="1800">
                <a:solidFill>
                  <a:schemeClr val="accent3"/>
                </a:solidFill>
                <a:highlight>
                  <a:schemeClr val="lt1"/>
                </a:highlight>
                <a:latin typeface="Times New Roman"/>
                <a:ea typeface="Times New Roman"/>
                <a:cs typeface="Times New Roman"/>
                <a:sym typeface="Times New Roman"/>
              </a:rPr>
              <a:t> </a:t>
            </a:r>
            <a:r>
              <a:rPr lang="en-US" sz="1800">
                <a:solidFill>
                  <a:schemeClr val="accent3"/>
                </a:solidFill>
                <a:highlight>
                  <a:schemeClr val="lt1"/>
                </a:highlight>
                <a:latin typeface="Times New Roman"/>
                <a:ea typeface="Times New Roman"/>
                <a:cs typeface="Times New Roman"/>
                <a:sym typeface="Times New Roman"/>
              </a:rPr>
              <a:t>beyond image and text</a:t>
            </a:r>
            <a:endParaRPr b="1" i="1" sz="1800">
              <a:solidFill>
                <a:schemeClr val="accent3"/>
              </a:solidFill>
              <a:highlight>
                <a:schemeClr val="lt1"/>
              </a:highlight>
              <a:latin typeface="Times New Roman"/>
              <a:ea typeface="Times New Roman"/>
              <a:cs typeface="Times New Roman"/>
              <a:sym typeface="Times New Roman"/>
            </a:endParaRPr>
          </a:p>
          <a:p>
            <a:pPr indent="-342900" lvl="0" marL="457200" rtl="0" algn="l">
              <a:lnSpc>
                <a:spcPct val="160000"/>
              </a:lnSpc>
              <a:spcBef>
                <a:spcPts val="0"/>
              </a:spcBef>
              <a:spcAft>
                <a:spcPts val="0"/>
              </a:spcAft>
              <a:buClr>
                <a:schemeClr val="accent3"/>
              </a:buClr>
              <a:buSzPts val="1800"/>
              <a:buFont typeface="Times New Roman"/>
              <a:buChar char="-"/>
            </a:pPr>
            <a:r>
              <a:rPr b="1" i="1" lang="en-US" sz="1800">
                <a:solidFill>
                  <a:schemeClr val="accent3"/>
                </a:solidFill>
                <a:highlight>
                  <a:schemeClr val="lt1"/>
                </a:highlight>
                <a:latin typeface="Times New Roman"/>
                <a:ea typeface="Times New Roman"/>
                <a:cs typeface="Times New Roman"/>
                <a:sym typeface="Times New Roman"/>
              </a:rPr>
              <a:t>Open-ended MLLM tasks:</a:t>
            </a:r>
            <a:r>
              <a:rPr i="1" lang="en-US" sz="1800">
                <a:solidFill>
                  <a:schemeClr val="accent3"/>
                </a:solidFill>
                <a:highlight>
                  <a:schemeClr val="lt1"/>
                </a:highlight>
                <a:latin typeface="Times New Roman"/>
                <a:ea typeface="Times New Roman"/>
                <a:cs typeface="Times New Roman"/>
                <a:sym typeface="Times New Roman"/>
              </a:rPr>
              <a:t> </a:t>
            </a:r>
            <a:r>
              <a:rPr lang="en-US" sz="1800">
                <a:solidFill>
                  <a:schemeClr val="accent3"/>
                </a:solidFill>
                <a:highlight>
                  <a:schemeClr val="lt1"/>
                </a:highlight>
                <a:latin typeface="Times New Roman"/>
                <a:ea typeface="Times New Roman"/>
                <a:cs typeface="Times New Roman"/>
                <a:sym typeface="Times New Roman"/>
              </a:rPr>
              <a:t>beyond binary image–text matching e.g. audio-visual QA</a:t>
            </a:r>
            <a:endParaRPr sz="1800">
              <a:solidFill>
                <a:schemeClr val="accent3"/>
              </a:solidFill>
              <a:highlight>
                <a:schemeClr val="lt1"/>
              </a:highlight>
              <a:latin typeface="Times New Roman"/>
              <a:ea typeface="Times New Roman"/>
              <a:cs typeface="Times New Roman"/>
              <a:sym typeface="Times New Roman"/>
            </a:endParaRPr>
          </a:p>
          <a:p>
            <a:pPr indent="-342900" lvl="0" marL="457200" rtl="0" algn="l">
              <a:lnSpc>
                <a:spcPct val="160000"/>
              </a:lnSpc>
              <a:spcBef>
                <a:spcPts val="0"/>
              </a:spcBef>
              <a:spcAft>
                <a:spcPts val="0"/>
              </a:spcAft>
              <a:buClr>
                <a:schemeClr val="accent3"/>
              </a:buClr>
              <a:buSzPts val="1800"/>
              <a:buChar char="-"/>
            </a:pPr>
            <a:r>
              <a:rPr b="1" i="1" lang="en-US" sz="1800">
                <a:solidFill>
                  <a:schemeClr val="accent3"/>
                </a:solidFill>
                <a:highlight>
                  <a:schemeClr val="lt1"/>
                </a:highlight>
                <a:latin typeface="Times New Roman"/>
                <a:ea typeface="Times New Roman"/>
                <a:cs typeface="Times New Roman"/>
                <a:sym typeface="Times New Roman"/>
              </a:rPr>
              <a:t>Non-aligned encoders:</a:t>
            </a:r>
            <a:r>
              <a:rPr lang="en-US" sz="1800">
                <a:solidFill>
                  <a:schemeClr val="accent3"/>
                </a:solidFill>
                <a:highlight>
                  <a:schemeClr val="lt1"/>
                </a:highlight>
                <a:latin typeface="Times New Roman"/>
                <a:ea typeface="Times New Roman"/>
                <a:cs typeface="Times New Roman"/>
                <a:sym typeface="Times New Roman"/>
              </a:rPr>
              <a:t> modalities outside CLIP's shared space need modality alignment</a:t>
            </a:r>
            <a:endParaRPr sz="1800">
              <a:solidFill>
                <a:schemeClr val="dk1"/>
              </a:solidFill>
              <a:highlight>
                <a:schemeClr val="lt1"/>
              </a:highlight>
              <a:latin typeface="Times New Roman"/>
              <a:ea typeface="Times New Roman"/>
              <a:cs typeface="Times New Roman"/>
              <a:sym typeface="Times New Roman"/>
            </a:endParaRPr>
          </a:p>
          <a:p>
            <a:pPr indent="-342900" lvl="0" marL="457200" rtl="0" algn="l">
              <a:lnSpc>
                <a:spcPct val="160000"/>
              </a:lnSpc>
              <a:spcBef>
                <a:spcPts val="0"/>
              </a:spcBef>
              <a:spcAft>
                <a:spcPts val="0"/>
              </a:spcAft>
              <a:buClr>
                <a:schemeClr val="accent3"/>
              </a:buClr>
              <a:buSzPts val="1800"/>
              <a:buChar char="-"/>
            </a:pPr>
            <a:r>
              <a:rPr b="1" i="1" lang="en-US" sz="1800">
                <a:solidFill>
                  <a:schemeClr val="accent3"/>
                </a:solidFill>
                <a:highlight>
                  <a:schemeClr val="lt1"/>
                </a:highlight>
                <a:latin typeface="Times New Roman"/>
                <a:ea typeface="Times New Roman"/>
                <a:cs typeface="Times New Roman"/>
                <a:sym typeface="Times New Roman"/>
              </a:rPr>
              <a:t>Real edge hardware:</a:t>
            </a:r>
            <a:r>
              <a:rPr lang="en-US" sz="1800">
                <a:solidFill>
                  <a:schemeClr val="accent3"/>
                </a:solidFill>
                <a:highlight>
                  <a:schemeClr val="lt1"/>
                </a:highlight>
                <a:latin typeface="Times New Roman"/>
                <a:ea typeface="Times New Roman"/>
                <a:cs typeface="Times New Roman"/>
                <a:sym typeface="Times New Roman"/>
              </a:rPr>
              <a:t> move from a CPU proxy to embedded NVIDIA boards</a:t>
            </a:r>
            <a:endParaRPr sz="1800">
              <a:solidFill>
                <a:schemeClr val="accent3"/>
              </a:solidFill>
              <a:highlight>
                <a:schemeClr val="lt1"/>
              </a:highlight>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accent3"/>
              </a:buClr>
              <a:buSzPts val="1800"/>
              <a:buChar char="-"/>
            </a:pPr>
            <a:r>
              <a:rPr b="1" i="1" lang="en-US" sz="1800">
                <a:solidFill>
                  <a:schemeClr val="accent3"/>
                </a:solidFill>
                <a:highlight>
                  <a:schemeClr val="lt1"/>
                </a:highlight>
                <a:latin typeface="Times New Roman"/>
                <a:ea typeface="Times New Roman"/>
                <a:cs typeface="Times New Roman"/>
                <a:sym typeface="Times New Roman"/>
              </a:rPr>
              <a:t>Multiple edge devices:</a:t>
            </a:r>
            <a:r>
              <a:rPr i="1" lang="en-US" sz="1800">
                <a:solidFill>
                  <a:schemeClr val="accent3"/>
                </a:solidFill>
                <a:highlight>
                  <a:schemeClr val="lt1"/>
                </a:highlight>
                <a:latin typeface="Times New Roman"/>
                <a:ea typeface="Times New Roman"/>
                <a:cs typeface="Times New Roman"/>
                <a:sym typeface="Times New Roman"/>
              </a:rPr>
              <a:t> </a:t>
            </a:r>
            <a:r>
              <a:rPr lang="en-US" sz="1800">
                <a:solidFill>
                  <a:schemeClr val="accent3"/>
                </a:solidFill>
                <a:highlight>
                  <a:schemeClr val="lt1"/>
                </a:highlight>
                <a:latin typeface="Times New Roman"/>
                <a:ea typeface="Times New Roman"/>
                <a:cs typeface="Times New Roman"/>
                <a:sym typeface="Times New Roman"/>
              </a:rPr>
              <a:t>many devices sharing one server, measuring the latency and throughput gains of batching</a:t>
            </a:r>
            <a:endParaRPr sz="1800">
              <a:solidFill>
                <a:schemeClr val="accent3"/>
              </a:solidFill>
              <a:highlight>
                <a:schemeClr val="lt1"/>
              </a:highlight>
              <a:latin typeface="Times New Roman"/>
              <a:ea typeface="Times New Roman"/>
              <a:cs typeface="Times New Roman"/>
              <a:sym typeface="Times New Roman"/>
            </a:endParaRPr>
          </a:p>
          <a:p>
            <a:pPr indent="0" lvl="0" marL="457200" rtl="0" algn="l">
              <a:lnSpc>
                <a:spcPct val="160000"/>
              </a:lnSpc>
              <a:spcBef>
                <a:spcPts val="0"/>
              </a:spcBef>
              <a:spcAft>
                <a:spcPts val="0"/>
              </a:spcAft>
              <a:buNone/>
            </a:pPr>
            <a:r>
              <a:t/>
            </a:r>
            <a:endParaRPr sz="1800">
              <a:solidFill>
                <a:schemeClr val="accent3"/>
              </a:solidFill>
              <a:highlight>
                <a:schemeClr val="lt1"/>
              </a:highlight>
              <a:latin typeface="Times New Roman"/>
              <a:ea typeface="Times New Roman"/>
              <a:cs typeface="Times New Roman"/>
              <a:sym typeface="Times New Roman"/>
            </a:endParaRPr>
          </a:p>
        </p:txBody>
      </p:sp>
      <p:sp>
        <p:nvSpPr>
          <p:cNvPr id="650" name="Google Shape;650;p19"/>
          <p:cNvSpPr/>
          <p:nvPr/>
        </p:nvSpPr>
        <p:spPr>
          <a:xfrm>
            <a:off x="304767" y="6299175"/>
            <a:ext cx="11887178" cy="558767"/>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9"/>
          <p:cNvSpPr/>
          <p:nvPr/>
        </p:nvSpPr>
        <p:spPr>
          <a:xfrm>
            <a:off x="1117534" y="6471865"/>
            <a:ext cx="955477"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Introduction</a:t>
            </a:r>
            <a:endParaRPr b="0" i="0" sz="1200" u="none" cap="none" strike="noStrike">
              <a:solidFill>
                <a:schemeClr val="dk1"/>
              </a:solidFill>
              <a:latin typeface="Arial"/>
              <a:ea typeface="Arial"/>
              <a:cs typeface="Arial"/>
              <a:sym typeface="Arial"/>
            </a:endParaRPr>
          </a:p>
        </p:txBody>
      </p:sp>
      <p:sp>
        <p:nvSpPr>
          <p:cNvPr id="652" name="Google Shape;652;p19"/>
          <p:cNvSpPr/>
          <p:nvPr/>
        </p:nvSpPr>
        <p:spPr>
          <a:xfrm>
            <a:off x="2218531" y="6471865"/>
            <a:ext cx="914334"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Framework</a:t>
            </a:r>
            <a:endParaRPr b="0" i="0" sz="1200" u="none" cap="none" strike="noStrike">
              <a:solidFill>
                <a:schemeClr val="dk1"/>
              </a:solidFill>
              <a:latin typeface="Arial"/>
              <a:ea typeface="Arial"/>
              <a:cs typeface="Arial"/>
              <a:sym typeface="Arial"/>
            </a:endParaRPr>
          </a:p>
        </p:txBody>
      </p:sp>
      <p:sp>
        <p:nvSpPr>
          <p:cNvPr id="653" name="Google Shape;653;p19"/>
          <p:cNvSpPr/>
          <p:nvPr/>
        </p:nvSpPr>
        <p:spPr>
          <a:xfrm>
            <a:off x="3285243" y="6471865"/>
            <a:ext cx="660797"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Solution</a:t>
            </a:r>
            <a:endParaRPr b="0" i="0" sz="1200" u="none" cap="none" strike="noStrike">
              <a:solidFill>
                <a:schemeClr val="dk1"/>
              </a:solidFill>
              <a:latin typeface="Arial"/>
              <a:ea typeface="Arial"/>
              <a:cs typeface="Arial"/>
              <a:sym typeface="Arial"/>
            </a:endParaRPr>
          </a:p>
        </p:txBody>
      </p:sp>
      <p:sp>
        <p:nvSpPr>
          <p:cNvPr id="654" name="Google Shape;654;p19"/>
          <p:cNvSpPr/>
          <p:nvPr/>
        </p:nvSpPr>
        <p:spPr>
          <a:xfrm>
            <a:off x="4140674" y="6471865"/>
            <a:ext cx="853877"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Evaluation</a:t>
            </a:r>
            <a:endParaRPr b="0" i="0" sz="1200" u="none" cap="none" strike="noStrike">
              <a:solidFill>
                <a:schemeClr val="dk1"/>
              </a:solidFill>
              <a:latin typeface="Arial"/>
              <a:ea typeface="Arial"/>
              <a:cs typeface="Arial"/>
              <a:sym typeface="Arial"/>
            </a:endParaRPr>
          </a:p>
        </p:txBody>
      </p:sp>
      <p:sp>
        <p:nvSpPr>
          <p:cNvPr id="655" name="Google Shape;655;p19"/>
          <p:cNvSpPr/>
          <p:nvPr/>
        </p:nvSpPr>
        <p:spPr>
          <a:xfrm>
            <a:off x="5157005" y="6471865"/>
            <a:ext cx="995495"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Conclusion</a:t>
            </a:r>
            <a:endParaRPr b="0" i="0" sz="1200" u="none" cap="none" strike="noStrike">
              <a:solidFill>
                <a:schemeClr val="dk1"/>
              </a:solidFill>
              <a:latin typeface="Arial"/>
              <a:ea typeface="Arial"/>
              <a:cs typeface="Arial"/>
              <a:sym typeface="Arial"/>
            </a:endParaRPr>
          </a:p>
        </p:txBody>
      </p:sp>
      <p:sp>
        <p:nvSpPr>
          <p:cNvPr id="656" name="Google Shape;656;p19"/>
          <p:cNvSpPr/>
          <p:nvPr/>
        </p:nvSpPr>
        <p:spPr>
          <a:xfrm>
            <a:off x="6291351" y="6471865"/>
            <a:ext cx="965266"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FC0D6"/>
              </a:buClr>
              <a:buSzPts val="1200"/>
              <a:buFont typeface="Arial"/>
              <a:buNone/>
            </a:pPr>
            <a:r>
              <a:rPr b="0" i="0" lang="en-US" sz="1200" u="none" cap="none" strike="noStrike">
                <a:solidFill>
                  <a:srgbClr val="AFC0D6"/>
                </a:solidFill>
                <a:latin typeface="Arial"/>
                <a:ea typeface="Arial"/>
                <a:cs typeface="Arial"/>
                <a:sym typeface="Arial"/>
              </a:rPr>
              <a:t>Future work</a:t>
            </a:r>
            <a:endParaRPr b="0" i="0" sz="1200" u="none" cap="none" strike="noStrike">
              <a:solidFill>
                <a:schemeClr val="dk1"/>
              </a:solidFill>
              <a:latin typeface="Arial"/>
              <a:ea typeface="Arial"/>
              <a:cs typeface="Arial"/>
              <a:sym typeface="Arial"/>
            </a:endParaRPr>
          </a:p>
        </p:txBody>
      </p:sp>
      <p:sp>
        <p:nvSpPr>
          <p:cNvPr id="657" name="Google Shape;657;p19"/>
          <p:cNvSpPr/>
          <p:nvPr/>
        </p:nvSpPr>
        <p:spPr>
          <a:xfrm>
            <a:off x="11209680" y="6471865"/>
            <a:ext cx="220299"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200"/>
              <a:buFont typeface="Arial"/>
              <a:buNone/>
            </a:pPr>
            <a:r>
              <a:rPr lang="en-US" sz="1200">
                <a:solidFill>
                  <a:srgbClr val="FFFFFF"/>
                </a:solidFill>
              </a:rPr>
              <a:t>14</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2" name="Shape 662"/>
        <p:cNvGrpSpPr/>
        <p:nvPr/>
      </p:nvGrpSpPr>
      <p:grpSpPr>
        <a:xfrm>
          <a:off x="0" y="0"/>
          <a:ext cx="0" cy="0"/>
          <a:chOff x="0" y="0"/>
          <a:chExt cx="0" cy="0"/>
        </a:xfrm>
      </p:grpSpPr>
      <p:sp>
        <p:nvSpPr>
          <p:cNvPr id="663" name="Google Shape;663;p20"/>
          <p:cNvSpPr/>
          <p:nvPr/>
        </p:nvSpPr>
        <p:spPr>
          <a:xfrm>
            <a:off x="0" y="0"/>
            <a:ext cx="304767" cy="6858000"/>
          </a:xfrm>
          <a:prstGeom prst="rect">
            <a:avLst/>
          </a:prstGeom>
          <a:solidFill>
            <a:srgbClr val="1F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0"/>
          <p:cNvSpPr/>
          <p:nvPr/>
        </p:nvSpPr>
        <p:spPr>
          <a:xfrm>
            <a:off x="483400" y="14250"/>
            <a:ext cx="11838000" cy="68295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dk1"/>
              </a:highlight>
            </a:endParaRPr>
          </a:p>
        </p:txBody>
      </p:sp>
      <p:sp>
        <p:nvSpPr>
          <p:cNvPr id="665" name="Google Shape;665;p20"/>
          <p:cNvSpPr txBox="1"/>
          <p:nvPr>
            <p:ph idx="4294967295" type="title"/>
          </p:nvPr>
        </p:nvSpPr>
        <p:spPr>
          <a:xfrm>
            <a:off x="1117589" y="1979129"/>
            <a:ext cx="10569600" cy="958800"/>
          </a:xfrm>
          <a:prstGeom prst="rect">
            <a:avLst/>
          </a:prstGeom>
          <a:noFill/>
          <a:ln>
            <a:noFill/>
          </a:ln>
        </p:spPr>
        <p:txBody>
          <a:bodyPr anchorCtr="0" anchor="t" bIns="0" lIns="0" spcFirstLastPara="1" rIns="0" wrap="square" tIns="0">
            <a:noAutofit/>
          </a:bodyPr>
          <a:lstStyle/>
          <a:p>
            <a:pPr indent="0" lvl="0" marL="0" rtl="0" algn="l">
              <a:lnSpc>
                <a:spcPct val="105000"/>
              </a:lnSpc>
              <a:spcBef>
                <a:spcPts val="0"/>
              </a:spcBef>
              <a:spcAft>
                <a:spcPts val="0"/>
              </a:spcAft>
              <a:buClr>
                <a:srgbClr val="1F3A5F"/>
              </a:buClr>
              <a:buSzPts val="6300"/>
              <a:buFont typeface="Georgia"/>
              <a:buNone/>
            </a:pPr>
            <a:r>
              <a:rPr b="1" i="0" lang="en-US" sz="8300">
                <a:solidFill>
                  <a:schemeClr val="lt1"/>
                </a:solidFill>
                <a:highlight>
                  <a:schemeClr val="dk1"/>
                </a:highlight>
                <a:latin typeface="Times New Roman"/>
                <a:ea typeface="Times New Roman"/>
                <a:cs typeface="Times New Roman"/>
                <a:sym typeface="Times New Roman"/>
              </a:rPr>
              <a:t>Thank you!</a:t>
            </a:r>
            <a:endParaRPr b="1" sz="8300">
              <a:solidFill>
                <a:schemeClr val="lt1"/>
              </a:solidFill>
              <a:highlight>
                <a:schemeClr val="dk1"/>
              </a:highlight>
              <a:latin typeface="Times New Roman"/>
              <a:ea typeface="Times New Roman"/>
              <a:cs typeface="Times New Roman"/>
              <a:sym typeface="Times New Roman"/>
            </a:endParaRPr>
          </a:p>
        </p:txBody>
      </p:sp>
      <p:sp>
        <p:nvSpPr>
          <p:cNvPr id="666" name="Google Shape;666;p20"/>
          <p:cNvSpPr/>
          <p:nvPr/>
        </p:nvSpPr>
        <p:spPr>
          <a:xfrm>
            <a:off x="1292639" y="4950116"/>
            <a:ext cx="10569600" cy="345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430"/>
              </a:buClr>
              <a:buSzPts val="1800"/>
              <a:buFont typeface="Arial"/>
              <a:buNone/>
            </a:pPr>
            <a:r>
              <a:rPr lang="en-US" sz="2100">
                <a:solidFill>
                  <a:schemeClr val="lt1"/>
                </a:solidFill>
                <a:latin typeface="Times New Roman"/>
                <a:ea typeface="Times New Roman"/>
                <a:cs typeface="Times New Roman"/>
                <a:sym typeface="Times New Roman"/>
              </a:rPr>
              <a:t>email me at </a:t>
            </a:r>
            <a:r>
              <a:rPr i="0" lang="en-US" sz="2100" u="none" cap="none" strike="noStrike">
                <a:solidFill>
                  <a:schemeClr val="lt1"/>
                </a:solidFill>
                <a:latin typeface="Times New Roman"/>
                <a:ea typeface="Times New Roman"/>
                <a:cs typeface="Times New Roman"/>
                <a:sym typeface="Times New Roman"/>
              </a:rPr>
              <a:t>motahare@tamu.edu</a:t>
            </a:r>
            <a:endParaRPr i="0" sz="21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EMMI Conference Talk">
  <a:themeElements>
    <a:clrScheme name="EMMI Conference Talk">
      <a:dk1>
        <a:srgbClr val="1F3A5F"/>
      </a:dk1>
      <a:lt1>
        <a:srgbClr val="FFFFFF"/>
      </a:lt1>
      <a:dk2>
        <a:srgbClr val="576B87"/>
      </a:dk2>
      <a:lt2>
        <a:srgbClr val="E9EBEF"/>
      </a:lt2>
      <a:accent1>
        <a:srgbClr val="AFC0D6"/>
      </a:accent1>
      <a:accent2>
        <a:srgbClr val="7F9CC0"/>
      </a:accent2>
      <a:accent3>
        <a:srgbClr val="1F2430"/>
      </a:accent3>
      <a:accent4>
        <a:srgbClr val="9AA3B2"/>
      </a:accent4>
      <a:accent5>
        <a:srgbClr val="4A5263"/>
      </a:accent5>
      <a:accent6>
        <a:srgbClr val="A9B1BE"/>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MMI Conference Talk">
  <a:themeElements>
    <a:clrScheme name="EMMI Conference Talk">
      <a:dk1>
        <a:srgbClr val="1F3A5F"/>
      </a:dk1>
      <a:lt1>
        <a:srgbClr val="FFFFFF"/>
      </a:lt1>
      <a:dk2>
        <a:srgbClr val="576B87"/>
      </a:dk2>
      <a:lt2>
        <a:srgbClr val="E9EBEF"/>
      </a:lt2>
      <a:accent1>
        <a:srgbClr val="AFC0D6"/>
      </a:accent1>
      <a:accent2>
        <a:srgbClr val="7F9CC0"/>
      </a:accent2>
      <a:accent3>
        <a:srgbClr val="1F2430"/>
      </a:accent3>
      <a:accent4>
        <a:srgbClr val="9AA3B2"/>
      </a:accent4>
      <a:accent5>
        <a:srgbClr val="4A5263"/>
      </a:accent5>
      <a:accent6>
        <a:srgbClr val="A9B1BE"/>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